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8" r:id="rId3"/>
    <p:sldId id="257" r:id="rId4"/>
    <p:sldId id="279" r:id="rId5"/>
    <p:sldId id="280" r:id="rId6"/>
    <p:sldId id="288" r:id="rId7"/>
    <p:sldId id="284" r:id="rId8"/>
    <p:sldId id="260" r:id="rId9"/>
    <p:sldId id="264" r:id="rId10"/>
    <p:sldId id="261" r:id="rId11"/>
    <p:sldId id="283" r:id="rId12"/>
    <p:sldId id="285" r:id="rId13"/>
    <p:sldId id="263" r:id="rId14"/>
    <p:sldId id="278" r:id="rId15"/>
    <p:sldId id="266" r:id="rId16"/>
    <p:sldId id="293" r:id="rId17"/>
    <p:sldId id="292" r:id="rId18"/>
    <p:sldId id="286" r:id="rId19"/>
    <p:sldId id="287" r:id="rId20"/>
    <p:sldId id="290" r:id="rId21"/>
    <p:sldId id="291" r:id="rId22"/>
    <p:sldId id="267" r:id="rId23"/>
    <p:sldId id="268" r:id="rId24"/>
    <p:sldId id="269" r:id="rId25"/>
    <p:sldId id="270" r:id="rId26"/>
    <p:sldId id="271" r:id="rId27"/>
    <p:sldId id="272" r:id="rId28"/>
    <p:sldId id="273" r:id="rId29"/>
    <p:sldId id="281" r:id="rId30"/>
    <p:sldId id="282" r:id="rId31"/>
    <p:sldId id="274" r:id="rId32"/>
    <p:sldId id="275" r:id="rId33"/>
    <p:sldId id="276" r:id="rId34"/>
    <p:sldId id="277"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01"/>
    <p:restoredTop sz="73036"/>
  </p:normalViewPr>
  <p:slideViewPr>
    <p:cSldViewPr snapToGrid="0" snapToObjects="1">
      <p:cViewPr varScale="1">
        <p:scale>
          <a:sx n="192" d="100"/>
          <a:sy n="192" d="100"/>
        </p:scale>
        <p:origin x="24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43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Welcome back from the history section. You've seen 80 years of the industry learning the same lessons over and over. Now let's bring it to your desk. Everything that follows uses a single example — a tumor growth analysis — that we'll improve step by step.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isn't about job titles — it's about habits. A physicist who writes code with these habits IS a software developer. The table is deliberately provocative. Ask: "Which column sounds more like your code right now?" Most will laugh and point left.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9DDD-FD2B-F4B2-2F32-44D121BF2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C6B88-B032-149B-81FB-192915C835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6082E7-9A6F-3C59-1632-E4FFD21959DC}"/>
              </a:ext>
            </a:extLst>
          </p:cNvPr>
          <p:cNvSpPr>
            <a:spLocks noGrp="1"/>
          </p:cNvSpPr>
          <p:nvPr>
            <p:ph type="body" idx="1"/>
          </p:nvPr>
        </p:nvSpPr>
        <p:spPr/>
        <p:txBody>
          <a:bodyPr/>
          <a:lstStyle/>
          <a:p>
            <a:r>
              <a:rPr lang="en-US" dirty="0"/>
              <a:t>This is a left-to-right progression. The key point: you don't need to do all five at once. Each one independently improves your code. But they compound — naming makes splitting easier, splitting makes testing easier, and so on. Point out that Git and documentation have their own dedicated sessions later, so today those two get a brief introduction.</a:t>
            </a:r>
          </a:p>
        </p:txBody>
      </p:sp>
      <p:sp>
        <p:nvSpPr>
          <p:cNvPr id="4" name="Slide Number Placeholder 3">
            <a:extLst>
              <a:ext uri="{FF2B5EF4-FFF2-40B4-BE49-F238E27FC236}">
                <a16:creationId xmlns:a16="http://schemas.microsoft.com/office/drawing/2014/main" id="{97012BD7-4D78-5EA3-51AF-EFF63BB3593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439951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D4FDE-A92C-49D6-9E9E-A2785E6AC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DA215-A017-AD29-21F7-D6D31EDF9F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39D110-0973-51C3-9311-0924FA80ED94}"/>
              </a:ext>
            </a:extLst>
          </p:cNvPr>
          <p:cNvSpPr>
            <a:spLocks noGrp="1"/>
          </p:cNvSpPr>
          <p:nvPr>
            <p:ph type="body" idx="1"/>
          </p:nvPr>
        </p:nvSpPr>
        <p:spPr/>
        <p:txBody>
          <a:bodyPr/>
          <a:lstStyle/>
          <a:p>
            <a:r>
              <a:rPr lang="en-US" dirty="0"/>
              <a:t>Don't explain the code. Let them read it for 30 seconds, then ask: "Show of hands — who has written code that looks like this?" (pause for laughs). Then ask someone to name a sin they see. Let THEM lead the discussion. The seven sins they should find:
1. df, df2, x, r, g — meaningless variable names
2. 3.14159 — magic number instead of math.pi
3. No units anywhere (d? v2? mm? cm³?)
4. No functions — everything in one flat block
5. No tests
6. v2 implies a v1 that doesn't exist (or got lost)
7. The comment "responders = growth &lt; 0" documents what the next line does — the name is_responder() would have made the comment unnecessary</a:t>
            </a:r>
          </a:p>
          <a:p>
            <a:r>
              <a:rPr lang="en-US" sz="1200" kern="1200" dirty="0">
                <a:solidFill>
                  <a:schemeClr val="tx1"/>
                </a:solidFill>
                <a:latin typeface="+mn-lt"/>
                <a:ea typeface="+mn-ea"/>
                <a:cs typeface="+mn-cs"/>
              </a:rPr>
              <a:t>8. import </a:t>
            </a:r>
            <a:r>
              <a:rPr lang="en-US" sz="1200" kern="1200" dirty="0" err="1">
                <a:solidFill>
                  <a:schemeClr val="tx1"/>
                </a:solidFill>
                <a:latin typeface="+mn-lt"/>
                <a:ea typeface="+mn-ea"/>
                <a:cs typeface="+mn-cs"/>
              </a:rPr>
              <a:t>numpy</a:t>
            </a:r>
            <a:r>
              <a:rPr lang="en-US" sz="1200" kern="1200" dirty="0">
                <a:solidFill>
                  <a:schemeClr val="tx1"/>
                </a:solidFill>
                <a:latin typeface="+mn-lt"/>
                <a:ea typeface="+mn-ea"/>
                <a:cs typeface="+mn-cs"/>
              </a:rPr>
              <a:t> as np</a:t>
            </a:r>
            <a:r>
              <a:rPr lang="en-US" dirty="0"/>
              <a:t> — imported but never used. Classic copy-paste boilerplate.
This is the "before" picture. The rest of the session transforms it step by step.</a:t>
            </a:r>
          </a:p>
        </p:txBody>
      </p:sp>
      <p:sp>
        <p:nvSpPr>
          <p:cNvPr id="4" name="Slide Number Placeholder 3">
            <a:extLst>
              <a:ext uri="{FF2B5EF4-FFF2-40B4-BE49-F238E27FC236}">
                <a16:creationId xmlns:a16="http://schemas.microsoft.com/office/drawing/2014/main" id="{1F783A5F-FD8E-2E9E-382F-A83DA3E4C72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39388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8AE51-E06B-C868-F271-02EE13F47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EF7A6-39B1-62D2-3E82-09D4F60F4F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A3D617-5A28-95D9-AB25-7FAF9FA53931}"/>
              </a:ext>
            </a:extLst>
          </p:cNvPr>
          <p:cNvSpPr>
            <a:spLocks noGrp="1"/>
          </p:cNvSpPr>
          <p:nvPr>
            <p:ph type="body" idx="1"/>
          </p:nvPr>
        </p:nvSpPr>
        <p:spPr/>
        <p:txBody>
          <a:bodyPr/>
          <a:lstStyle/>
          <a:p>
            <a:r>
              <a:rPr lang="en-US" dirty="0"/>
              <a:t>Don't explain the code. Let them read it for 30 seconds, then ask: "Show of hands — who has written code that looks like this?" (pause for laughs). Then ask someone to name a sin they see. Let THEM lead the discussion. The seven sins they should find:
1. df, df2, x, r, g — meaningless variable names
2. 3.14159 — magic number instead of math.pi
3. No units anywhere (d? v2? mm? cm³?)
4. No functions — everything in one flat block
5. No tests
6. v2 implies a v1 that doesn't exist (or got lost)
7. The comment "responders = growth &lt; 0" documents what the next line does — the name is_responder() would have made the comment unnecessary</a:t>
            </a:r>
          </a:p>
          <a:p>
            <a:r>
              <a:rPr lang="en-US" sz="1200" kern="1200" dirty="0">
                <a:solidFill>
                  <a:schemeClr val="tx1"/>
                </a:solidFill>
                <a:latin typeface="+mn-lt"/>
                <a:ea typeface="+mn-ea"/>
                <a:cs typeface="+mn-cs"/>
              </a:rPr>
              <a:t>8. import </a:t>
            </a:r>
            <a:r>
              <a:rPr lang="en-US" sz="1200" kern="1200" dirty="0" err="1">
                <a:solidFill>
                  <a:schemeClr val="tx1"/>
                </a:solidFill>
                <a:latin typeface="+mn-lt"/>
                <a:ea typeface="+mn-ea"/>
                <a:cs typeface="+mn-cs"/>
              </a:rPr>
              <a:t>numpy</a:t>
            </a:r>
            <a:r>
              <a:rPr lang="en-US" sz="1200" kern="1200" dirty="0">
                <a:solidFill>
                  <a:schemeClr val="tx1"/>
                </a:solidFill>
                <a:latin typeface="+mn-lt"/>
                <a:ea typeface="+mn-ea"/>
                <a:cs typeface="+mn-cs"/>
              </a:rPr>
              <a:t> as np</a:t>
            </a:r>
            <a:r>
              <a:rPr lang="en-US" dirty="0"/>
              <a:t> — imported but never used. Classic copy-paste boilerplate.
This is the "before" picture. The rest of the session transforms it step by step.</a:t>
            </a:r>
          </a:p>
        </p:txBody>
      </p:sp>
      <p:sp>
        <p:nvSpPr>
          <p:cNvPr id="4" name="Slide Number Placeholder 3">
            <a:extLst>
              <a:ext uri="{FF2B5EF4-FFF2-40B4-BE49-F238E27FC236}">
                <a16:creationId xmlns:a16="http://schemas.microsoft.com/office/drawing/2014/main" id="{B48991EB-5E6A-DE13-0FE6-82887520A37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41376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1916-2AF0-23EF-A096-D2C44FC85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81870-7515-D5E2-8681-2A092BB091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F68B4A-C8C6-DF01-6353-2E7417A3A05B}"/>
              </a:ext>
            </a:extLst>
          </p:cNvPr>
          <p:cNvSpPr>
            <a:spLocks noGrp="1"/>
          </p:cNvSpPr>
          <p:nvPr>
            <p:ph type="body" idx="1"/>
          </p:nvPr>
        </p:nvSpPr>
        <p:spPr/>
        <p:txBody>
          <a:bodyPr/>
          <a:lstStyle/>
          <a:p>
            <a:r>
              <a:rPr lang="en-US" dirty="0"/>
              <a:t>Don't explain the code. Let them read it for 30 seconds, then ask: "Show of hands — who has written code that looks like this?" (pause for laughs). Then ask someone to name a sin they see. Let THEM lead the discussion. The seven sins they should find:
1. df, df2, x, r, g — meaningless variable names
2. 3.14159 — magic number instead of math.pi
3. No units anywhere (d? v2? mm? cm³?)
4. No functions — everything in one flat block
5. No tests
6. v2 implies a v1 that doesn't exist (or got lost)
7. The comment "responders = growth &lt; 0" documents what the next line does — the name is_responder() would have made the comment unnecessary</a:t>
            </a:r>
          </a:p>
          <a:p>
            <a:r>
              <a:rPr lang="en-US" sz="1200" kern="1200" dirty="0">
                <a:solidFill>
                  <a:schemeClr val="tx1"/>
                </a:solidFill>
                <a:latin typeface="+mn-lt"/>
                <a:ea typeface="+mn-ea"/>
                <a:cs typeface="+mn-cs"/>
              </a:rPr>
              <a:t>8. import </a:t>
            </a:r>
            <a:r>
              <a:rPr lang="en-US" sz="1200" kern="1200" dirty="0" err="1">
                <a:solidFill>
                  <a:schemeClr val="tx1"/>
                </a:solidFill>
                <a:latin typeface="+mn-lt"/>
                <a:ea typeface="+mn-ea"/>
                <a:cs typeface="+mn-cs"/>
              </a:rPr>
              <a:t>numpy</a:t>
            </a:r>
            <a:r>
              <a:rPr lang="en-US" sz="1200" kern="1200" dirty="0">
                <a:solidFill>
                  <a:schemeClr val="tx1"/>
                </a:solidFill>
                <a:latin typeface="+mn-lt"/>
                <a:ea typeface="+mn-ea"/>
                <a:cs typeface="+mn-cs"/>
              </a:rPr>
              <a:t> as np</a:t>
            </a:r>
            <a:r>
              <a:rPr lang="en-US" dirty="0"/>
              <a:t> — imported but never used. Classic copy-paste boilerplate.
This is the "before" picture. The rest of the session transforms it step by step.</a:t>
            </a:r>
          </a:p>
        </p:txBody>
      </p:sp>
      <p:sp>
        <p:nvSpPr>
          <p:cNvPr id="4" name="Slide Number Placeholder 3">
            <a:extLst>
              <a:ext uri="{FF2B5EF4-FFF2-40B4-BE49-F238E27FC236}">
                <a16:creationId xmlns:a16="http://schemas.microsoft.com/office/drawing/2014/main" id="{31763418-BA25-E571-8037-BB7ADB071ED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71547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highest-impact, lowest-effort habit. Renaming variables costs nothing and immediately makes code reviewable. Start with: "What does `g` mean? Growth? Grams? Gravity? A musical note?”</a:t>
            </a:r>
          </a:p>
          <a:p>
            <a:endParaRPr lang="en-US" dirty="0"/>
          </a:p>
          <a:p>
            <a:r>
              <a:rPr lang="en-US" dirty="0"/>
              <a:t>A good name tells the reader what something </a:t>
            </a:r>
            <a:r>
              <a:rPr lang="en-US" i="1" dirty="0"/>
              <a:t>is</a:t>
            </a:r>
            <a:r>
              <a:rPr lang="en-US" dirty="0"/>
              <a:t> or </a:t>
            </a:r>
            <a:r>
              <a:rPr lang="en-US" i="1" dirty="0"/>
              <a:t>does</a:t>
            </a:r>
            <a:r>
              <a:rPr lang="en-US" dirty="0"/>
              <a:t> without them having to read the implementation. In Python, the convention is simple and universal: </a:t>
            </a:r>
            <a:r>
              <a:rPr lang="en-US" b="1" dirty="0"/>
              <a:t>variables are nouns, functions are verbs, everything is </a:t>
            </a:r>
            <a:r>
              <a:rPr lang="en-US" sz="1200" b="1" kern="1200" dirty="0" err="1">
                <a:solidFill>
                  <a:schemeClr val="tx1"/>
                </a:solidFill>
                <a:latin typeface="+mn-lt"/>
                <a:ea typeface="+mn-ea"/>
                <a:cs typeface="+mn-cs"/>
              </a:rPr>
              <a:t>snake_case</a:t>
            </a:r>
            <a:r>
              <a:rPr lang="en-US" b="1" dirty="0"/>
              <a:t>, constants are </a:t>
            </a:r>
            <a:r>
              <a:rPr lang="en-US" sz="1200" b="1" kern="1200" dirty="0">
                <a:solidFill>
                  <a:schemeClr val="tx1"/>
                </a:solidFill>
                <a:latin typeface="+mn-lt"/>
                <a:ea typeface="+mn-ea"/>
                <a:cs typeface="+mn-cs"/>
              </a:rPr>
              <a:t>UPPER_SNAKE_CASE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each rule with the tumor example. The units rule is especially important for physics code — a Mars Climate Orbiter crashed because of a unit mismatch. Ask: "Has anyone ever had a bug that turned out to be a unit confusion?" Guaranteed someone has.
The function naming rule is powerful: if you can't name the function with a clear verb, you probably don't understand what it does yet. That's a design signal, not just a style issue.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83A15-4133-F9B4-9AE6-C121F238E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F572F-E892-589E-20BF-A4C1880B40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58F070-9BE4-AFBA-07E8-072615744768}"/>
              </a:ext>
            </a:extLst>
          </p:cNvPr>
          <p:cNvSpPr>
            <a:spLocks noGrp="1"/>
          </p:cNvSpPr>
          <p:nvPr>
            <p:ph type="body" idx="1"/>
          </p:nvPr>
        </p:nvSpPr>
        <p:spPr/>
        <p:txBody>
          <a:bodyPr/>
          <a:lstStyle/>
          <a:p>
            <a:r>
              <a:rPr lang="en-US" dirty="0"/>
              <a:t>Put both on screen side by side if possible. Ask: "Which one would you rather debug at 11 PM before a conference deadline?" The before version requires you to hold a mental translation table (d = diameter, v2 = volume, t = time, g = growth). The after version IS the translation table. Note: math.pi vs 3.14159 — not just cleaner, but more precise (15 decimal digits vs 5).</a:t>
            </a:r>
          </a:p>
        </p:txBody>
      </p:sp>
      <p:sp>
        <p:nvSpPr>
          <p:cNvPr id="4" name="Slide Number Placeholder 3">
            <a:extLst>
              <a:ext uri="{FF2B5EF4-FFF2-40B4-BE49-F238E27FC236}">
                <a16:creationId xmlns:a16="http://schemas.microsoft.com/office/drawing/2014/main" id="{2C38C3C1-F553-4A66-43B5-3CE1F91F012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00537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5C2E-E2CA-AD55-F26F-6116170FC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C0E55-2AFE-8CA1-5242-A48A32074A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8DAC56-2C66-65A0-A384-564CD72B5B2B}"/>
              </a:ext>
            </a:extLst>
          </p:cNvPr>
          <p:cNvSpPr>
            <a:spLocks noGrp="1"/>
          </p:cNvSpPr>
          <p:nvPr>
            <p:ph type="body" idx="1"/>
          </p:nvPr>
        </p:nvSpPr>
        <p:spPr/>
        <p:txBody>
          <a:bodyPr/>
          <a:lstStyle/>
          <a:p>
            <a:r>
              <a:rPr lang="en-US" dirty="0"/>
              <a:t>Put both on screen side by side if possible. Ask: "Which one would you rather debug at 11 PM before a conference deadline?" The before version requires you to hold a mental translation table (d = diameter, v2 = volume, t = time, g = growth). The after version IS the translation table. Note: math.pi vs 3.14159 — not just cleaner, but more precise (15 decimal digits vs 5).</a:t>
            </a:r>
          </a:p>
        </p:txBody>
      </p:sp>
      <p:sp>
        <p:nvSpPr>
          <p:cNvPr id="4" name="Slide Number Placeholder 3">
            <a:extLst>
              <a:ext uri="{FF2B5EF4-FFF2-40B4-BE49-F238E27FC236}">
                <a16:creationId xmlns:a16="http://schemas.microsoft.com/office/drawing/2014/main" id="{EB725D86-22B7-874D-915C-784F318800D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99368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Transition line: "Now that we can read the names, notice the code is still one giant block. What if you need the volume calculation in a different analysis? Copy-paste it? That's how bugs breed."
Principle. </a:t>
            </a:r>
            <a:r>
              <a:rPr lang="en-US" b="1" dirty="0"/>
              <a:t>A function should do one thing. A file should contain related functions</a:t>
            </a:r>
            <a:r>
              <a:rPr lang="en-US" dirty="0"/>
              <a:t>. The opposite of modular code is a 2,000-line script where changing anything might break everything. The goal: write functions you can reason about in isolation.
This is Parnas from your timeline — </a:t>
            </a:r>
            <a:r>
              <a:rPr lang="en-US" b="1" dirty="0"/>
              <a:t>information hiding. </a:t>
            </a:r>
            <a:r>
              <a:rPr lang="en-US" dirty="0"/>
              <a:t>Each function owns a decision. You can change how a function works without changing everything that calls it, as long as you don't change what it does.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CEEE6-35C4-C1FF-B781-801686A51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74264-D79A-0983-51D9-B878A8ECEE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BA92FE-440C-B983-226F-259605C2A2BB}"/>
              </a:ext>
            </a:extLst>
          </p:cNvPr>
          <p:cNvSpPr>
            <a:spLocks noGrp="1"/>
          </p:cNvSpPr>
          <p:nvPr>
            <p:ph type="body" idx="1"/>
          </p:nvPr>
        </p:nvSpPr>
        <p:spPr/>
        <p:txBody>
          <a:bodyPr/>
          <a:lstStyle/>
          <a:p>
            <a:r>
              <a:rPr lang="en-US" dirty="0"/>
              <a:t>The reuse argument lands well with this audience — they often have multiple analysis scripts that share calculations. Ask: "How many of you have copy-pasted a function between scripts?" Then: "What happens when you find a bug in the original — do you remember everywhere you pasted it?"</a:t>
            </a:r>
          </a:p>
        </p:txBody>
      </p:sp>
      <p:sp>
        <p:nvSpPr>
          <p:cNvPr id="4" name="Slide Number Placeholder 3">
            <a:extLst>
              <a:ext uri="{FF2B5EF4-FFF2-40B4-BE49-F238E27FC236}">
                <a16:creationId xmlns:a16="http://schemas.microsoft.com/office/drawing/2014/main" id="{9E2A15E0-F657-CE3C-A1B3-D90BCD89081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680700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Notice he code with functions:</a:t>
            </a:r>
          </a:p>
          <a:p>
            <a:r>
              <a:rPr lang="en-US" dirty="0"/>
              <a:t>Reads like a summary.</a:t>
            </a:r>
          </a:p>
          <a:p>
            <a:r>
              <a:rPr lang="en-US" dirty="0"/>
              <a:t>The variable and functions names aid in understandability instead of hindering it</a:t>
            </a:r>
          </a:p>
          <a:p>
            <a:r>
              <a:rPr lang="en-US" dirty="0"/>
              <a:t>Comments are not really needed.</a:t>
            </a:r>
          </a:p>
          <a:p>
            <a:r>
              <a:rPr lang="en-US" dirty="0"/>
              <a:t>The functions encapsulate the implementation details, e.g. information hiding</a:t>
            </a:r>
          </a:p>
          <a:p>
            <a:r>
              <a:rPr lang="en-US" dirty="0"/>
              <a:t>They can be tested in isolation.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E2DA3-3874-433E-6B5F-99FB93906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DDDD2-5124-0154-B735-C7B88EA452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883E17-EDE4-44B4-7A7A-7A1F6078E692}"/>
              </a:ext>
            </a:extLst>
          </p:cNvPr>
          <p:cNvSpPr>
            <a:spLocks noGrp="1"/>
          </p:cNvSpPr>
          <p:nvPr>
            <p:ph type="body" idx="1"/>
          </p:nvPr>
        </p:nvSpPr>
        <p:spPr/>
        <p:txBody>
          <a:bodyPr/>
          <a:lstStyle/>
          <a:p>
            <a:r>
              <a:rPr lang="en-US" dirty="0"/>
              <a:t>Grouping function example:</a:t>
            </a:r>
          </a:p>
          <a:p>
            <a:r>
              <a:rPr lang="en-US" dirty="0"/>
              <a:t>Imagine loading input data could come from different sources.  Such as:</a:t>
            </a:r>
          </a:p>
          <a:p>
            <a:r>
              <a:rPr lang="en-US" dirty="0"/>
              <a:t>.CSV file</a:t>
            </a:r>
          </a:p>
          <a:p>
            <a:r>
              <a:rPr lang="en-US" dirty="0"/>
              <a:t>A database</a:t>
            </a:r>
          </a:p>
          <a:p>
            <a:r>
              <a:rPr lang="en-US" dirty="0"/>
              <a:t>A remote API</a:t>
            </a:r>
          </a:p>
          <a:p>
            <a:r>
              <a:rPr lang="en-US" dirty="0"/>
              <a:t>Another function</a:t>
            </a:r>
          </a:p>
          <a:p>
            <a:r>
              <a:rPr lang="en-US" dirty="0" err="1"/>
              <a:t>Etc</a:t>
            </a:r>
            <a:r>
              <a:rPr lang="en-US" dirty="0"/>
              <a:t>…</a:t>
            </a:r>
          </a:p>
          <a:p>
            <a:endParaRPr lang="en-US" dirty="0"/>
          </a:p>
          <a:p>
            <a:endParaRPr lang="en-US" dirty="0"/>
          </a:p>
        </p:txBody>
      </p:sp>
      <p:sp>
        <p:nvSpPr>
          <p:cNvPr id="4" name="Slide Number Placeholder 3">
            <a:extLst>
              <a:ext uri="{FF2B5EF4-FFF2-40B4-BE49-F238E27FC236}">
                <a16:creationId xmlns:a16="http://schemas.microsoft.com/office/drawing/2014/main" id="{16159E80-25C0-8E81-ACB1-0AB97627AC5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54189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7777-7CAE-106B-4287-700927B05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1F1DA-66B8-59EA-EE47-B793B49ADF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A440D9-E462-FDC8-17A7-D2B587D31211}"/>
              </a:ext>
            </a:extLst>
          </p:cNvPr>
          <p:cNvSpPr>
            <a:spLocks noGrp="1"/>
          </p:cNvSpPr>
          <p:nvPr>
            <p:ph type="body" idx="1"/>
          </p:nvPr>
        </p:nvSpPr>
        <p:spPr/>
        <p:txBody>
          <a:bodyPr/>
          <a:lstStyle/>
          <a:p>
            <a:r>
              <a:rPr lang="en-US" dirty="0"/>
              <a:t>Walk through the anatomy: type hints on the signature (float in, float out), a one-line docstring, and a clear calculation. Point out this is testable in isolation — you don't need a CSV file or a DataFrame to verify the volume formula. You just call calculate_sphere_volume(20) and check the answer.
The phrase "pure function" is worth introducing — it means no side effects. It doesn't read files, doesn't modify global variables, doesn't print anything. Given the same diameter, it always returns the same volume. This is the gold standard for testable code.</a:t>
            </a:r>
          </a:p>
        </p:txBody>
      </p:sp>
      <p:sp>
        <p:nvSpPr>
          <p:cNvPr id="4" name="Slide Number Placeholder 3">
            <a:extLst>
              <a:ext uri="{FF2B5EF4-FFF2-40B4-BE49-F238E27FC236}">
                <a16:creationId xmlns:a16="http://schemas.microsoft.com/office/drawing/2014/main" id="{04FD2C62-1309-DDA6-A8EC-79973C9168B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11863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492C-79C5-66BD-DAEC-7F81416B7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863ED-180F-49E0-E574-925B9BA1A9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DEA950-C993-B2CE-C928-1A20FE07D9AF}"/>
              </a:ext>
            </a:extLst>
          </p:cNvPr>
          <p:cNvSpPr>
            <a:spLocks noGrp="1"/>
          </p:cNvSpPr>
          <p:nvPr>
            <p:ph type="body" idx="1"/>
          </p:nvPr>
        </p:nvSpPr>
        <p:spPr/>
        <p:txBody>
          <a:bodyPr/>
          <a:lstStyle/>
          <a:p>
            <a:r>
              <a:rPr lang="en-US" dirty="0"/>
              <a:t>Put both on screen side by side if possible. Ask: "Which one would you rather debug at 11 PM before a conference deadline?" The before version requires you to hold a mental translation table (d = diameter, v2 = volume, t = time, g = growth). The after version IS the translation table. Note: math.pi vs 3.14159 — not just cleaner, but more precise (15 decimal digits vs 5).</a:t>
            </a:r>
          </a:p>
        </p:txBody>
      </p:sp>
      <p:sp>
        <p:nvSpPr>
          <p:cNvPr id="4" name="Slide Number Placeholder 3">
            <a:extLst>
              <a:ext uri="{FF2B5EF4-FFF2-40B4-BE49-F238E27FC236}">
                <a16:creationId xmlns:a16="http://schemas.microsoft.com/office/drawing/2014/main" id="{5571D827-F086-C636-2B32-96838F8401D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58497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D0258-EA0B-1D4F-1123-605D250D4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4DD1E-1C32-61DE-39CA-7289AE1FC3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5C42BB-4356-AE7E-451C-00BB2BA001A7}"/>
              </a:ext>
            </a:extLst>
          </p:cNvPr>
          <p:cNvSpPr>
            <a:spLocks noGrp="1"/>
          </p:cNvSpPr>
          <p:nvPr>
            <p:ph type="body" idx="1"/>
          </p:nvPr>
        </p:nvSpPr>
        <p:spPr/>
        <p:txBody>
          <a:bodyPr/>
          <a:lstStyle/>
          <a:p>
            <a:r>
              <a:rPr lang="en-US" dirty="0"/>
              <a:t>The reuse argument lands well with this audience — they often have multiple analysis scripts that share calculations. Ask: "How many of you have copy-pasted a function between scripts?" Then: "What happens when you find a bug in the original — do you remember everywhere you pasted it?"</a:t>
            </a:r>
          </a:p>
        </p:txBody>
      </p:sp>
      <p:sp>
        <p:nvSpPr>
          <p:cNvPr id="4" name="Slide Number Placeholder 3">
            <a:extLst>
              <a:ext uri="{FF2B5EF4-FFF2-40B4-BE49-F238E27FC236}">
                <a16:creationId xmlns:a16="http://schemas.microsoft.com/office/drawing/2014/main" id="{AFFAB435-3FAF-A3C3-19EB-03F879BE823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01764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F3F37-D1EE-415B-E115-608886428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AB27A-DE64-78E0-93B3-15A39B00A6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994866-DBE1-7FBC-D9A3-1E72BAD6A658}"/>
              </a:ext>
            </a:extLst>
          </p:cNvPr>
          <p:cNvSpPr>
            <a:spLocks noGrp="1"/>
          </p:cNvSpPr>
          <p:nvPr>
            <p:ph type="body" idx="1"/>
          </p:nvPr>
        </p:nvSpPr>
        <p:spPr/>
        <p:txBody>
          <a:bodyPr/>
          <a:lstStyle/>
          <a:p>
            <a:pPr marL="228600" lvl="0" indent="-228600">
              <a:buAutoNum type="arabicPeriod"/>
            </a:pPr>
            <a:r>
              <a:rPr lang="en-US" b="1" dirty="0"/>
              <a:t>The comment signal — the most reliable trigger</a:t>
            </a:r>
            <a:br>
              <a:rPr lang="en-US" dirty="0"/>
            </a:br>
            <a:r>
              <a:rPr lang="en-US" dirty="0"/>
              <a:t>If you wrote a comment describing what the next block does, that comment is the function name. The code that follows is the function body.</a:t>
            </a:r>
          </a:p>
          <a:p>
            <a:pPr marL="228600" lvl="0" indent="-228600">
              <a:buAutoNum type="arabicPeriod"/>
            </a:pPr>
            <a:r>
              <a:rPr lang="en-US" b="1" dirty="0"/>
              <a:t>The copy-paste signal</a:t>
            </a:r>
            <a:br>
              <a:rPr lang="en-US" dirty="0"/>
            </a:br>
            <a:r>
              <a:rPr lang="en-US" dirty="0"/>
              <a:t>Any code that is copied and pasted — even with small modifications — is a function waiting to be written. If you do it twice, extract it. If you do it three times, it's a bug farm. Each copy will drift independently.</a:t>
            </a:r>
          </a:p>
          <a:p>
            <a:pPr marL="228600" lvl="0" indent="-228600">
              <a:buAutoNum type="arabicPeriod"/>
            </a:pPr>
            <a:r>
              <a:rPr lang="en-US" b="1" dirty="0"/>
              <a:t>The scroll signal</a:t>
            </a:r>
            <a:br>
              <a:rPr lang="en-US" dirty="0"/>
            </a:br>
            <a:r>
              <a:rPr lang="en-US" dirty="0"/>
              <a:t>If you find yourself scrolling up to remind yourself what a block of code does, it is too far from its context. It should be a function with a name that makes scrolling unnecessary.</a:t>
            </a:r>
          </a:p>
          <a:p>
            <a:pPr marL="228600" lvl="0" indent="-228600">
              <a:buAutoNum type="arabicPeriod"/>
            </a:pPr>
            <a:r>
              <a:rPr lang="en-US" b="1" dirty="0"/>
              <a:t>4. The "and" signal</a:t>
            </a:r>
            <a:br>
              <a:rPr lang="en-US" dirty="0"/>
            </a:br>
            <a:r>
              <a:rPr lang="en-US" dirty="0"/>
              <a:t>Read what a block of code does out loud. If the description contains the word "and", it is doing more than one thing and should be split. </a:t>
            </a:r>
            <a:r>
              <a:rPr lang="en-US" i="1" dirty="0"/>
              <a:t>"This block loads the data and filters invalid rows and computes volumes"</a:t>
            </a:r>
            <a:r>
              <a:rPr lang="en-US" dirty="0"/>
              <a:t> — that is three functions.</a:t>
            </a:r>
          </a:p>
          <a:p>
            <a:pPr marL="228600" lvl="0" indent="-228600">
              <a:buAutoNum type="arabicPeriod"/>
            </a:pPr>
            <a:r>
              <a:rPr lang="en-US" b="1" dirty="0"/>
              <a:t>5. The testing signal</a:t>
            </a:r>
            <a:br>
              <a:rPr lang="en-US" dirty="0"/>
            </a:br>
            <a:r>
              <a:rPr lang="en-US" dirty="0"/>
              <a:t>If you cannot test a piece of logic without running the entire script, it is trapped inside the script when it should be a function. This becomes the bridge back to Habit 3 (testing) — you cannot test what you cannot call.</a:t>
            </a:r>
          </a:p>
        </p:txBody>
      </p:sp>
      <p:sp>
        <p:nvSpPr>
          <p:cNvPr id="4" name="Slide Number Placeholder 3">
            <a:extLst>
              <a:ext uri="{FF2B5EF4-FFF2-40B4-BE49-F238E27FC236}">
                <a16:creationId xmlns:a16="http://schemas.microsoft.com/office/drawing/2014/main" id="{C0CC4614-D033-F6A1-6127-8C705E0FBC3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60301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769BF-0659-D55B-C50D-B656F4EC4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88963-D76E-519F-CE21-58E6F1C334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790EBA-5141-4A2B-A76A-D24B71B76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63E652-D6AE-4143-CF90-E96C73220BE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66657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Transition: "You've got named variables and clean functions. How do you know they're correct? You test them — not by eyeballing the output, but by writing code that checks the code."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"you already test" framing is important — it meets them where they are rather than introducing testing as a foreign concept. They DO check their output. The habit is to automate that checking so it happens reliably. Mention: most irreproducible results in scientific computing aren't fraud — they're undetected bugs. Testing is a reproducibility tool.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Demystify testing. A test is: call the function with a known input, check the output matches what you calculated by hand. The math.isclose is important for floating-point comparison — never use == with floats.
The zero test is a boundary case. What happens at the edges? Good tests check normal cases AND edge cases. Ask: "What would you test for negative diameters?" — that's a design question the test forces you to answer.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we're testing scientific logic, not just formulas. A tumor that shrinks should be classified as a responder. A tumor that grows should not. These tests encode your scientific understanding — if someone changes the responder threshold or the growth rate formula, these tests catch it immediately.
Point out: the test creates its OWN data. It doesn't depend on a CSV file existing. That's intentional — tests should be self-contained and reproducible anywhere.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Show this as a terminal screenshot if possible. The green "PASSED" is satisfying — it's immediate feedback. Mention pytest discovers tests automatically by naming convention (files starting with test_, functions starting with test_). No configuration needed. They can run this TODAY with `pip install pytest`.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Brief section — 4 minutes max. The goal is motivation, not tutorial. The Git session covers the mechanics later. Your line: "We've been improving this code step by step. What if you need to go back? What if a collaborator makes a change that breaks something? What if you need to prove exactly which code produced a published result?"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data_final_v3_REAL.py joke should land — everyone has done this. Git eliminates the need for filename-based versioning entirely. Mention: "Every version of every file, with a message explaining what changed and why. No more v2, v3, FINAL, REAL_FINAL."
Don't go deeper — just plant the seed and point them to the Git session.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ABC9-176D-511D-1B3F-2535B9543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ABBFB-5FB9-0147-464E-99CC85B48E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9F33D3-BC7D-0E76-7AA1-F1E51CCD599F}"/>
              </a:ext>
            </a:extLst>
          </p:cNvPr>
          <p:cNvSpPr>
            <a:spLocks noGrp="1"/>
          </p:cNvSpPr>
          <p:nvPr>
            <p:ph type="body" idx="1"/>
          </p:nvPr>
        </p:nvSpPr>
        <p:spPr/>
        <p:txBody>
          <a:bodyPr/>
          <a:lstStyle/>
          <a:p>
            <a:r>
              <a:rPr lang="en-US" dirty="0"/>
              <a:t>The data_final_v3_REAL.py joke should land — everyone has done this. Git eliminates the need for filename-based versioning entirely. Mention: "Every version of every file, with a message explaining what changed and why. No more v2, v3, FINAL, REAL_FINAL."
</a:t>
            </a:r>
          </a:p>
          <a:p>
            <a:r>
              <a:rPr lang="en-US" b="1" i="1" dirty="0"/>
              <a:t>If your code produced a number that went into a paper, you must be able to reproduce the exact version of the code that produced it. Git is how you do that. Everything else is negotiable.</a:t>
            </a:r>
            <a:r>
              <a:rPr lang="en-US" dirty="0"/>
              <a:t> </a:t>
            </a:r>
            <a:r>
              <a:rPr lang="en-US" i="1" dirty="0"/>
              <a:t>"</a:t>
            </a:r>
            <a:endParaRPr lang="en-US" dirty="0"/>
          </a:p>
          <a:p>
            <a:r>
              <a:rPr lang="en-US" dirty="0"/>
              <a:t>
Don't go deeper — just plant the seed and point them to the Git session.</a:t>
            </a:r>
          </a:p>
        </p:txBody>
      </p:sp>
      <p:sp>
        <p:nvSpPr>
          <p:cNvPr id="4" name="Slide Number Placeholder 3">
            <a:extLst>
              <a:ext uri="{FF2B5EF4-FFF2-40B4-BE49-F238E27FC236}">
                <a16:creationId xmlns:a16="http://schemas.microsoft.com/office/drawing/2014/main" id="{8872D850-8E29-D842-424D-030E1B36BBF8}"/>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7720448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003E-00E2-3B4C-566E-DB1FD0743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2AAC3-1740-0747-725D-BB0D65DA40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13E4A12-F3A2-C222-6373-81FF7431569E}"/>
              </a:ext>
            </a:extLst>
          </p:cNvPr>
          <p:cNvSpPr>
            <a:spLocks noGrp="1"/>
          </p:cNvSpPr>
          <p:nvPr>
            <p:ph type="body" idx="1"/>
          </p:nvPr>
        </p:nvSpPr>
        <p:spPr/>
        <p:txBody>
          <a:bodyPr/>
          <a:lstStyle/>
          <a:p>
            <a:r>
              <a:rPr lang="en-US" dirty="0"/>
              <a:t>A good commit message completes the sentence </a:t>
            </a:r>
            <a:r>
              <a:rPr lang="en-US" i="1" dirty="0"/>
              <a:t>"If applied, this commit will ___"</a:t>
            </a:r>
            <a:r>
              <a:rPr lang="en-US" dirty="0"/>
              <a:t>. Present tense, imperative mood. "Fix unit conversion bug in volume calculation," not "fixed stuff."</a:t>
            </a:r>
          </a:p>
        </p:txBody>
      </p:sp>
      <p:sp>
        <p:nvSpPr>
          <p:cNvPr id="4" name="Slide Number Placeholder 3">
            <a:extLst>
              <a:ext uri="{FF2B5EF4-FFF2-40B4-BE49-F238E27FC236}">
                <a16:creationId xmlns:a16="http://schemas.microsoft.com/office/drawing/2014/main" id="{3F1A18F5-B1A2-0C24-B1CE-D930A8C9E19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3395301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Also brief — 4 minutes. Documentation has its own session. Your line: "You think you'll remember what this code does. You won't. The person most likely to be confused by your code is future you."</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Keep it practical and low-bar. One-line docstrings and a basic README are the floor, not the ceiling. The documentation session will cover more sophisticated approaches.
The type hints we added earlier (float → float) are themselves a form of documentation — they tell the reader what the function expects and returns without reading the body. That's "self-documenting code" in practice.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Quick recap — no more than 60 seconds. Then: "You have the bad version and the good version in your download pack. Try the exercises in the README. The most valuable exercise: take YOUR code — the script you're working on right now — and apply Habit 1. Just rename the variables. See how it feels."
The download pack includes: bad_analysis.py, good_analysis.py, test_good_analysis.py, make_data.py, tumor_data.csv, and README.md.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Final slide — leave this up during questions. The closing line is the takeaway: you don't need to adopt all five habits at once. Start with naming. Then try splitting a function out. Then write one test. The compound effect kicks in quickly.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science.nasa.gov/mission/mars-climate-orbiter/"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280160"/>
            <a:ext cx="7680960" cy="1645920"/>
          </a:xfrm>
          <a:prstGeom prst="rect">
            <a:avLst/>
          </a:prstGeom>
          <a:noFill/>
          <a:ln/>
        </p:spPr>
        <p:txBody>
          <a:bodyPr wrap="square" lIns="0" tIns="0" rIns="0" bIns="0" rtlCol="0" anchor="ctr"/>
          <a:lstStyle/>
          <a:p>
            <a:pPr marL="0" indent="0" algn="l">
              <a:buNone/>
            </a:pPr>
            <a:r>
              <a:rPr lang="en-US" sz="3600" dirty="0">
                <a:solidFill>
                  <a:srgbClr val="FFFFFF"/>
                </a:solidFill>
                <a:latin typeface="Georgia" pitchFamily="34" charset="0"/>
                <a:ea typeface="Georgia" pitchFamily="34" charset="-122"/>
                <a:cs typeface="Georgia" pitchFamily="34" charset="-120"/>
              </a:rPr>
              <a:t>The Five Habits of a Software Developer</a:t>
            </a:r>
            <a:endParaRPr lang="en-US" sz="3600" dirty="0"/>
          </a:p>
        </p:txBody>
      </p:sp>
      <p:sp>
        <p:nvSpPr>
          <p:cNvPr id="4" name="Text 2"/>
          <p:cNvSpPr/>
          <p:nvPr/>
        </p:nvSpPr>
        <p:spPr>
          <a:xfrm>
            <a:off x="731520" y="2926080"/>
            <a:ext cx="7680960" cy="548640"/>
          </a:xfrm>
          <a:prstGeom prst="rect">
            <a:avLst/>
          </a:prstGeom>
          <a:noFill/>
          <a:ln/>
        </p:spPr>
        <p:txBody>
          <a:bodyPr wrap="square" lIns="0" tIns="0" rIns="0" bIns="0" rtlCol="0" anchor="ctr"/>
          <a:lstStyle/>
          <a:p>
            <a:pPr marL="0" indent="0" algn="l">
              <a:buNone/>
            </a:pPr>
            <a:r>
              <a:rPr lang="en-US" sz="1600" i="1" dirty="0">
                <a:solidFill>
                  <a:srgbClr val="C8A951"/>
                </a:solidFill>
                <a:latin typeface="Georgia" pitchFamily="34" charset="0"/>
                <a:ea typeface="Georgia" pitchFamily="34" charset="-122"/>
                <a:cs typeface="Georgia" pitchFamily="34" charset="-120"/>
              </a:rPr>
              <a:t>From "it runs" to "it's </a:t>
            </a:r>
            <a:r>
              <a:rPr lang="en-US" sz="1600" i="1" dirty="0" err="1">
                <a:solidFill>
                  <a:srgbClr val="C8A951"/>
                </a:solidFill>
                <a:latin typeface="Georgia" pitchFamily="34" charset="0"/>
                <a:ea typeface="Georgia" pitchFamily="34" charset="-122"/>
                <a:cs typeface="Georgia" pitchFamily="34" charset="-120"/>
              </a:rPr>
              <a:t>reproducable</a:t>
            </a:r>
            <a:r>
              <a:rPr lang="en-US" sz="1600" i="1" dirty="0">
                <a:solidFill>
                  <a:srgbClr val="C8A951"/>
                </a:solidFill>
                <a:latin typeface="Georgia" pitchFamily="34" charset="0"/>
                <a:ea typeface="Georgia" pitchFamily="34" charset="-122"/>
                <a:cs typeface="Georgia" pitchFamily="34" charset="-120"/>
              </a:rPr>
              <a:t>"</a:t>
            </a:r>
            <a:endParaRPr lang="en-US" sz="16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The Progression</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pic>
        <p:nvPicPr>
          <p:cNvPr id="28" name="Picture 27">
            <a:extLst>
              <a:ext uri="{FF2B5EF4-FFF2-40B4-BE49-F238E27FC236}">
                <a16:creationId xmlns:a16="http://schemas.microsoft.com/office/drawing/2014/main" id="{D0D5FCD5-8A29-4820-8947-AD2344E4B9CB}"/>
              </a:ext>
            </a:extLst>
          </p:cNvPr>
          <p:cNvPicPr>
            <a:picLocks noChangeAspect="1"/>
          </p:cNvPicPr>
          <p:nvPr/>
        </p:nvPicPr>
        <p:blipFill>
          <a:blip r:embed="rId3"/>
          <a:stretch>
            <a:fillRect/>
          </a:stretch>
        </p:blipFill>
        <p:spPr>
          <a:xfrm>
            <a:off x="685800" y="1539609"/>
            <a:ext cx="7772400" cy="20642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Programmer vs. Software Developer</a:t>
            </a:r>
            <a:endParaRPr lang="en-US" sz="2600" dirty="0"/>
          </a:p>
        </p:txBody>
      </p:sp>
      <p:sp>
        <p:nvSpPr>
          <p:cNvPr id="3" name="Shape 1"/>
          <p:cNvSpPr/>
          <p:nvPr/>
        </p:nvSpPr>
        <p:spPr>
          <a:xfrm>
            <a:off x="548640" y="914400"/>
            <a:ext cx="1371600" cy="27432"/>
          </a:xfrm>
          <a:prstGeom prst="rect">
            <a:avLst/>
          </a:prstGeom>
          <a:solidFill>
            <a:srgbClr val="C8A951"/>
          </a:solidFill>
          <a:ln/>
        </p:spPr>
        <p:txBody>
          <a:bodyPr/>
          <a:lstStyle/>
          <a:p>
            <a:endParaRPr lang="en-US"/>
          </a:p>
        </p:txBody>
      </p:sp>
      <p:graphicFrame>
        <p:nvGraphicFramePr>
          <p:cNvPr id="4" name="Table 0"/>
          <p:cNvGraphicFramePr>
            <a:graphicFrameLocks noGrp="1"/>
          </p:cNvGraphicFramePr>
          <p:nvPr>
            <p:extLst>
              <p:ext uri="{D42A27DB-BD31-4B8C-83A1-F6EECF244321}">
                <p14:modId xmlns:p14="http://schemas.microsoft.com/office/powerpoint/2010/main" val="4262474100"/>
              </p:ext>
            </p:extLst>
          </p:nvPr>
        </p:nvGraphicFramePr>
        <p:xfrm>
          <a:off x="548640" y="1097280"/>
          <a:ext cx="8046720" cy="2849880"/>
        </p:xfrm>
        <a:graphic>
          <a:graphicData uri="http://schemas.openxmlformats.org/drawingml/2006/table">
            <a:tbl>
              <a:tblPr/>
              <a:tblGrid>
                <a:gridCol w="12801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0">
                <a:tc>
                  <a:txBody>
                    <a:bodyPr/>
                    <a:lstStyle/>
                    <a:p>
                      <a:pPr marL="0" indent="0">
                        <a:spcBef>
                          <a:spcPts val="400"/>
                        </a:spcBef>
                        <a:spcAft>
                          <a:spcPts val="400"/>
                        </a:spcAft>
                        <a:buNone/>
                      </a:pP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b="1" dirty="0">
                          <a:solidFill>
                            <a:srgbClr val="FFFFFF"/>
                          </a:solidFill>
                          <a:latin typeface="Georgia" pitchFamily="34" charset="0"/>
                          <a:ea typeface="Georgia" pitchFamily="34" charset="-122"/>
                          <a:cs typeface="Georgia" pitchFamily="34" charset="-120"/>
                        </a:rPr>
                        <a:t>Programmer</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b="1" dirty="0">
                          <a:solidFill>
                            <a:srgbClr val="FFFFFF"/>
                          </a:solidFill>
                          <a:latin typeface="Georgia" pitchFamily="34" charset="0"/>
                          <a:ea typeface="Georgia" pitchFamily="34" charset="-122"/>
                          <a:cs typeface="Georgia" pitchFamily="34" charset="-120"/>
                        </a:rPr>
                        <a:t>Software Developer</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Goal</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Make it work</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Make it work, readable, testable, and maintainable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Naming</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`df`, `x`, `g`</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00" b="0" i="0" dirty="0">
                          <a:solidFill>
                            <a:srgbClr val="1A1A1A"/>
                          </a:solidFill>
                          <a:latin typeface="Consolas" panose="020B0609020204030204" pitchFamily="49" charset="0"/>
                          <a:ea typeface="Calibri" pitchFamily="34" charset="-122"/>
                          <a:cs typeface="Consolas" panose="020B0609020204030204" pitchFamily="49" charset="0"/>
                        </a:rPr>
                        <a:t>`tumor_data`, `</a:t>
                      </a:r>
                      <a:r>
                        <a:rPr lang="en-US" sz="1000" b="0" i="0" dirty="0" err="1">
                          <a:solidFill>
                            <a:srgbClr val="1A1A1A"/>
                          </a:solidFill>
                          <a:latin typeface="Consolas" panose="020B0609020204030204" pitchFamily="49" charset="0"/>
                          <a:ea typeface="Calibri" pitchFamily="34" charset="-122"/>
                          <a:cs typeface="Consolas" panose="020B0609020204030204" pitchFamily="49" charset="0"/>
                        </a:rPr>
                        <a:t>patient_measurements</a:t>
                      </a:r>
                      <a:r>
                        <a:rPr lang="en-US" sz="1000" b="0" i="0" dirty="0">
                          <a:solidFill>
                            <a:srgbClr val="1A1A1A"/>
                          </a:solidFill>
                          <a:latin typeface="Consolas" panose="020B0609020204030204" pitchFamily="49" charset="0"/>
                          <a:ea typeface="Calibri" pitchFamily="34" charset="-122"/>
                          <a:cs typeface="Consolas" panose="020B0609020204030204" pitchFamily="49" charset="0"/>
                        </a:rPr>
                        <a:t>`, `growth_rate_mm3_per_day`</a:t>
                      </a:r>
                      <a:endParaRPr lang="en-US" sz="1000" b="0" i="0" dirty="0">
                        <a:latin typeface="Consolas" panose="020B0609020204030204" pitchFamily="49" charset="0"/>
                        <a:ea typeface="Calibri" charset="0"/>
                        <a:cs typeface="Consolas" panose="020B0609020204030204" pitchFamily="49"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2"/>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Structure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One long script</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Functions, modules, clear separation</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Testing</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Run it. Squint at the output – “</a:t>
                      </a:r>
                      <a:r>
                        <a:rPr lang="en-US" sz="1050" i="1" dirty="0">
                          <a:solidFill>
                            <a:srgbClr val="1A1A1A"/>
                          </a:solidFill>
                          <a:latin typeface="Calibri" pitchFamily="34" charset="0"/>
                          <a:ea typeface="Calibri" charset="0"/>
                          <a:cs typeface="Calibri" pitchFamily="34" charset="-120"/>
                        </a:rPr>
                        <a:t>looks right to me”</a:t>
                      </a:r>
                      <a:endParaRPr lang="en-US" sz="1050" i="1"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Automated tests with known inputs and expected outputs</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4"/>
                  </a:ext>
                </a:extLst>
              </a:tr>
              <a:tr h="0">
                <a:tc>
                  <a:txBody>
                    <a:bodyPr/>
                    <a:lstStyle/>
                    <a:p>
                      <a:pPr marL="0" indent="0">
                        <a:spcBef>
                          <a:spcPts val="400"/>
                        </a:spcBef>
                        <a:spcAft>
                          <a:spcPts val="400"/>
                        </a:spcAft>
                        <a:buNone/>
                      </a:pPr>
                      <a:r>
                        <a:rPr lang="en-US" sz="1050" dirty="0">
                          <a:solidFill>
                            <a:srgbClr val="1A1A1A"/>
                          </a:solidFill>
                          <a:latin typeface="Calibri" pitchFamily="34" charset="0"/>
                          <a:ea typeface="Calibri" charset="0"/>
                          <a:cs typeface="Calibri" pitchFamily="34" charset="-120"/>
                        </a:rPr>
                        <a:t>Dependencies</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"It works on my machine” </a:t>
                      </a:r>
                      <a:r>
                        <a:rPr lang="en-US" sz="1100" b="0" i="1" kern="1200" dirty="0">
                          <a:solidFill>
                            <a:schemeClr val="tx1"/>
                          </a:solidFill>
                          <a:effectLst/>
                          <a:latin typeface="+mn-lt"/>
                          <a:ea typeface="+mn-ea"/>
                          <a:cs typeface="+mn-cs"/>
                        </a:rPr>
                        <a:t>¯\_(</a:t>
                      </a:r>
                      <a:r>
                        <a:rPr lang="en-US" sz="1100" b="0" i="1" kern="1200" dirty="0" err="1">
                          <a:solidFill>
                            <a:schemeClr val="tx1"/>
                          </a:solidFill>
                          <a:effectLst/>
                          <a:latin typeface="+mn-lt"/>
                          <a:ea typeface="+mn-ea"/>
                          <a:cs typeface="+mn-cs"/>
                        </a:rPr>
                        <a:t>ツ</a:t>
                      </a:r>
                      <a:r>
                        <a:rPr lang="en-US" sz="1100" b="0" i="1" kern="1200" dirty="0">
                          <a:solidFill>
                            <a:schemeClr val="tx1"/>
                          </a:solidFill>
                          <a:effectLst/>
                          <a:latin typeface="+mn-lt"/>
                          <a:ea typeface="+mn-ea"/>
                          <a:cs typeface="+mn-cs"/>
                        </a:rPr>
                        <a:t>)_/¯</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err="1">
                          <a:solidFill>
                            <a:srgbClr val="1A1A1A"/>
                          </a:solidFill>
                          <a:latin typeface="Calibri" pitchFamily="34" charset="0"/>
                          <a:ea typeface="Calibri" pitchFamily="34" charset="-122"/>
                          <a:cs typeface="Calibri" pitchFamily="34" charset="-120"/>
                        </a:rPr>
                        <a:t>Pyproject.toml</a:t>
                      </a:r>
                      <a:r>
                        <a:rPr lang="en-US" sz="1050" dirty="0">
                          <a:solidFill>
                            <a:srgbClr val="1A1A1A"/>
                          </a:solidFill>
                          <a:latin typeface="Calibri" pitchFamily="34" charset="0"/>
                          <a:ea typeface="Calibri" pitchFamily="34" charset="-122"/>
                          <a:cs typeface="Calibri" pitchFamily="34" charset="-120"/>
                        </a:rPr>
                        <a:t>, </a:t>
                      </a:r>
                      <a:r>
                        <a:rPr lang="en-US" sz="1050" dirty="0" err="1">
                          <a:solidFill>
                            <a:srgbClr val="1A1A1A"/>
                          </a:solidFill>
                          <a:latin typeface="Calibri" pitchFamily="34" charset="0"/>
                          <a:ea typeface="Calibri" pitchFamily="34" charset="-122"/>
                          <a:cs typeface="Calibri" pitchFamily="34" charset="-120"/>
                        </a:rPr>
                        <a:t>Requirements.txt</a:t>
                      </a:r>
                      <a:r>
                        <a:rPr lang="en-US" sz="1050" dirty="0">
                          <a:solidFill>
                            <a:srgbClr val="1A1A1A"/>
                          </a:solidFill>
                          <a:latin typeface="Calibri" pitchFamily="34" charset="0"/>
                          <a:ea typeface="Calibri" pitchFamily="34" charset="-122"/>
                          <a:cs typeface="Calibri" pitchFamily="34" charset="-120"/>
                        </a:rPr>
                        <a:t> or </a:t>
                      </a:r>
                      <a:r>
                        <a:rPr lang="en-US" sz="1050" dirty="0" err="1">
                          <a:solidFill>
                            <a:srgbClr val="1A1A1A"/>
                          </a:solidFill>
                          <a:latin typeface="Calibri" pitchFamily="34" charset="0"/>
                          <a:ea typeface="Calibri" pitchFamily="34" charset="-122"/>
                          <a:cs typeface="Calibri" pitchFamily="34" charset="-120"/>
                        </a:rPr>
                        <a:t>environment.yml</a:t>
                      </a:r>
                      <a:endParaRPr lang="en-US" sz="1050" dirty="0">
                        <a:solidFill>
                          <a:srgbClr val="1A1A1A"/>
                        </a:solidFill>
                        <a:latin typeface="Calibri" pitchFamily="34" charset="0"/>
                        <a:ea typeface="Calibri" pitchFamily="34" charset="-122"/>
                        <a:cs typeface="Calibri" pitchFamily="34" charset="-12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spcBef>
                          <a:spcPts val="400"/>
                        </a:spcBef>
                        <a:spcAft>
                          <a:spcPts val="400"/>
                        </a:spcAft>
                        <a:buNone/>
                      </a:pPr>
                      <a:r>
                        <a:rPr lang="en-US" sz="1050" dirty="0">
                          <a:latin typeface="Calibri" charset="0"/>
                          <a:ea typeface="Calibri" charset="0"/>
                          <a:cs typeface="Calibri" charset="0"/>
                        </a:rPr>
                        <a:t>Documentation</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None or a cryptic comment from 2021</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Docstrings, README, setup instructions</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7731373"/>
                  </a:ext>
                </a:extLst>
              </a:tr>
              <a:tr h="0">
                <a:tc>
                  <a:txBody>
                    <a:bodyPr/>
                    <a:lstStyle/>
                    <a:p>
                      <a:pPr marL="0" indent="0">
                        <a:spcBef>
                          <a:spcPts val="400"/>
                        </a:spcBef>
                        <a:spcAft>
                          <a:spcPts val="400"/>
                        </a:spcAft>
                        <a:buNone/>
                      </a:pPr>
                      <a:r>
                        <a:rPr lang="en-US" sz="1050" dirty="0">
                          <a:latin typeface="Calibri" charset="0"/>
                          <a:ea typeface="Calibri" charset="0"/>
                          <a:cs typeface="Calibri" charset="0"/>
                        </a:rPr>
                        <a:t>Error handling</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latin typeface="Calibri" charset="0"/>
                          <a:ea typeface="Calibri" charset="0"/>
                          <a:cs typeface="Calibri" charset="0"/>
                        </a:rPr>
                        <a:t>Crash and stare at the traceback</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Validate inputs, informative errors.</a:t>
                      </a:r>
                      <a:br>
                        <a:rPr lang="en-US" sz="1050" dirty="0">
                          <a:solidFill>
                            <a:srgbClr val="1A1A1A"/>
                          </a:solidFill>
                          <a:latin typeface="Calibri" pitchFamily="34" charset="0"/>
                          <a:ea typeface="Calibri" pitchFamily="34" charset="-122"/>
                          <a:cs typeface="Calibri" pitchFamily="34" charset="-120"/>
                        </a:rPr>
                      </a:br>
                      <a:r>
                        <a:rPr lang="en-US" sz="1100" b="0" i="1" kern="1200" dirty="0">
                          <a:solidFill>
                            <a:schemeClr val="bg2">
                              <a:lumMod val="75000"/>
                            </a:schemeClr>
                          </a:solidFill>
                          <a:effectLst/>
                          <a:latin typeface="+mn-lt"/>
                          <a:ea typeface="+mn-ea"/>
                          <a:cs typeface="+mn-cs"/>
                        </a:rPr>
                        <a:t>"Patient ID not found in cohort file"</a:t>
                      </a:r>
                      <a:endParaRPr lang="en-US" sz="1050" dirty="0">
                        <a:solidFill>
                          <a:schemeClr val="bg2">
                            <a:lumMod val="75000"/>
                          </a:schemeClr>
                        </a:solidFill>
                        <a:latin typeface="Calibri" pitchFamily="34" charset="0"/>
                        <a:ea typeface="Calibri" pitchFamily="34" charset="-122"/>
                        <a:cs typeface="Calibri" pitchFamily="34" charset="-12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3762011974"/>
                  </a:ext>
                </a:extLst>
              </a:tr>
              <a:tr h="0">
                <a:tc>
                  <a:txBody>
                    <a:bodyPr/>
                    <a:lstStyle/>
                    <a:p>
                      <a:pPr marL="0" indent="0">
                        <a:spcBef>
                          <a:spcPts val="400"/>
                        </a:spcBef>
                        <a:spcAft>
                          <a:spcPts val="400"/>
                        </a:spcAft>
                        <a:buNone/>
                      </a:pPr>
                      <a:r>
                        <a:rPr lang="en-US" sz="1050" dirty="0">
                          <a:latin typeface="Calibri" charset="0"/>
                          <a:ea typeface="Calibri" charset="0"/>
                          <a:cs typeface="Calibri" charset="0"/>
                        </a:rPr>
                        <a:t>Version control</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latin typeface="Calibri" charset="0"/>
                          <a:ea typeface="Calibri" charset="0"/>
                          <a:cs typeface="Calibri" charset="0"/>
                        </a:rPr>
                        <a:t>Copy files or folder, append date</a:t>
                      </a:r>
                      <a:br>
                        <a:rPr lang="en-US" sz="1050" dirty="0">
                          <a:latin typeface="Calibri" charset="0"/>
                          <a:ea typeface="Calibri" charset="0"/>
                          <a:cs typeface="Calibri" charset="0"/>
                        </a:rPr>
                      </a:br>
                      <a:r>
                        <a:rPr lang="en-US" sz="1100" b="0" i="1" kern="1200" dirty="0">
                          <a:solidFill>
                            <a:schemeClr val="bg2">
                              <a:lumMod val="75000"/>
                            </a:schemeClr>
                          </a:solidFill>
                          <a:effectLst/>
                          <a:latin typeface="+mn-lt"/>
                          <a:ea typeface="+mn-ea"/>
                          <a:cs typeface="+mn-cs"/>
                        </a:rPr>
                        <a:t>project_backup_mar2024_old_NEW/</a:t>
                      </a:r>
                      <a:endParaRPr lang="en-US" sz="1050" dirty="0">
                        <a:solidFill>
                          <a:schemeClr val="bg2">
                            <a:lumMod val="75000"/>
                          </a:schemeClr>
                        </a:solidFill>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tc>
                  <a:txBody>
                    <a:bodyPr/>
                    <a:lstStyle/>
                    <a:p>
                      <a:pPr marL="0" indent="0">
                        <a:spcBef>
                          <a:spcPts val="400"/>
                        </a:spcBef>
                        <a:spcAft>
                          <a:spcPts val="400"/>
                        </a:spcAft>
                        <a:buNone/>
                      </a:pPr>
                      <a:r>
                        <a:rPr lang="en-US" sz="1050" dirty="0">
                          <a:solidFill>
                            <a:srgbClr val="1A1A1A"/>
                          </a:solidFill>
                          <a:latin typeface="Calibri" pitchFamily="34" charset="0"/>
                          <a:ea typeface="Calibri" pitchFamily="34" charset="-122"/>
                          <a:cs typeface="Calibri" pitchFamily="34" charset="-120"/>
                        </a:rPr>
                        <a:t>Git with meaningful commits</a:t>
                      </a:r>
                      <a:br>
                        <a:rPr lang="en-US" sz="1050" dirty="0">
                          <a:solidFill>
                            <a:srgbClr val="1A1A1A"/>
                          </a:solidFill>
                          <a:latin typeface="Calibri" pitchFamily="34" charset="0"/>
                          <a:ea typeface="Calibri" pitchFamily="34" charset="-122"/>
                          <a:cs typeface="Calibri" pitchFamily="34" charset="-120"/>
                        </a:rPr>
                      </a:br>
                      <a:r>
                        <a:rPr lang="en-US" sz="1100" b="0" i="1" kern="1200" dirty="0">
                          <a:solidFill>
                            <a:schemeClr val="bg2">
                              <a:lumMod val="75000"/>
                            </a:schemeClr>
                          </a:solidFill>
                          <a:effectLst/>
                          <a:latin typeface="+mn-lt"/>
                          <a:ea typeface="+mn-ea"/>
                          <a:cs typeface="+mn-cs"/>
                        </a:rPr>
                        <a:t>"fix: correct dose-response curve fitting"</a:t>
                      </a:r>
                      <a:endParaRPr lang="en-US" sz="1050" dirty="0">
                        <a:solidFill>
                          <a:schemeClr val="bg2">
                            <a:lumMod val="75000"/>
                          </a:schemeClr>
                        </a:solidFill>
                        <a:latin typeface="Calibri" pitchFamily="34" charset="0"/>
                        <a:ea typeface="Calibri" pitchFamily="34" charset="-122"/>
                        <a:cs typeface="Calibri" pitchFamily="34" charset="-12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04466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49227A7-5447-6DB9-86D2-86C2C7C343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582D57-6265-8927-0F85-392592674604}"/>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The Journey</a:t>
            </a:r>
            <a:endParaRPr lang="en-US" sz="2600" dirty="0"/>
          </a:p>
        </p:txBody>
      </p:sp>
      <p:sp>
        <p:nvSpPr>
          <p:cNvPr id="3" name="Shape 1">
            <a:extLst>
              <a:ext uri="{FF2B5EF4-FFF2-40B4-BE49-F238E27FC236}">
                <a16:creationId xmlns:a16="http://schemas.microsoft.com/office/drawing/2014/main" id="{8E954648-B53D-23E9-2828-8821C673FFB4}"/>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Shape 2">
            <a:extLst>
              <a:ext uri="{FF2B5EF4-FFF2-40B4-BE49-F238E27FC236}">
                <a16:creationId xmlns:a16="http://schemas.microsoft.com/office/drawing/2014/main" id="{3FC9F577-CAD2-1FD3-1026-56D68A9DF654}"/>
              </a:ext>
            </a:extLst>
          </p:cNvPr>
          <p:cNvSpPr/>
          <p:nvPr/>
        </p:nvSpPr>
        <p:spPr>
          <a:xfrm>
            <a:off x="228600" y="2560320"/>
            <a:ext cx="1143000" cy="594360"/>
          </a:xfrm>
          <a:prstGeom prst="rect">
            <a:avLst/>
          </a:prstGeom>
          <a:solidFill>
            <a:srgbClr val="7F77DD"/>
          </a:solidFill>
          <a:ln/>
          <a:effectLst>
            <a:outerShdw blurRad="38100" dist="127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1C00EFAD-DD09-3DDF-3ED0-414112069906}"/>
              </a:ext>
            </a:extLst>
          </p:cNvPr>
          <p:cNvSpPr/>
          <p:nvPr/>
        </p:nvSpPr>
        <p:spPr>
          <a:xfrm>
            <a:off x="22860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1</a:t>
            </a:r>
            <a:endParaRPr lang="en-US" sz="1100" dirty="0"/>
          </a:p>
        </p:txBody>
      </p:sp>
      <p:sp>
        <p:nvSpPr>
          <p:cNvPr id="6" name="Text 4">
            <a:extLst>
              <a:ext uri="{FF2B5EF4-FFF2-40B4-BE49-F238E27FC236}">
                <a16:creationId xmlns:a16="http://schemas.microsoft.com/office/drawing/2014/main" id="{986D2117-5D2E-533B-9543-176A486ACCD9}"/>
              </a:ext>
            </a:extLst>
          </p:cNvPr>
          <p:cNvSpPr/>
          <p:nvPr/>
        </p:nvSpPr>
        <p:spPr>
          <a:xfrm>
            <a:off x="22860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Write code that runs</a:t>
            </a:r>
            <a:endParaRPr lang="en-US" sz="950" dirty="0"/>
          </a:p>
        </p:txBody>
      </p:sp>
      <p:sp>
        <p:nvSpPr>
          <p:cNvPr id="7" name="Text 5">
            <a:extLst>
              <a:ext uri="{FF2B5EF4-FFF2-40B4-BE49-F238E27FC236}">
                <a16:creationId xmlns:a16="http://schemas.microsoft.com/office/drawing/2014/main" id="{B1A91EB5-6CDF-86A9-3D98-C81FF42BAC31}"/>
              </a:ext>
            </a:extLst>
          </p:cNvPr>
          <p:cNvSpPr/>
          <p:nvPr/>
        </p:nvSpPr>
        <p:spPr>
          <a:xfrm>
            <a:off x="1472184" y="2560320"/>
            <a:ext cx="365760" cy="594360"/>
          </a:xfrm>
          <a:prstGeom prst="rect">
            <a:avLst/>
          </a:prstGeom>
          <a:noFill/>
          <a:ln/>
        </p:spPr>
        <p:txBody>
          <a:bodyPr wrap="square" lIns="0" tIns="0" rIns="0" bIns="0" rtlCol="0" anchor="ctr"/>
          <a:lstStyle/>
          <a:p>
            <a:pPr marL="0" indent="0" algn="ctr">
              <a:buNone/>
            </a:pPr>
            <a:r>
              <a:rPr lang="en-US" sz="1800" dirty="0">
                <a:solidFill>
                  <a:srgbClr val="888888"/>
                </a:solidFill>
                <a:latin typeface="Calibri" pitchFamily="34" charset="0"/>
                <a:ea typeface="Calibri" pitchFamily="34" charset="-122"/>
                <a:cs typeface="Calibri" pitchFamily="34" charset="-120"/>
              </a:rPr>
              <a:t>→</a:t>
            </a:r>
            <a:endParaRPr lang="en-US" sz="1800" dirty="0"/>
          </a:p>
        </p:txBody>
      </p:sp>
      <p:sp>
        <p:nvSpPr>
          <p:cNvPr id="8" name="Shape 6">
            <a:extLst>
              <a:ext uri="{FF2B5EF4-FFF2-40B4-BE49-F238E27FC236}">
                <a16:creationId xmlns:a16="http://schemas.microsoft.com/office/drawing/2014/main" id="{BFF2D879-9ACB-1D14-532C-E9E33F1B722E}"/>
              </a:ext>
            </a:extLst>
          </p:cNvPr>
          <p:cNvSpPr/>
          <p:nvPr/>
        </p:nvSpPr>
        <p:spPr>
          <a:xfrm>
            <a:off x="1737360" y="2560320"/>
            <a:ext cx="1143000" cy="594360"/>
          </a:xfrm>
          <a:prstGeom prst="rect">
            <a:avLst/>
          </a:prstGeom>
          <a:solidFill>
            <a:srgbClr val="1D9E75"/>
          </a:solidFill>
          <a:ln/>
          <a:effectLst>
            <a:outerShdw blurRad="38100" dist="12700" dir="8100000" algn="bl" rotWithShape="0">
              <a:srgbClr val="000000">
                <a:alpha val="12000"/>
              </a:srgbClr>
            </a:outerShdw>
          </a:effectLst>
        </p:spPr>
        <p:txBody>
          <a:bodyPr/>
          <a:lstStyle/>
          <a:p>
            <a:endParaRPr lang="en-US"/>
          </a:p>
        </p:txBody>
      </p:sp>
      <p:sp>
        <p:nvSpPr>
          <p:cNvPr id="9" name="Text 7">
            <a:extLst>
              <a:ext uri="{FF2B5EF4-FFF2-40B4-BE49-F238E27FC236}">
                <a16:creationId xmlns:a16="http://schemas.microsoft.com/office/drawing/2014/main" id="{EBD72815-B6FC-AEC9-0FA1-6CCEA1CDA0EC}"/>
              </a:ext>
            </a:extLst>
          </p:cNvPr>
          <p:cNvSpPr/>
          <p:nvPr/>
        </p:nvSpPr>
        <p:spPr>
          <a:xfrm>
            <a:off x="173736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2</a:t>
            </a:r>
            <a:endParaRPr lang="en-US" sz="1100" dirty="0"/>
          </a:p>
        </p:txBody>
      </p:sp>
      <p:sp>
        <p:nvSpPr>
          <p:cNvPr id="10" name="Text 8">
            <a:extLst>
              <a:ext uri="{FF2B5EF4-FFF2-40B4-BE49-F238E27FC236}">
                <a16:creationId xmlns:a16="http://schemas.microsoft.com/office/drawing/2014/main" id="{26813FF6-499A-263F-94F4-4910BD4A6A43}"/>
              </a:ext>
            </a:extLst>
          </p:cNvPr>
          <p:cNvSpPr/>
          <p:nvPr/>
        </p:nvSpPr>
        <p:spPr>
          <a:xfrm>
            <a:off x="173736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Name things clearly</a:t>
            </a:r>
            <a:endParaRPr lang="en-US" sz="950" dirty="0"/>
          </a:p>
        </p:txBody>
      </p:sp>
      <p:sp>
        <p:nvSpPr>
          <p:cNvPr id="11" name="Text 9">
            <a:extLst>
              <a:ext uri="{FF2B5EF4-FFF2-40B4-BE49-F238E27FC236}">
                <a16:creationId xmlns:a16="http://schemas.microsoft.com/office/drawing/2014/main" id="{3EC9C453-8393-E313-1780-12D6E233E277}"/>
              </a:ext>
            </a:extLst>
          </p:cNvPr>
          <p:cNvSpPr/>
          <p:nvPr/>
        </p:nvSpPr>
        <p:spPr>
          <a:xfrm>
            <a:off x="2980944" y="2560320"/>
            <a:ext cx="365760" cy="594360"/>
          </a:xfrm>
          <a:prstGeom prst="rect">
            <a:avLst/>
          </a:prstGeom>
          <a:noFill/>
          <a:ln/>
        </p:spPr>
        <p:txBody>
          <a:bodyPr wrap="square" lIns="0" tIns="0" rIns="0" bIns="0" rtlCol="0" anchor="ctr"/>
          <a:lstStyle/>
          <a:p>
            <a:pPr marL="0" indent="0" algn="ctr">
              <a:buNone/>
            </a:pPr>
            <a:r>
              <a:rPr lang="en-US" sz="1800" dirty="0">
                <a:solidFill>
                  <a:srgbClr val="888888"/>
                </a:solidFill>
                <a:latin typeface="Calibri" pitchFamily="34" charset="0"/>
                <a:ea typeface="Calibri" pitchFamily="34" charset="-122"/>
                <a:cs typeface="Calibri" pitchFamily="34" charset="-120"/>
              </a:rPr>
              <a:t>→</a:t>
            </a:r>
            <a:endParaRPr lang="en-US" sz="1800" dirty="0"/>
          </a:p>
        </p:txBody>
      </p:sp>
      <p:sp>
        <p:nvSpPr>
          <p:cNvPr id="12" name="Shape 10">
            <a:extLst>
              <a:ext uri="{FF2B5EF4-FFF2-40B4-BE49-F238E27FC236}">
                <a16:creationId xmlns:a16="http://schemas.microsoft.com/office/drawing/2014/main" id="{15A3D0C2-B17E-4467-C77B-868D2ACA6D59}"/>
              </a:ext>
            </a:extLst>
          </p:cNvPr>
          <p:cNvSpPr/>
          <p:nvPr/>
        </p:nvSpPr>
        <p:spPr>
          <a:xfrm>
            <a:off x="3246120" y="2560320"/>
            <a:ext cx="1143000" cy="594360"/>
          </a:xfrm>
          <a:prstGeom prst="rect">
            <a:avLst/>
          </a:prstGeom>
          <a:solidFill>
            <a:srgbClr val="378ADD"/>
          </a:solidFill>
          <a:ln/>
          <a:effectLst>
            <a:outerShdw blurRad="38100" dist="12700" dir="8100000" algn="bl" rotWithShape="0">
              <a:srgbClr val="000000">
                <a:alpha val="12000"/>
              </a:srgbClr>
            </a:outerShdw>
          </a:effectLst>
        </p:spPr>
        <p:txBody>
          <a:bodyPr/>
          <a:lstStyle/>
          <a:p>
            <a:endParaRPr lang="en-US"/>
          </a:p>
        </p:txBody>
      </p:sp>
      <p:sp>
        <p:nvSpPr>
          <p:cNvPr id="13" name="Text 11">
            <a:extLst>
              <a:ext uri="{FF2B5EF4-FFF2-40B4-BE49-F238E27FC236}">
                <a16:creationId xmlns:a16="http://schemas.microsoft.com/office/drawing/2014/main" id="{DCA70692-4668-320C-8347-14EC682585F2}"/>
              </a:ext>
            </a:extLst>
          </p:cNvPr>
          <p:cNvSpPr/>
          <p:nvPr/>
        </p:nvSpPr>
        <p:spPr>
          <a:xfrm>
            <a:off x="324612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3</a:t>
            </a:r>
            <a:endParaRPr lang="en-US" sz="1100" dirty="0"/>
          </a:p>
        </p:txBody>
      </p:sp>
      <p:sp>
        <p:nvSpPr>
          <p:cNvPr id="14" name="Text 12">
            <a:extLst>
              <a:ext uri="{FF2B5EF4-FFF2-40B4-BE49-F238E27FC236}">
                <a16:creationId xmlns:a16="http://schemas.microsoft.com/office/drawing/2014/main" id="{8D5F64BD-CF2B-6CC2-6EA7-C0EE0972CB8A}"/>
              </a:ext>
            </a:extLst>
          </p:cNvPr>
          <p:cNvSpPr/>
          <p:nvPr/>
        </p:nvSpPr>
        <p:spPr>
          <a:xfrm>
            <a:off x="324612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Modularize</a:t>
            </a:r>
            <a:endParaRPr lang="en-US" sz="950" dirty="0"/>
          </a:p>
        </p:txBody>
      </p:sp>
      <p:sp>
        <p:nvSpPr>
          <p:cNvPr id="15" name="Text 13">
            <a:extLst>
              <a:ext uri="{FF2B5EF4-FFF2-40B4-BE49-F238E27FC236}">
                <a16:creationId xmlns:a16="http://schemas.microsoft.com/office/drawing/2014/main" id="{479FD03A-595A-6B88-5597-34B66B76B21C}"/>
              </a:ext>
            </a:extLst>
          </p:cNvPr>
          <p:cNvSpPr/>
          <p:nvPr/>
        </p:nvSpPr>
        <p:spPr>
          <a:xfrm>
            <a:off x="4489704" y="2560320"/>
            <a:ext cx="365760" cy="594360"/>
          </a:xfrm>
          <a:prstGeom prst="rect">
            <a:avLst/>
          </a:prstGeom>
          <a:noFill/>
          <a:ln/>
        </p:spPr>
        <p:txBody>
          <a:bodyPr wrap="square" lIns="0" tIns="0" rIns="0" bIns="0" rtlCol="0" anchor="ctr"/>
          <a:lstStyle/>
          <a:p>
            <a:pPr marL="0" indent="0" algn="ctr">
              <a:buNone/>
            </a:pPr>
            <a:r>
              <a:rPr lang="en-US" sz="1800" dirty="0">
                <a:solidFill>
                  <a:srgbClr val="888888"/>
                </a:solidFill>
                <a:latin typeface="Calibri" pitchFamily="34" charset="0"/>
                <a:ea typeface="Calibri" pitchFamily="34" charset="-122"/>
                <a:cs typeface="Calibri" pitchFamily="34" charset="-120"/>
              </a:rPr>
              <a:t>→</a:t>
            </a:r>
            <a:endParaRPr lang="en-US" sz="1800" dirty="0"/>
          </a:p>
        </p:txBody>
      </p:sp>
      <p:sp>
        <p:nvSpPr>
          <p:cNvPr id="16" name="Shape 14">
            <a:extLst>
              <a:ext uri="{FF2B5EF4-FFF2-40B4-BE49-F238E27FC236}">
                <a16:creationId xmlns:a16="http://schemas.microsoft.com/office/drawing/2014/main" id="{912539CD-33BD-841C-FCE1-AA08ADA39CF9}"/>
              </a:ext>
            </a:extLst>
          </p:cNvPr>
          <p:cNvSpPr/>
          <p:nvPr/>
        </p:nvSpPr>
        <p:spPr>
          <a:xfrm>
            <a:off x="4754880" y="2560320"/>
            <a:ext cx="1143000" cy="594360"/>
          </a:xfrm>
          <a:prstGeom prst="rect">
            <a:avLst/>
          </a:prstGeom>
          <a:solidFill>
            <a:srgbClr val="BA7517"/>
          </a:solidFill>
          <a:ln/>
          <a:effectLst>
            <a:outerShdw blurRad="38100" dist="12700" dir="8100000" algn="bl" rotWithShape="0">
              <a:srgbClr val="000000">
                <a:alpha val="12000"/>
              </a:srgbClr>
            </a:outerShdw>
          </a:effectLst>
        </p:spPr>
        <p:txBody>
          <a:bodyPr/>
          <a:lstStyle/>
          <a:p>
            <a:endParaRPr lang="en-US"/>
          </a:p>
        </p:txBody>
      </p:sp>
      <p:sp>
        <p:nvSpPr>
          <p:cNvPr id="17" name="Text 15">
            <a:extLst>
              <a:ext uri="{FF2B5EF4-FFF2-40B4-BE49-F238E27FC236}">
                <a16:creationId xmlns:a16="http://schemas.microsoft.com/office/drawing/2014/main" id="{02351697-6AAB-7927-A746-6C976875A06A}"/>
              </a:ext>
            </a:extLst>
          </p:cNvPr>
          <p:cNvSpPr/>
          <p:nvPr/>
        </p:nvSpPr>
        <p:spPr>
          <a:xfrm>
            <a:off x="475488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4</a:t>
            </a:r>
            <a:endParaRPr lang="en-US" sz="1100" dirty="0"/>
          </a:p>
        </p:txBody>
      </p:sp>
      <p:sp>
        <p:nvSpPr>
          <p:cNvPr id="18" name="Text 16">
            <a:extLst>
              <a:ext uri="{FF2B5EF4-FFF2-40B4-BE49-F238E27FC236}">
                <a16:creationId xmlns:a16="http://schemas.microsoft.com/office/drawing/2014/main" id="{6426DDA3-8275-488E-3448-88905A417F8F}"/>
              </a:ext>
            </a:extLst>
          </p:cNvPr>
          <p:cNvSpPr/>
          <p:nvPr/>
        </p:nvSpPr>
        <p:spPr>
          <a:xfrm>
            <a:off x="475488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Add tests</a:t>
            </a:r>
            <a:endParaRPr lang="en-US" sz="950" dirty="0"/>
          </a:p>
        </p:txBody>
      </p:sp>
      <p:sp>
        <p:nvSpPr>
          <p:cNvPr id="19" name="Text 17">
            <a:extLst>
              <a:ext uri="{FF2B5EF4-FFF2-40B4-BE49-F238E27FC236}">
                <a16:creationId xmlns:a16="http://schemas.microsoft.com/office/drawing/2014/main" id="{399F80E8-E662-75A7-1456-12DB2A7DC74D}"/>
              </a:ext>
            </a:extLst>
          </p:cNvPr>
          <p:cNvSpPr/>
          <p:nvPr/>
        </p:nvSpPr>
        <p:spPr>
          <a:xfrm>
            <a:off x="5998464" y="2560320"/>
            <a:ext cx="365760" cy="594360"/>
          </a:xfrm>
          <a:prstGeom prst="rect">
            <a:avLst/>
          </a:prstGeom>
          <a:noFill/>
          <a:ln/>
        </p:spPr>
        <p:txBody>
          <a:bodyPr wrap="square" lIns="0" tIns="0" rIns="0" bIns="0" rtlCol="0" anchor="ctr"/>
          <a:lstStyle/>
          <a:p>
            <a:pPr marL="0" indent="0" algn="ctr">
              <a:buNone/>
            </a:pPr>
            <a:r>
              <a:rPr lang="en-US" sz="1800" dirty="0">
                <a:solidFill>
                  <a:srgbClr val="888888"/>
                </a:solidFill>
                <a:latin typeface="Calibri" pitchFamily="34" charset="0"/>
                <a:ea typeface="Calibri" pitchFamily="34" charset="-122"/>
                <a:cs typeface="Calibri" pitchFamily="34" charset="-120"/>
              </a:rPr>
              <a:t>→</a:t>
            </a:r>
            <a:endParaRPr lang="en-US" sz="1800" dirty="0"/>
          </a:p>
        </p:txBody>
      </p:sp>
      <p:sp>
        <p:nvSpPr>
          <p:cNvPr id="20" name="Shape 18">
            <a:extLst>
              <a:ext uri="{FF2B5EF4-FFF2-40B4-BE49-F238E27FC236}">
                <a16:creationId xmlns:a16="http://schemas.microsoft.com/office/drawing/2014/main" id="{89B18BCE-7539-6E89-FF9B-A7DEED4931FB}"/>
              </a:ext>
            </a:extLst>
          </p:cNvPr>
          <p:cNvSpPr/>
          <p:nvPr/>
        </p:nvSpPr>
        <p:spPr>
          <a:xfrm>
            <a:off x="6263640" y="2560320"/>
            <a:ext cx="1143000" cy="594360"/>
          </a:xfrm>
          <a:prstGeom prst="rect">
            <a:avLst/>
          </a:prstGeom>
          <a:solidFill>
            <a:srgbClr val="7F77DD"/>
          </a:solidFill>
          <a:ln/>
          <a:effectLst>
            <a:outerShdw blurRad="38100" dist="12700" dir="8100000" algn="bl" rotWithShape="0">
              <a:srgbClr val="000000">
                <a:alpha val="12000"/>
              </a:srgbClr>
            </a:outerShdw>
          </a:effectLst>
        </p:spPr>
        <p:txBody>
          <a:bodyPr/>
          <a:lstStyle/>
          <a:p>
            <a:endParaRPr lang="en-US"/>
          </a:p>
        </p:txBody>
      </p:sp>
      <p:sp>
        <p:nvSpPr>
          <p:cNvPr id="21" name="Text 19">
            <a:extLst>
              <a:ext uri="{FF2B5EF4-FFF2-40B4-BE49-F238E27FC236}">
                <a16:creationId xmlns:a16="http://schemas.microsoft.com/office/drawing/2014/main" id="{5B87D4E4-6EED-7578-F331-C2CDDD829B2A}"/>
              </a:ext>
            </a:extLst>
          </p:cNvPr>
          <p:cNvSpPr/>
          <p:nvPr/>
        </p:nvSpPr>
        <p:spPr>
          <a:xfrm>
            <a:off x="626364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5</a:t>
            </a:r>
            <a:endParaRPr lang="en-US" sz="1100" dirty="0"/>
          </a:p>
        </p:txBody>
      </p:sp>
      <p:sp>
        <p:nvSpPr>
          <p:cNvPr id="22" name="Text 20">
            <a:extLst>
              <a:ext uri="{FF2B5EF4-FFF2-40B4-BE49-F238E27FC236}">
                <a16:creationId xmlns:a16="http://schemas.microsoft.com/office/drawing/2014/main" id="{FEA8EFF5-9D8B-AAFA-AD32-1615D64E3678}"/>
              </a:ext>
            </a:extLst>
          </p:cNvPr>
          <p:cNvSpPr/>
          <p:nvPr/>
        </p:nvSpPr>
        <p:spPr>
          <a:xfrm>
            <a:off x="626364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Use version control</a:t>
            </a:r>
            <a:endParaRPr lang="en-US" sz="950" dirty="0"/>
          </a:p>
        </p:txBody>
      </p:sp>
      <p:sp>
        <p:nvSpPr>
          <p:cNvPr id="23" name="Text 21">
            <a:extLst>
              <a:ext uri="{FF2B5EF4-FFF2-40B4-BE49-F238E27FC236}">
                <a16:creationId xmlns:a16="http://schemas.microsoft.com/office/drawing/2014/main" id="{EAC5759B-2B15-22F1-C4DF-F5B7940DFAF0}"/>
              </a:ext>
            </a:extLst>
          </p:cNvPr>
          <p:cNvSpPr/>
          <p:nvPr/>
        </p:nvSpPr>
        <p:spPr>
          <a:xfrm>
            <a:off x="7507224" y="2560320"/>
            <a:ext cx="365760" cy="594360"/>
          </a:xfrm>
          <a:prstGeom prst="rect">
            <a:avLst/>
          </a:prstGeom>
          <a:noFill/>
          <a:ln/>
        </p:spPr>
        <p:txBody>
          <a:bodyPr wrap="square" lIns="0" tIns="0" rIns="0" bIns="0" rtlCol="0" anchor="ctr"/>
          <a:lstStyle/>
          <a:p>
            <a:pPr marL="0" indent="0" algn="ctr">
              <a:buNone/>
            </a:pPr>
            <a:r>
              <a:rPr lang="en-US" sz="1800" dirty="0">
                <a:solidFill>
                  <a:srgbClr val="888888"/>
                </a:solidFill>
                <a:latin typeface="Calibri" pitchFamily="34" charset="0"/>
                <a:ea typeface="Calibri" pitchFamily="34" charset="-122"/>
                <a:cs typeface="Calibri" pitchFamily="34" charset="-120"/>
              </a:rPr>
              <a:t>→</a:t>
            </a:r>
            <a:endParaRPr lang="en-US" sz="1800" dirty="0"/>
          </a:p>
        </p:txBody>
      </p:sp>
      <p:sp>
        <p:nvSpPr>
          <p:cNvPr id="24" name="Shape 22">
            <a:extLst>
              <a:ext uri="{FF2B5EF4-FFF2-40B4-BE49-F238E27FC236}">
                <a16:creationId xmlns:a16="http://schemas.microsoft.com/office/drawing/2014/main" id="{2089EF2A-B325-C14E-2DA7-C612EC747746}"/>
              </a:ext>
            </a:extLst>
          </p:cNvPr>
          <p:cNvSpPr/>
          <p:nvPr/>
        </p:nvSpPr>
        <p:spPr>
          <a:xfrm>
            <a:off x="7772400" y="2560320"/>
            <a:ext cx="1143000" cy="594360"/>
          </a:xfrm>
          <a:prstGeom prst="rect">
            <a:avLst/>
          </a:prstGeom>
          <a:solidFill>
            <a:srgbClr val="1D9E75"/>
          </a:solidFill>
          <a:ln/>
          <a:effectLst>
            <a:outerShdw blurRad="38100" dist="12700" dir="8100000" algn="bl" rotWithShape="0">
              <a:srgbClr val="000000">
                <a:alpha val="12000"/>
              </a:srgbClr>
            </a:outerShdw>
          </a:effectLst>
        </p:spPr>
        <p:txBody>
          <a:bodyPr/>
          <a:lstStyle/>
          <a:p>
            <a:endParaRPr lang="en-US"/>
          </a:p>
        </p:txBody>
      </p:sp>
      <p:sp>
        <p:nvSpPr>
          <p:cNvPr id="25" name="Text 23">
            <a:extLst>
              <a:ext uri="{FF2B5EF4-FFF2-40B4-BE49-F238E27FC236}">
                <a16:creationId xmlns:a16="http://schemas.microsoft.com/office/drawing/2014/main" id="{11CEF6C9-A66F-F92A-38ED-02821CB23C95}"/>
              </a:ext>
            </a:extLst>
          </p:cNvPr>
          <p:cNvSpPr/>
          <p:nvPr/>
        </p:nvSpPr>
        <p:spPr>
          <a:xfrm>
            <a:off x="7772400" y="2286000"/>
            <a:ext cx="1143000" cy="228600"/>
          </a:xfrm>
          <a:prstGeom prst="rect">
            <a:avLst/>
          </a:prstGeom>
          <a:noFill/>
          <a:ln/>
        </p:spPr>
        <p:txBody>
          <a:bodyPr wrap="square" lIns="0" tIns="0" rIns="0" bIns="0" rtlCol="0" anchor="ctr"/>
          <a:lstStyle/>
          <a:p>
            <a:pPr marL="0" indent="0" algn="ctr">
              <a:buNone/>
            </a:pPr>
            <a:r>
              <a:rPr lang="en-US" sz="1100" dirty="0">
                <a:solidFill>
                  <a:srgbClr val="888888"/>
                </a:solidFill>
                <a:latin typeface="Courier New" pitchFamily="34" charset="0"/>
                <a:ea typeface="Courier New" pitchFamily="34" charset="-122"/>
                <a:cs typeface="Courier New" pitchFamily="34" charset="-120"/>
              </a:rPr>
              <a:t>6</a:t>
            </a:r>
            <a:endParaRPr lang="en-US" sz="1100" dirty="0"/>
          </a:p>
        </p:txBody>
      </p:sp>
      <p:sp>
        <p:nvSpPr>
          <p:cNvPr id="26" name="Text 24">
            <a:extLst>
              <a:ext uri="{FF2B5EF4-FFF2-40B4-BE49-F238E27FC236}">
                <a16:creationId xmlns:a16="http://schemas.microsoft.com/office/drawing/2014/main" id="{F0D929D8-5F97-FD41-BD77-5F6729C069EA}"/>
              </a:ext>
            </a:extLst>
          </p:cNvPr>
          <p:cNvSpPr/>
          <p:nvPr/>
        </p:nvSpPr>
        <p:spPr>
          <a:xfrm>
            <a:off x="7772400" y="2560320"/>
            <a:ext cx="1143000" cy="59436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Document it</a:t>
            </a:r>
            <a:endParaRPr lang="en-US" sz="950" dirty="0"/>
          </a:p>
        </p:txBody>
      </p:sp>
      <p:sp>
        <p:nvSpPr>
          <p:cNvPr id="27" name="Text 25">
            <a:extLst>
              <a:ext uri="{FF2B5EF4-FFF2-40B4-BE49-F238E27FC236}">
                <a16:creationId xmlns:a16="http://schemas.microsoft.com/office/drawing/2014/main" id="{379F44B3-2A52-7D94-937B-27436373A343}"/>
              </a:ext>
            </a:extLst>
          </p:cNvPr>
          <p:cNvSpPr/>
          <p:nvPr/>
        </p:nvSpPr>
        <p:spPr>
          <a:xfrm>
            <a:off x="548640" y="3657600"/>
            <a:ext cx="8046720" cy="365760"/>
          </a:xfrm>
          <a:prstGeom prst="rect">
            <a:avLst/>
          </a:prstGeom>
          <a:noFill/>
          <a:ln/>
        </p:spPr>
        <p:txBody>
          <a:bodyPr wrap="square" lIns="0" tIns="0" rIns="0" bIns="0" rtlCol="0" anchor="ctr"/>
          <a:lstStyle/>
          <a:p>
            <a:pPr marL="0" indent="0" algn="ctr">
              <a:buNone/>
            </a:pPr>
            <a:r>
              <a:rPr lang="en-US" sz="1300" i="1" dirty="0">
                <a:solidFill>
                  <a:srgbClr val="555555"/>
                </a:solidFill>
                <a:latin typeface="Georgia" pitchFamily="34" charset="0"/>
                <a:ea typeface="Georgia" pitchFamily="34" charset="-122"/>
                <a:cs typeface="Georgia" pitchFamily="34" charset="-120"/>
              </a:rPr>
              <a:t>Each habit builds on the last. Today we cover all five.</a:t>
            </a:r>
            <a:endParaRPr lang="en-US" sz="1300" dirty="0"/>
          </a:p>
        </p:txBody>
      </p:sp>
    </p:spTree>
    <p:extLst>
      <p:ext uri="{BB962C8B-B14F-4D97-AF65-F5344CB8AC3E}">
        <p14:creationId xmlns:p14="http://schemas.microsoft.com/office/powerpoint/2010/main" val="77355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93F8B5-00B4-B836-54D7-B9141E7FFD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861439A-19D3-25D5-AC59-193E32A1F130}"/>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Count the Sins</a:t>
            </a:r>
            <a:endParaRPr lang="en-US" sz="2600" dirty="0"/>
          </a:p>
        </p:txBody>
      </p:sp>
      <p:sp>
        <p:nvSpPr>
          <p:cNvPr id="3" name="Shape 1">
            <a:extLst>
              <a:ext uri="{FF2B5EF4-FFF2-40B4-BE49-F238E27FC236}">
                <a16:creationId xmlns:a16="http://schemas.microsoft.com/office/drawing/2014/main" id="{1AD6B849-7FF5-582C-B7E5-B47496F39722}"/>
              </a:ext>
            </a:extLst>
          </p:cNvPr>
          <p:cNvSpPr/>
          <p:nvPr/>
        </p:nvSpPr>
        <p:spPr>
          <a:xfrm>
            <a:off x="548640" y="804672"/>
            <a:ext cx="1371600" cy="27432"/>
          </a:xfrm>
          <a:prstGeom prst="rect">
            <a:avLst/>
          </a:prstGeom>
          <a:solidFill>
            <a:srgbClr val="C8A951"/>
          </a:solidFill>
          <a:ln/>
        </p:spPr>
        <p:txBody>
          <a:bodyPr/>
          <a:lstStyle/>
          <a:p>
            <a:endParaRPr lang="en-US"/>
          </a:p>
        </p:txBody>
      </p:sp>
      <p:pic>
        <p:nvPicPr>
          <p:cNvPr id="6" name="Picture 5">
            <a:extLst>
              <a:ext uri="{FF2B5EF4-FFF2-40B4-BE49-F238E27FC236}">
                <a16:creationId xmlns:a16="http://schemas.microsoft.com/office/drawing/2014/main" id="{5A9D3485-212D-6283-9B28-EE83EDF05F91}"/>
              </a:ext>
            </a:extLst>
          </p:cNvPr>
          <p:cNvPicPr>
            <a:picLocks noChangeAspect="1"/>
          </p:cNvPicPr>
          <p:nvPr/>
        </p:nvPicPr>
        <p:blipFill>
          <a:blip r:embed="rId3"/>
          <a:stretch>
            <a:fillRect/>
          </a:stretch>
        </p:blipFill>
        <p:spPr>
          <a:xfrm>
            <a:off x="937058" y="881628"/>
            <a:ext cx="6831296" cy="4080154"/>
          </a:xfrm>
          <a:prstGeom prst="rect">
            <a:avLst/>
          </a:prstGeom>
        </p:spPr>
      </p:pic>
    </p:spTree>
    <p:extLst>
      <p:ext uri="{BB962C8B-B14F-4D97-AF65-F5344CB8AC3E}">
        <p14:creationId xmlns:p14="http://schemas.microsoft.com/office/powerpoint/2010/main" val="118467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F6BC2E1-5E4B-1237-01D5-581134F14E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C67DE3-651A-65E5-4CFD-6D14EC849F53}"/>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endParaRPr lang="en-US" sz="2600" dirty="0"/>
          </a:p>
        </p:txBody>
      </p:sp>
      <p:pic>
        <p:nvPicPr>
          <p:cNvPr id="4" name="Picture 3">
            <a:extLst>
              <a:ext uri="{FF2B5EF4-FFF2-40B4-BE49-F238E27FC236}">
                <a16:creationId xmlns:a16="http://schemas.microsoft.com/office/drawing/2014/main" id="{06E93597-457F-2256-A088-D751CE5F796C}"/>
              </a:ext>
            </a:extLst>
          </p:cNvPr>
          <p:cNvPicPr>
            <a:picLocks noChangeAspect="1"/>
          </p:cNvPicPr>
          <p:nvPr/>
        </p:nvPicPr>
        <p:blipFill>
          <a:blip r:embed="rId3"/>
          <a:stretch>
            <a:fillRect/>
          </a:stretch>
        </p:blipFill>
        <p:spPr>
          <a:xfrm>
            <a:off x="1176130" y="508687"/>
            <a:ext cx="6920948" cy="3733117"/>
          </a:xfrm>
          <a:prstGeom prst="rect">
            <a:avLst/>
          </a:prstGeom>
        </p:spPr>
      </p:pic>
    </p:spTree>
    <p:extLst>
      <p:ext uri="{BB962C8B-B14F-4D97-AF65-F5344CB8AC3E}">
        <p14:creationId xmlns:p14="http://schemas.microsoft.com/office/powerpoint/2010/main" val="3151418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6F3F247-19D4-AA49-7C18-0BFAEABCF4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6C5187-DF77-C804-499E-24734225DF5A}"/>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Count the Sins</a:t>
            </a:r>
            <a:endParaRPr lang="en-US" sz="2600" dirty="0"/>
          </a:p>
        </p:txBody>
      </p:sp>
      <p:sp>
        <p:nvSpPr>
          <p:cNvPr id="3" name="Shape 1">
            <a:extLst>
              <a:ext uri="{FF2B5EF4-FFF2-40B4-BE49-F238E27FC236}">
                <a16:creationId xmlns:a16="http://schemas.microsoft.com/office/drawing/2014/main" id="{0F706E84-1D50-6F45-49FE-FCD33ACD0B12}"/>
              </a:ext>
            </a:extLst>
          </p:cNvPr>
          <p:cNvSpPr/>
          <p:nvPr/>
        </p:nvSpPr>
        <p:spPr>
          <a:xfrm>
            <a:off x="548640" y="804672"/>
            <a:ext cx="1371600" cy="27432"/>
          </a:xfrm>
          <a:prstGeom prst="rect">
            <a:avLst/>
          </a:prstGeom>
          <a:solidFill>
            <a:srgbClr val="C8A951"/>
          </a:solidFill>
          <a:ln/>
        </p:spPr>
        <p:txBody>
          <a:bodyPr/>
          <a:lstStyle/>
          <a:p>
            <a:endParaRPr lang="en-US"/>
          </a:p>
        </p:txBody>
      </p:sp>
      <p:pic>
        <p:nvPicPr>
          <p:cNvPr id="6" name="Picture 5">
            <a:extLst>
              <a:ext uri="{FF2B5EF4-FFF2-40B4-BE49-F238E27FC236}">
                <a16:creationId xmlns:a16="http://schemas.microsoft.com/office/drawing/2014/main" id="{968FA7DF-4279-130F-49FD-1B705B1DA5DA}"/>
              </a:ext>
            </a:extLst>
          </p:cNvPr>
          <p:cNvPicPr>
            <a:picLocks noChangeAspect="1"/>
          </p:cNvPicPr>
          <p:nvPr/>
        </p:nvPicPr>
        <p:blipFill>
          <a:blip r:embed="rId3"/>
          <a:stretch>
            <a:fillRect/>
          </a:stretch>
        </p:blipFill>
        <p:spPr>
          <a:xfrm>
            <a:off x="937058" y="881628"/>
            <a:ext cx="6831296" cy="4080154"/>
          </a:xfrm>
          <a:prstGeom prst="rect">
            <a:avLst/>
          </a:prstGeom>
        </p:spPr>
      </p:pic>
      <p:sp>
        <p:nvSpPr>
          <p:cNvPr id="4" name="TextBox 3">
            <a:extLst>
              <a:ext uri="{FF2B5EF4-FFF2-40B4-BE49-F238E27FC236}">
                <a16:creationId xmlns:a16="http://schemas.microsoft.com/office/drawing/2014/main" id="{5BAF84F8-D7A3-20A9-B8DA-2DB8CDB04248}"/>
              </a:ext>
            </a:extLst>
          </p:cNvPr>
          <p:cNvSpPr txBox="1"/>
          <p:nvPr/>
        </p:nvSpPr>
        <p:spPr>
          <a:xfrm>
            <a:off x="4874400" y="872484"/>
            <a:ext cx="2893954" cy="2462213"/>
          </a:xfrm>
          <a:prstGeom prst="rect">
            <a:avLst/>
          </a:prstGeom>
          <a:solidFill>
            <a:schemeClr val="bg2"/>
          </a:solidFill>
        </p:spPr>
        <p:txBody>
          <a:bodyPr wrap="square" rtlCol="0">
            <a:spAutoFit/>
          </a:bodyPr>
          <a:lstStyle/>
          <a:p>
            <a:pPr marL="342900" indent="-342900">
              <a:buFont typeface="+mj-lt"/>
              <a:buAutoNum type="arabicPeriod"/>
            </a:pPr>
            <a:r>
              <a:rPr lang="en-US" sz="1400" dirty="0">
                <a:solidFill>
                  <a:srgbClr val="FF0000"/>
                </a:solidFill>
              </a:rPr>
              <a:t>Meaningless variable names</a:t>
            </a:r>
          </a:p>
          <a:p>
            <a:pPr marL="342900" indent="-342900">
              <a:buFont typeface="+mj-lt"/>
              <a:buAutoNum type="arabicPeriod"/>
            </a:pPr>
            <a:r>
              <a:rPr lang="en-US" sz="1400" dirty="0">
                <a:solidFill>
                  <a:srgbClr val="FF0000"/>
                </a:solidFill>
              </a:rPr>
              <a:t>3.14159 – magic number?</a:t>
            </a:r>
          </a:p>
          <a:p>
            <a:pPr marL="342900" indent="-342900">
              <a:buFont typeface="+mj-lt"/>
              <a:buAutoNum type="arabicPeriod"/>
            </a:pPr>
            <a:r>
              <a:rPr lang="en-US" sz="1400" dirty="0">
                <a:solidFill>
                  <a:srgbClr val="FF0000"/>
                </a:solidFill>
              </a:rPr>
              <a:t>No units anywhere (mm, cm?)</a:t>
            </a:r>
          </a:p>
          <a:p>
            <a:pPr marL="342900" indent="-342900">
              <a:buFont typeface="+mj-lt"/>
              <a:buAutoNum type="arabicPeriod"/>
            </a:pPr>
            <a:r>
              <a:rPr lang="en-US" sz="1400" dirty="0">
                <a:solidFill>
                  <a:srgbClr val="FF0000"/>
                </a:solidFill>
              </a:rPr>
              <a:t>No functions – one long script</a:t>
            </a:r>
          </a:p>
          <a:p>
            <a:pPr marL="342900" indent="-342900">
              <a:buFont typeface="+mj-lt"/>
              <a:buAutoNum type="arabicPeriod"/>
            </a:pPr>
            <a:r>
              <a:rPr lang="en-US" sz="1400" dirty="0">
                <a:solidFill>
                  <a:srgbClr val="FF0000"/>
                </a:solidFill>
              </a:rPr>
              <a:t>No tests</a:t>
            </a:r>
          </a:p>
          <a:p>
            <a:pPr marL="342900" indent="-342900">
              <a:buFont typeface="+mj-lt"/>
              <a:buAutoNum type="arabicPeriod"/>
            </a:pPr>
            <a:r>
              <a:rPr lang="en-US" sz="1400" dirty="0">
                <a:solidFill>
                  <a:srgbClr val="FF0000"/>
                </a:solidFill>
              </a:rPr>
              <a:t>v2 implies a v1?</a:t>
            </a:r>
          </a:p>
          <a:p>
            <a:pPr marL="342900" indent="-342900">
              <a:buFont typeface="+mj-lt"/>
              <a:buAutoNum type="arabicPeriod"/>
            </a:pPr>
            <a:r>
              <a:rPr lang="en-US" sz="1400" dirty="0">
                <a:solidFill>
                  <a:srgbClr val="FF0000"/>
                </a:solidFill>
              </a:rPr>
              <a:t>Poor comments</a:t>
            </a:r>
          </a:p>
          <a:p>
            <a:pPr marL="342900" indent="-342900">
              <a:buFont typeface="+mj-lt"/>
              <a:buAutoNum type="arabicPeriod"/>
            </a:pPr>
            <a:r>
              <a:rPr lang="en-US" sz="1400" dirty="0">
                <a:solidFill>
                  <a:srgbClr val="FF0000"/>
                </a:solidFill>
              </a:rPr>
              <a:t>Import </a:t>
            </a:r>
            <a:r>
              <a:rPr lang="en-US" sz="1400" dirty="0" err="1">
                <a:solidFill>
                  <a:srgbClr val="FF0000"/>
                </a:solidFill>
              </a:rPr>
              <a:t>numpy</a:t>
            </a:r>
            <a:r>
              <a:rPr lang="en-US" sz="1400" dirty="0">
                <a:solidFill>
                  <a:srgbClr val="FF0000"/>
                </a:solidFill>
              </a:rPr>
              <a:t> as np – not used</a:t>
            </a:r>
          </a:p>
          <a:p>
            <a:pPr marL="342900" indent="-342900">
              <a:buFont typeface="+mj-lt"/>
              <a:buAutoNum type="arabicPeriod"/>
            </a:pPr>
            <a:r>
              <a:rPr lang="en-US" sz="1400" dirty="0">
                <a:solidFill>
                  <a:srgbClr val="FF0000"/>
                </a:solidFill>
              </a:rPr>
              <a:t>Hard-coded input data file name</a:t>
            </a:r>
          </a:p>
          <a:p>
            <a:pPr marL="342900" indent="-342900">
              <a:buFont typeface="+mj-lt"/>
              <a:buAutoNum type="arabicPeriod"/>
            </a:pPr>
            <a:r>
              <a:rPr lang="en-US" sz="1400" dirty="0">
                <a:solidFill>
                  <a:srgbClr val="FF0000"/>
                </a:solidFill>
              </a:rPr>
              <a:t>No error checking on reading input data</a:t>
            </a:r>
          </a:p>
        </p:txBody>
      </p:sp>
    </p:spTree>
    <p:extLst>
      <p:ext uri="{BB962C8B-B14F-4D97-AF65-F5344CB8AC3E}">
        <p14:creationId xmlns:p14="http://schemas.microsoft.com/office/powerpoint/2010/main" val="2792484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463040"/>
            <a:ext cx="7680960" cy="1280160"/>
          </a:xfrm>
          <a:prstGeom prst="rect">
            <a:avLst/>
          </a:prstGeom>
          <a:noFill/>
          <a:ln/>
        </p:spPr>
        <p:txBody>
          <a:bodyPr wrap="square" lIns="0" tIns="0" rIns="0" bIns="0" rtlCol="0" anchor="ctr"/>
          <a:lstStyle/>
          <a:p>
            <a:pPr marL="0" indent="0" algn="l">
              <a:buNone/>
            </a:pPr>
            <a:r>
              <a:rPr lang="en-US" sz="3200" dirty="0">
                <a:solidFill>
                  <a:srgbClr val="FFFFFF"/>
                </a:solidFill>
                <a:latin typeface="Georgia" pitchFamily="34" charset="0"/>
                <a:ea typeface="Georgia" pitchFamily="34" charset="-122"/>
                <a:cs typeface="Georgia" pitchFamily="34" charset="-120"/>
              </a:rPr>
              <a:t>Habit 1: Name Things</a:t>
            </a:r>
            <a:endParaRPr lang="en-US" sz="3200" dirty="0"/>
          </a:p>
        </p:txBody>
      </p:sp>
      <p:sp>
        <p:nvSpPr>
          <p:cNvPr id="4" name="Text 2"/>
          <p:cNvSpPr/>
          <p:nvPr/>
        </p:nvSpPr>
        <p:spPr>
          <a:xfrm>
            <a:off x="731520" y="2834640"/>
            <a:ext cx="7680960" cy="831528"/>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rPr>
              <a:t>Names are the primary way code communicates intent.</a:t>
            </a:r>
          </a:p>
          <a:p>
            <a:pPr marL="0" indent="0" algn="l">
              <a:buNone/>
            </a:pPr>
            <a:endParaRPr lang="en-US" sz="1500" i="1" dirty="0">
              <a:solidFill>
                <a:srgbClr val="C8A951"/>
              </a:solidFill>
              <a:latin typeface="Georgia" pitchFamily="34" charset="0"/>
            </a:endParaRPr>
          </a:p>
          <a:p>
            <a:pPr marL="0" indent="0" algn="l">
              <a:buNone/>
            </a:pPr>
            <a:r>
              <a:rPr lang="en-US" sz="1500" i="1" dirty="0">
                <a:solidFill>
                  <a:srgbClr val="C8A951"/>
                </a:solidFill>
                <a:latin typeface="Georgia" pitchFamily="34" charset="0"/>
              </a:rPr>
              <a:t>Code is read more than it is written.</a:t>
            </a:r>
            <a:endParaRPr lang="en-US" sz="15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Why Name Things?</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Text 2"/>
          <p:cNvSpPr/>
          <p:nvPr/>
        </p:nvSpPr>
        <p:spPr>
          <a:xfrm>
            <a:off x="498240" y="885960"/>
            <a:ext cx="8046720" cy="2945808"/>
          </a:xfrm>
          <a:prstGeom prst="rect">
            <a:avLst/>
          </a:prstGeom>
          <a:noFill/>
          <a:ln/>
        </p:spPr>
        <p:txBody>
          <a:bodyPr wrap="square" lIns="0" tIns="0" rIns="0" bIns="0" rtlCol="0" anchor="ctr"/>
          <a:lstStyle/>
          <a:p>
            <a:pPr marL="0" indent="0" algn="l">
              <a:buNone/>
            </a:pPr>
            <a:r>
              <a:rPr lang="en-US" sz="1600" b="1" i="1" dirty="0">
                <a:solidFill>
                  <a:srgbClr val="555555"/>
                </a:solidFill>
                <a:latin typeface="Calibri" pitchFamily="34" charset="0"/>
                <a:cs typeface="Calibri" pitchFamily="34" charset="-120"/>
              </a:rPr>
              <a:t>Highest-impact, lowest-effort habit.</a:t>
            </a:r>
          </a:p>
          <a:p>
            <a:pPr marL="0" indent="0" algn="l">
              <a:buNone/>
            </a:pPr>
            <a:endParaRPr lang="en-US" sz="1600" dirty="0">
              <a:solidFill>
                <a:srgbClr val="555555"/>
              </a:solidFill>
              <a:latin typeface="Calibri" pitchFamily="34" charset="0"/>
              <a:cs typeface="Calibri" pitchFamily="34" charset="-120"/>
            </a:endParaRPr>
          </a:p>
          <a:p>
            <a:pPr marL="0" indent="0" algn="l">
              <a:buNone/>
            </a:pPr>
            <a:r>
              <a:rPr lang="en-US" sz="1600" dirty="0">
                <a:solidFill>
                  <a:srgbClr val="555555"/>
                </a:solidFill>
                <a:latin typeface="Calibri" pitchFamily="34" charset="0"/>
                <a:cs typeface="Calibri" pitchFamily="34" charset="-120"/>
              </a:rPr>
              <a:t>Good names enable:</a:t>
            </a:r>
          </a:p>
          <a:p>
            <a:pPr marL="285750" indent="-285750" algn="l">
              <a:buFont typeface="Arial" panose="020B0604020202020204" pitchFamily="34" charset="0"/>
              <a:buChar char="•"/>
            </a:pPr>
            <a:r>
              <a:rPr lang="en-US" sz="1600" b="1" dirty="0">
                <a:solidFill>
                  <a:srgbClr val="555555"/>
                </a:solidFill>
                <a:latin typeface="Calibri" pitchFamily="34" charset="0"/>
                <a:cs typeface="Calibri" pitchFamily="34" charset="-120"/>
              </a:rPr>
              <a:t>Understandability</a:t>
            </a:r>
            <a:r>
              <a:rPr lang="en-US" sz="1600" dirty="0">
                <a:solidFill>
                  <a:srgbClr val="555555"/>
                </a:solidFill>
                <a:latin typeface="Calibri" pitchFamily="34" charset="0"/>
                <a:cs typeface="Calibri" pitchFamily="34" charset="-120"/>
              </a:rPr>
              <a:t> and </a:t>
            </a:r>
            <a:r>
              <a:rPr lang="en-US" sz="1600" b="1" dirty="0">
                <a:solidFill>
                  <a:srgbClr val="555555"/>
                </a:solidFill>
                <a:latin typeface="Calibri" pitchFamily="34" charset="0"/>
                <a:cs typeface="Calibri" pitchFamily="34" charset="-120"/>
              </a:rPr>
              <a:t>readability</a:t>
            </a:r>
            <a:r>
              <a:rPr lang="en-US" sz="1600" dirty="0">
                <a:solidFill>
                  <a:srgbClr val="555555"/>
                </a:solidFill>
                <a:latin typeface="Calibri" pitchFamily="34" charset="0"/>
                <a:cs typeface="Calibri" pitchFamily="34" charset="-120"/>
              </a:rPr>
              <a:t> of code without looking at implementation details.</a:t>
            </a:r>
          </a:p>
          <a:p>
            <a:pPr marL="285750" indent="-285750" algn="l">
              <a:buFont typeface="Arial" panose="020B0604020202020204" pitchFamily="34" charset="0"/>
              <a:buChar char="•"/>
            </a:pPr>
            <a:r>
              <a:rPr lang="en-US" sz="1600" b="1" dirty="0">
                <a:solidFill>
                  <a:srgbClr val="555555"/>
                </a:solidFill>
                <a:latin typeface="Calibri" pitchFamily="34" charset="0"/>
                <a:cs typeface="Calibri" pitchFamily="34" charset="-120"/>
              </a:rPr>
              <a:t>Maintainability.</a:t>
            </a:r>
            <a:r>
              <a:rPr lang="en-US" sz="1600" dirty="0">
                <a:solidFill>
                  <a:srgbClr val="555555"/>
                </a:solidFill>
                <a:latin typeface="Calibri" pitchFamily="34" charset="0"/>
                <a:cs typeface="Calibri" pitchFamily="34" charset="-120"/>
              </a:rPr>
              <a:t> Less fear when fixing or evolving code.</a:t>
            </a:r>
          </a:p>
          <a:p>
            <a:pPr marL="285750" indent="-285750" algn="l">
              <a:buFont typeface="Arial" panose="020B0604020202020204" pitchFamily="34" charset="0"/>
              <a:buChar char="•"/>
            </a:pPr>
            <a:r>
              <a:rPr lang="en-US" sz="1600" b="1" dirty="0">
                <a:solidFill>
                  <a:srgbClr val="555555"/>
                </a:solidFill>
                <a:latin typeface="Calibri" pitchFamily="34" charset="0"/>
                <a:cs typeface="Calibri" pitchFamily="34" charset="-120"/>
              </a:rPr>
              <a:t>Less throw-away </a:t>
            </a:r>
            <a:r>
              <a:rPr lang="en-US" sz="1600" dirty="0">
                <a:solidFill>
                  <a:srgbClr val="555555"/>
                </a:solidFill>
                <a:latin typeface="Calibri" pitchFamily="34" charset="0"/>
                <a:cs typeface="Calibri" pitchFamily="34" charset="-120"/>
              </a:rPr>
              <a:t>code that nobody wants to bother with.</a:t>
            </a:r>
          </a:p>
          <a:p>
            <a:pPr marL="285750" indent="-285750" algn="l">
              <a:buFont typeface="Arial" panose="020B0604020202020204" pitchFamily="34" charset="0"/>
              <a:buChar char="•"/>
            </a:pPr>
            <a:r>
              <a:rPr lang="en-US" sz="1600" b="1" dirty="0">
                <a:solidFill>
                  <a:srgbClr val="555555"/>
                </a:solidFill>
                <a:latin typeface="Calibri" pitchFamily="34" charset="0"/>
                <a:cs typeface="Calibri" pitchFamily="34" charset="-120"/>
              </a:rPr>
              <a:t>Value</a:t>
            </a:r>
            <a:r>
              <a:rPr lang="en-US" sz="1600" dirty="0">
                <a:solidFill>
                  <a:srgbClr val="555555"/>
                </a:solidFill>
                <a:latin typeface="Calibri" pitchFamily="34" charset="0"/>
                <a:cs typeface="Calibri" pitchFamily="34" charset="-120"/>
              </a:rPr>
              <a:t> and </a:t>
            </a:r>
            <a:r>
              <a:rPr lang="en-US" sz="1600" b="1" dirty="0">
                <a:solidFill>
                  <a:srgbClr val="555555"/>
                </a:solidFill>
                <a:latin typeface="Calibri" pitchFamily="34" charset="0"/>
                <a:cs typeface="Calibri" pitchFamily="34" charset="-120"/>
              </a:rPr>
              <a:t>re-usability</a:t>
            </a:r>
            <a:r>
              <a:rPr lang="en-US" sz="1600" dirty="0">
                <a:solidFill>
                  <a:srgbClr val="555555"/>
                </a:solidFill>
                <a:latin typeface="Calibri" pitchFamily="34" charset="0"/>
                <a:cs typeface="Calibri" pitchFamily="34" charset="-120"/>
              </a:rPr>
              <a:t> of code.</a:t>
            </a:r>
          </a:p>
          <a:p>
            <a:pPr marL="0" indent="0" algn="l">
              <a:buNone/>
            </a:pPr>
            <a:endParaRPr lang="en-US" sz="1600" dirty="0">
              <a:solidFill>
                <a:srgbClr val="555555"/>
              </a:solidFill>
              <a:latin typeface="Calibri" pitchFamily="34" charset="0"/>
              <a:cs typeface="Calibri" pitchFamily="34" charset="-120"/>
            </a:endParaRPr>
          </a:p>
          <a:p>
            <a:pPr marL="0" indent="0" algn="l">
              <a:buNone/>
            </a:pPr>
            <a:r>
              <a:rPr lang="en-US" sz="1250" dirty="0">
                <a:solidFill>
                  <a:srgbClr val="555555"/>
                </a:solidFill>
                <a:latin typeface="Calibri" pitchFamily="34" charset="0"/>
                <a:cs typeface="Calibri" pitchFamily="34" charset="-120"/>
              </a:rPr>
              <a:t> </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46888"/>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Naming Rules </a:t>
            </a:r>
            <a:r>
              <a:rPr lang="en-US" sz="2000" i="1" dirty="0">
                <a:solidFill>
                  <a:srgbClr val="1A1A1A"/>
                </a:solidFill>
                <a:latin typeface="Georgia" pitchFamily="34" charset="0"/>
                <a:ea typeface="Georgia" pitchFamily="34" charset="-122"/>
                <a:cs typeface="Georgia" pitchFamily="34" charset="-120"/>
              </a:rPr>
              <a:t>(Python)</a:t>
            </a:r>
            <a:endParaRPr lang="en-US" sz="2600" i="1"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Text 2"/>
          <p:cNvSpPr/>
          <p:nvPr/>
        </p:nvSpPr>
        <p:spPr>
          <a:xfrm>
            <a:off x="548640" y="841248"/>
            <a:ext cx="8046720" cy="1993982"/>
          </a:xfrm>
          <a:prstGeom prst="rect">
            <a:avLst/>
          </a:prstGeom>
          <a:noFill/>
          <a:ln/>
        </p:spPr>
        <p:txBody>
          <a:bodyPr wrap="square" lIns="0" tIns="0" rIns="0" bIns="0" rtlCol="0" anchor="ctr"/>
          <a:lstStyle/>
          <a:p>
            <a:pPr marL="0" indent="0" algn="l">
              <a:buNone/>
            </a:pPr>
            <a:endParaRPr lang="en-US" sz="1250" dirty="0"/>
          </a:p>
        </p:txBody>
      </p:sp>
      <p:sp>
        <p:nvSpPr>
          <p:cNvPr id="9" name="TextBox 8">
            <a:extLst>
              <a:ext uri="{FF2B5EF4-FFF2-40B4-BE49-F238E27FC236}">
                <a16:creationId xmlns:a16="http://schemas.microsoft.com/office/drawing/2014/main" id="{E3B0466A-06AF-FDD3-8EDB-761AC026EE2D}"/>
              </a:ext>
            </a:extLst>
          </p:cNvPr>
          <p:cNvSpPr txBox="1"/>
          <p:nvPr/>
        </p:nvSpPr>
        <p:spPr>
          <a:xfrm>
            <a:off x="158400" y="877824"/>
            <a:ext cx="8927999" cy="4216539"/>
          </a:xfrm>
          <a:prstGeom prst="rect">
            <a:avLst/>
          </a:prstGeom>
          <a:noFill/>
        </p:spPr>
        <p:txBody>
          <a:bodyPr wrap="square" rtlCol="0">
            <a:spAutoFit/>
          </a:bodyPr>
          <a:lstStyle/>
          <a:p>
            <a:pPr marL="342900" lvl="0" indent="-342900">
              <a:buFont typeface="+mj-lt"/>
              <a:buAutoNum type="arabicPeriod"/>
            </a:pPr>
            <a:r>
              <a:rPr lang="en-US" sz="1600" dirty="0"/>
              <a:t>Variables are </a:t>
            </a:r>
            <a:r>
              <a:rPr lang="en-US" sz="1600" b="1" dirty="0"/>
              <a:t>nouns</a:t>
            </a:r>
            <a:r>
              <a:rPr lang="en-US" sz="1600" dirty="0"/>
              <a:t>: </a:t>
            </a:r>
            <a:r>
              <a:rPr lang="en-US" sz="1400" dirty="0">
                <a:solidFill>
                  <a:srgbClr val="FF0000"/>
                </a:solidFill>
                <a:latin typeface="Consolas" panose="020B0609020204030204" pitchFamily="49" charset="0"/>
                <a:cs typeface="Consolas" panose="020B0609020204030204" pitchFamily="49" charset="0"/>
              </a:rPr>
              <a:t>patient_id, tumor_volume, </a:t>
            </a:r>
            <a:r>
              <a:rPr lang="en-US" sz="1400" dirty="0" err="1">
                <a:solidFill>
                  <a:srgbClr val="FF0000"/>
                </a:solidFill>
                <a:latin typeface="Consolas" panose="020B0609020204030204" pitchFamily="49" charset="0"/>
                <a:cs typeface="Consolas" panose="020B0609020204030204" pitchFamily="49" charset="0"/>
              </a:rPr>
              <a:t>cohort_summary</a:t>
            </a:r>
            <a:br>
              <a:rPr lang="en-US" sz="1400" dirty="0">
                <a:latin typeface="Consolas" panose="020B0609020204030204" pitchFamily="49" charset="0"/>
                <a:cs typeface="Consolas" panose="020B0609020204030204" pitchFamily="49" charset="0"/>
              </a:rPr>
            </a:br>
            <a:endParaRPr lang="en-US" sz="1400" dirty="0">
              <a:latin typeface="Consolas" panose="020B0609020204030204" pitchFamily="49" charset="0"/>
              <a:cs typeface="Consolas" panose="020B0609020204030204" pitchFamily="49" charset="0"/>
            </a:endParaRPr>
          </a:p>
          <a:p>
            <a:pPr marL="342900" lvl="0" indent="-342900">
              <a:buFont typeface="+mj-lt"/>
              <a:buAutoNum type="arabicPeriod"/>
            </a:pPr>
            <a:r>
              <a:rPr lang="en-US" sz="1600" dirty="0"/>
              <a:t>Functions are </a:t>
            </a:r>
            <a:r>
              <a:rPr lang="en-US" sz="1600" b="1" dirty="0"/>
              <a:t>verbs</a:t>
            </a:r>
            <a:r>
              <a:rPr lang="en-US" sz="1600" dirty="0"/>
              <a:t>: </a:t>
            </a:r>
            <a:r>
              <a:rPr lang="en-US" sz="1400" dirty="0" err="1">
                <a:solidFill>
                  <a:srgbClr val="FF0000"/>
                </a:solidFill>
                <a:latin typeface="Consolas" panose="020B0609020204030204" pitchFamily="49" charset="0"/>
                <a:cs typeface="Consolas" panose="020B0609020204030204" pitchFamily="49" charset="0"/>
              </a:rPr>
              <a:t>load_measurements</a:t>
            </a: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compute_growth_rate</a:t>
            </a: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is_responder</a:t>
            </a:r>
            <a:r>
              <a:rPr lang="en-US" sz="1400" dirty="0">
                <a:solidFill>
                  <a:srgbClr val="FF0000"/>
                </a:solidFill>
                <a:latin typeface="Consolas" panose="020B0609020204030204" pitchFamily="49" charset="0"/>
                <a:cs typeface="Consolas" panose="020B0609020204030204" pitchFamily="49" charset="0"/>
              </a:rPr>
              <a:t>()</a:t>
            </a:r>
            <a:br>
              <a:rPr lang="en-US" sz="1400" dirty="0">
                <a:latin typeface="Consolas" panose="020B0609020204030204" pitchFamily="49" charset="0"/>
                <a:cs typeface="Consolas" panose="020B0609020204030204" pitchFamily="49" charset="0"/>
              </a:rPr>
            </a:br>
            <a:endParaRPr lang="en-US" sz="1400" dirty="0">
              <a:latin typeface="Consolas" panose="020B0609020204030204" pitchFamily="49" charset="0"/>
              <a:cs typeface="Consolas" panose="020B0609020204030204" pitchFamily="49" charset="0"/>
            </a:endParaRPr>
          </a:p>
          <a:p>
            <a:pPr marL="342900" lvl="0" indent="-342900">
              <a:buFont typeface="+mj-lt"/>
              <a:buAutoNum type="arabicPeriod"/>
            </a:pPr>
            <a:r>
              <a:rPr lang="en-US" sz="1600" dirty="0"/>
              <a:t>Boolean functions/variables start with </a:t>
            </a:r>
            <a:r>
              <a:rPr lang="en-US" sz="1600" b="1" dirty="0"/>
              <a:t>is_</a:t>
            </a:r>
            <a:r>
              <a:rPr lang="en-US" sz="1600" dirty="0"/>
              <a:t>, </a:t>
            </a:r>
            <a:r>
              <a:rPr lang="en-US" sz="1600" b="1" dirty="0"/>
              <a:t>has_</a:t>
            </a:r>
            <a:r>
              <a:rPr lang="en-US" sz="1600" dirty="0"/>
              <a:t>, </a:t>
            </a:r>
            <a:r>
              <a:rPr lang="en-US" sz="1600" b="1" dirty="0"/>
              <a:t>should_</a:t>
            </a:r>
            <a:r>
              <a:rPr lang="en-US" sz="1600" dirty="0"/>
              <a:t>: </a:t>
            </a:r>
            <a:r>
              <a:rPr lang="en-US" sz="1400" dirty="0" err="1">
                <a:solidFill>
                  <a:srgbClr val="FF0000"/>
                </a:solidFill>
                <a:latin typeface="Consolas" panose="020B0609020204030204" pitchFamily="49" charset="0"/>
                <a:cs typeface="Consolas" panose="020B0609020204030204" pitchFamily="49" charset="0"/>
              </a:rPr>
              <a:t>is_responder</a:t>
            </a: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has_baseline_scan</a:t>
            </a:r>
            <a:br>
              <a:rPr lang="en-US" sz="1400" dirty="0">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a:p>
            <a:pPr marL="342900" lvl="0" indent="-342900">
              <a:buFont typeface="+mj-lt"/>
              <a:buAutoNum type="arabicPeriod"/>
            </a:pPr>
            <a:r>
              <a:rPr lang="en-US" sz="1600" b="1" dirty="0"/>
              <a:t>No single letters </a:t>
            </a:r>
            <a:r>
              <a:rPr lang="en-US" sz="1600" dirty="0"/>
              <a:t>except loop counters in trivial loops. </a:t>
            </a:r>
            <a:r>
              <a:rPr lang="en-US" sz="1400" dirty="0">
                <a:solidFill>
                  <a:srgbClr val="FF0000"/>
                </a:solidFill>
                <a:latin typeface="Consolas" panose="020B0609020204030204" pitchFamily="49" charset="0"/>
                <a:cs typeface="Consolas" panose="020B0609020204030204" pitchFamily="49" charset="0"/>
              </a:rPr>
              <a:t>x, y, d, </a:t>
            </a:r>
            <a:r>
              <a:rPr lang="en-US" sz="1400" dirty="0" err="1">
                <a:solidFill>
                  <a:srgbClr val="FF0000"/>
                </a:solidFill>
                <a:latin typeface="Consolas" panose="020B0609020204030204" pitchFamily="49" charset="0"/>
                <a:cs typeface="Consolas" panose="020B0609020204030204" pitchFamily="49" charset="0"/>
              </a:rPr>
              <a:t>tmp</a:t>
            </a:r>
            <a:r>
              <a:rPr lang="en-US" sz="1400" dirty="0">
                <a:solidFill>
                  <a:srgbClr val="FF0000"/>
                </a:solidFill>
                <a:latin typeface="Consolas" panose="020B0609020204030204" pitchFamily="49" charset="0"/>
                <a:cs typeface="Consolas" panose="020B0609020204030204" pitchFamily="49" charset="0"/>
              </a:rPr>
              <a:t> </a:t>
            </a:r>
            <a:r>
              <a:rPr lang="en-US" sz="1600" dirty="0"/>
              <a:t>are not names — they're placeholders you forgot to rename.</a:t>
            </a:r>
            <a:br>
              <a:rPr lang="en-US" sz="1600" dirty="0"/>
            </a:br>
            <a:endParaRPr lang="en-US" sz="1600" dirty="0"/>
          </a:p>
          <a:p>
            <a:pPr marL="342900" indent="-342900">
              <a:buFont typeface="+mj-lt"/>
              <a:buAutoNum type="arabicPeriod"/>
            </a:pPr>
            <a:r>
              <a:rPr lang="en-US" sz="1600" b="1" dirty="0"/>
              <a:t>No magic numbers</a:t>
            </a:r>
            <a:r>
              <a:rPr lang="en-US" sz="1600" dirty="0"/>
              <a:t>. If you see 0.0293 in code, give it a name: </a:t>
            </a:r>
            <a:r>
              <a:rPr lang="en-US" sz="1400" dirty="0">
                <a:solidFill>
                  <a:srgbClr val="FF0000"/>
                </a:solidFill>
                <a:latin typeface="Consolas" panose="020B0609020204030204" pitchFamily="49" charset="0"/>
                <a:cs typeface="Consolas" panose="020B0609020204030204" pitchFamily="49" charset="0"/>
              </a:rPr>
              <a:t>STANDARD_TUMOR_DENSITY_G_PER_MM3 = 0.0293</a:t>
            </a:r>
            <a:r>
              <a:rPr lang="en-US" sz="1600" dirty="0"/>
              <a:t>.</a:t>
            </a:r>
            <a:br>
              <a:rPr lang="en-US" sz="1600" dirty="0"/>
            </a:br>
            <a:endParaRPr lang="en-US" sz="1600" dirty="0"/>
          </a:p>
          <a:p>
            <a:pPr marL="342900" indent="-342900">
              <a:buFont typeface="+mj-lt"/>
              <a:buAutoNum type="arabicPeriod"/>
            </a:pPr>
            <a:r>
              <a:rPr lang="en-US" sz="1600" b="1" dirty="0"/>
              <a:t>Constants</a:t>
            </a:r>
            <a:r>
              <a:rPr lang="en-US" sz="1600" dirty="0"/>
              <a:t> are upper snake-case and appear at the top of the file: </a:t>
            </a:r>
            <a:r>
              <a:rPr lang="en-US" sz="1600" dirty="0">
                <a:solidFill>
                  <a:srgbClr val="FF0000"/>
                </a:solidFill>
                <a:latin typeface="Consolas" panose="020B0609020204030204" pitchFamily="49" charset="0"/>
                <a:cs typeface="Consolas" panose="020B0609020204030204" pitchFamily="49" charset="0"/>
              </a:rPr>
              <a:t>STANDARD_TUMOR_DENSITY_G_PER_MM3 = 0.0293</a:t>
            </a:r>
            <a:br>
              <a:rPr lang="en-US" sz="1600" dirty="0">
                <a:solidFill>
                  <a:srgbClr val="FF0000"/>
                </a:solidFill>
                <a:latin typeface="Consolas" panose="020B0609020204030204" pitchFamily="49" charset="0"/>
                <a:cs typeface="Consolas" panose="020B0609020204030204" pitchFamily="49" charset="0"/>
              </a:rPr>
            </a:br>
            <a:endParaRPr lang="en-US" sz="1600" dirty="0"/>
          </a:p>
          <a:p>
            <a:pPr marL="342900" indent="-342900">
              <a:buFont typeface="+mj-lt"/>
              <a:buAutoNum type="arabicPeriod"/>
            </a:pPr>
            <a:r>
              <a:rPr lang="en-US" sz="1600" b="1" dirty="0"/>
              <a:t>Embed units in the name </a:t>
            </a:r>
            <a:r>
              <a:rPr lang="en-US" sz="1600" dirty="0"/>
              <a:t>when they </a:t>
            </a:r>
            <a:r>
              <a:rPr lang="en-US" sz="1600" b="1" dirty="0"/>
              <a:t>matter</a:t>
            </a:r>
            <a:r>
              <a:rPr lang="en-US" sz="1600" dirty="0"/>
              <a:t>: </a:t>
            </a:r>
            <a:r>
              <a:rPr lang="en-US" sz="1600" dirty="0" err="1">
                <a:solidFill>
                  <a:srgbClr val="FF0000"/>
                </a:solidFill>
              </a:rPr>
              <a:t>diameter_mm</a:t>
            </a:r>
            <a:r>
              <a:rPr lang="en-US" sz="1600" dirty="0">
                <a:solidFill>
                  <a:srgbClr val="FF0000"/>
                </a:solidFill>
              </a:rPr>
              <a:t>, </a:t>
            </a:r>
            <a:r>
              <a:rPr lang="en-US" sz="1600" dirty="0" err="1">
                <a:solidFill>
                  <a:srgbClr val="FF0000"/>
                </a:solidFill>
              </a:rPr>
              <a:t>dose_mg_per_kg</a:t>
            </a:r>
            <a:r>
              <a:rPr lang="en-US" sz="1600" dirty="0">
                <a:solidFill>
                  <a:srgbClr val="FF0000"/>
                </a:solidFill>
              </a:rPr>
              <a:t>, </a:t>
            </a:r>
            <a:r>
              <a:rPr lang="en-US" sz="1600" dirty="0" err="1">
                <a:solidFill>
                  <a:srgbClr val="FF0000"/>
                </a:solidFill>
              </a:rPr>
              <a:t>duration_seconds</a:t>
            </a:r>
            <a:br>
              <a:rPr lang="en-US" sz="1600" dirty="0">
                <a:solidFill>
                  <a:srgbClr val="FF0000"/>
                </a:solidFill>
              </a:rPr>
            </a:br>
            <a:r>
              <a:rPr lang="en-US" sz="1200" i="1" dirty="0"/>
              <a:t>See Mars Climate Orbiter crash </a:t>
            </a:r>
            <a:r>
              <a:rPr lang="en-US" sz="1200" i="1" dirty="0">
                <a:hlinkClick r:id="rId3"/>
              </a:rPr>
              <a:t>https://</a:t>
            </a:r>
            <a:r>
              <a:rPr lang="en-US" sz="1200" i="1" dirty="0" err="1">
                <a:hlinkClick r:id="rId3"/>
              </a:rPr>
              <a:t>science.nasa.gov</a:t>
            </a:r>
            <a:r>
              <a:rPr lang="en-US" sz="1200" i="1" dirty="0">
                <a:hlinkClick r:id="rId3"/>
              </a:rPr>
              <a:t>/mission/mars-climate-orbiter/</a:t>
            </a:r>
            <a:endParaRPr lang="en-US" sz="1600"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8845B6A-AC27-413F-1045-6517A68063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02E6D7-CC6E-7ACF-D07C-6566C94A9053}"/>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Naming: Before and After</a:t>
            </a:r>
            <a:endParaRPr lang="en-US" sz="2600" dirty="0"/>
          </a:p>
        </p:txBody>
      </p:sp>
      <p:sp>
        <p:nvSpPr>
          <p:cNvPr id="3" name="Shape 1">
            <a:extLst>
              <a:ext uri="{FF2B5EF4-FFF2-40B4-BE49-F238E27FC236}">
                <a16:creationId xmlns:a16="http://schemas.microsoft.com/office/drawing/2014/main" id="{E0523A95-A6BA-8A1E-1379-F001F467D703}"/>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4F8A468E-9D46-E7C4-59FA-73EB432DFDDC}"/>
              </a:ext>
            </a:extLst>
          </p:cNvPr>
          <p:cNvSpPr/>
          <p:nvPr/>
        </p:nvSpPr>
        <p:spPr>
          <a:xfrm>
            <a:off x="70560" y="1534086"/>
            <a:ext cx="599040" cy="27432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Before:</a:t>
            </a:r>
            <a:endParaRPr lang="en-US" sz="1300" dirty="0"/>
          </a:p>
        </p:txBody>
      </p:sp>
      <p:sp>
        <p:nvSpPr>
          <p:cNvPr id="6" name="Text 4">
            <a:extLst>
              <a:ext uri="{FF2B5EF4-FFF2-40B4-BE49-F238E27FC236}">
                <a16:creationId xmlns:a16="http://schemas.microsoft.com/office/drawing/2014/main" id="{B4B9EFC3-DF7F-58B9-AFCA-0413A9D2D682}"/>
              </a:ext>
            </a:extLst>
          </p:cNvPr>
          <p:cNvSpPr/>
          <p:nvPr/>
        </p:nvSpPr>
        <p:spPr>
          <a:xfrm>
            <a:off x="731520" y="1371600"/>
            <a:ext cx="7680960" cy="402336"/>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df2['v2'] = (4/3) * 3.14159 * (df2['d']/2)**3</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g = (x['v2'].iloc[-1] - x['v2'].iloc[0]) / (x['t'].iloc[-1] - x['t'].iloc[0])</a:t>
            </a:r>
            <a:endParaRPr lang="en-US" sz="950" dirty="0"/>
          </a:p>
        </p:txBody>
      </p:sp>
      <p:sp>
        <p:nvSpPr>
          <p:cNvPr id="7" name="Text 5">
            <a:extLst>
              <a:ext uri="{FF2B5EF4-FFF2-40B4-BE49-F238E27FC236}">
                <a16:creationId xmlns:a16="http://schemas.microsoft.com/office/drawing/2014/main" id="{182F1A47-AAEF-959E-8A0A-97ADAFAD54A0}"/>
              </a:ext>
            </a:extLst>
          </p:cNvPr>
          <p:cNvSpPr/>
          <p:nvPr/>
        </p:nvSpPr>
        <p:spPr>
          <a:xfrm>
            <a:off x="70560" y="3348819"/>
            <a:ext cx="506880" cy="27432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After:</a:t>
            </a:r>
            <a:endParaRPr lang="en-US" sz="1300" dirty="0"/>
          </a:p>
        </p:txBody>
      </p:sp>
      <p:sp>
        <p:nvSpPr>
          <p:cNvPr id="9" name="Text 7">
            <a:extLst>
              <a:ext uri="{FF2B5EF4-FFF2-40B4-BE49-F238E27FC236}">
                <a16:creationId xmlns:a16="http://schemas.microsoft.com/office/drawing/2014/main" id="{79FC07D1-817D-2956-4EC4-AE650756F0D9}"/>
              </a:ext>
            </a:extLst>
          </p:cNvPr>
          <p:cNvSpPr/>
          <p:nvPr/>
        </p:nvSpPr>
        <p:spPr>
          <a:xfrm>
            <a:off x="731520" y="2350008"/>
            <a:ext cx="7680960" cy="1426464"/>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import math</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diameter_mm = measurements['diameter_mm']</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volume_mm3 = (4/3) * math.pi * (diameter_mm / 2) ** 3</a:t>
            </a:r>
            <a:endParaRPr lang="en-US" sz="950" dirty="0"/>
          </a:p>
          <a:p>
            <a:pPr marL="0" indent="0" algn="l">
              <a:spcAft>
                <a:spcPts val="100"/>
              </a:spcAft>
              <a:buNone/>
            </a:pP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growth_rate_mm3_per_day = (</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(volumes.iloc[-1] - volumes.iloc[0])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 (days.iloc[-1] - days.iloc[0])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a:t>
            </a:r>
            <a:endParaRPr lang="en-US" sz="950" dirty="0"/>
          </a:p>
        </p:txBody>
      </p:sp>
      <p:sp>
        <p:nvSpPr>
          <p:cNvPr id="10" name="Text 8">
            <a:extLst>
              <a:ext uri="{FF2B5EF4-FFF2-40B4-BE49-F238E27FC236}">
                <a16:creationId xmlns:a16="http://schemas.microsoft.com/office/drawing/2014/main" id="{44658B92-4F11-5B1D-CDF7-027A5B8C6F48}"/>
              </a:ext>
            </a:extLst>
          </p:cNvPr>
          <p:cNvSpPr/>
          <p:nvPr/>
        </p:nvSpPr>
        <p:spPr>
          <a:xfrm>
            <a:off x="2013120" y="4754880"/>
            <a:ext cx="5117760" cy="228600"/>
          </a:xfrm>
          <a:prstGeom prst="rect">
            <a:avLst/>
          </a:prstGeom>
          <a:noFill/>
          <a:ln/>
        </p:spPr>
        <p:txBody>
          <a:bodyPr wrap="square" lIns="0" tIns="0" rIns="0" bIns="0" rtlCol="0" anchor="ctr"/>
          <a:lstStyle/>
          <a:p>
            <a:pPr marL="0" indent="0" algn="l">
              <a:buNone/>
            </a:pPr>
            <a:r>
              <a:rPr lang="en-US" sz="1200" b="1" i="1" dirty="0">
                <a:solidFill>
                  <a:srgbClr val="555555"/>
                </a:solidFill>
                <a:latin typeface="Calibri" pitchFamily="34" charset="0"/>
                <a:ea typeface="Calibri" pitchFamily="34" charset="-122"/>
                <a:cs typeface="Calibri" pitchFamily="34" charset="-120"/>
              </a:rPr>
              <a:t>Same calculation. One you can read six months later.</a:t>
            </a:r>
            <a:endParaRPr lang="en-US" sz="1200" b="1" i="1" dirty="0"/>
          </a:p>
        </p:txBody>
      </p:sp>
      <p:pic>
        <p:nvPicPr>
          <p:cNvPr id="12" name="Picture 11">
            <a:extLst>
              <a:ext uri="{FF2B5EF4-FFF2-40B4-BE49-F238E27FC236}">
                <a16:creationId xmlns:a16="http://schemas.microsoft.com/office/drawing/2014/main" id="{DC2EE9D4-337E-739E-7146-08D64D12E8F3}"/>
              </a:ext>
            </a:extLst>
          </p:cNvPr>
          <p:cNvPicPr>
            <a:picLocks noChangeAspect="1"/>
          </p:cNvPicPr>
          <p:nvPr/>
        </p:nvPicPr>
        <p:blipFill>
          <a:blip r:embed="rId3"/>
          <a:stretch>
            <a:fillRect/>
          </a:stretch>
        </p:blipFill>
        <p:spPr>
          <a:xfrm>
            <a:off x="731520" y="1102230"/>
            <a:ext cx="5755680" cy="1194139"/>
          </a:xfrm>
          <a:prstGeom prst="rect">
            <a:avLst/>
          </a:prstGeom>
        </p:spPr>
      </p:pic>
      <p:pic>
        <p:nvPicPr>
          <p:cNvPr id="14" name="Picture 13">
            <a:extLst>
              <a:ext uri="{FF2B5EF4-FFF2-40B4-BE49-F238E27FC236}">
                <a16:creationId xmlns:a16="http://schemas.microsoft.com/office/drawing/2014/main" id="{8BB8CFCE-4016-FE07-D5D3-69DDADBC5012}"/>
              </a:ext>
            </a:extLst>
          </p:cNvPr>
          <p:cNvPicPr>
            <a:picLocks noChangeAspect="1"/>
          </p:cNvPicPr>
          <p:nvPr/>
        </p:nvPicPr>
        <p:blipFill>
          <a:blip r:embed="rId4"/>
          <a:stretch>
            <a:fillRect/>
          </a:stretch>
        </p:blipFill>
        <p:spPr>
          <a:xfrm>
            <a:off x="685800" y="2819098"/>
            <a:ext cx="7772400" cy="1608082"/>
          </a:xfrm>
          <a:prstGeom prst="rect">
            <a:avLst/>
          </a:prstGeom>
        </p:spPr>
      </p:pic>
    </p:spTree>
    <p:extLst>
      <p:ext uri="{BB962C8B-B14F-4D97-AF65-F5344CB8AC3E}">
        <p14:creationId xmlns:p14="http://schemas.microsoft.com/office/powerpoint/2010/main" val="8491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1C7D9F5-5A2D-02EE-C42F-DAD5B71799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7B50CBD-8A45-D54C-AE5A-0970A609F94B}"/>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Naming: Before and After</a:t>
            </a:r>
            <a:endParaRPr lang="en-US" sz="2600" dirty="0"/>
          </a:p>
        </p:txBody>
      </p:sp>
      <p:sp>
        <p:nvSpPr>
          <p:cNvPr id="3" name="Shape 1">
            <a:extLst>
              <a:ext uri="{FF2B5EF4-FFF2-40B4-BE49-F238E27FC236}">
                <a16:creationId xmlns:a16="http://schemas.microsoft.com/office/drawing/2014/main" id="{33DB71C6-E934-4323-E615-7F0ED6A4295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66DE9CAA-6813-CF66-F516-EFBE2C9C7072}"/>
              </a:ext>
            </a:extLst>
          </p:cNvPr>
          <p:cNvSpPr/>
          <p:nvPr/>
        </p:nvSpPr>
        <p:spPr>
          <a:xfrm>
            <a:off x="548639" y="1216152"/>
            <a:ext cx="4967840" cy="274320"/>
          </a:xfrm>
          <a:prstGeom prst="rect">
            <a:avLst/>
          </a:prstGeom>
          <a:noFill/>
          <a:ln/>
        </p:spPr>
        <p:txBody>
          <a:bodyPr wrap="square" lIns="0" tIns="0" rIns="0" bIns="0" rtlCol="0" anchor="ctr"/>
          <a:lstStyle/>
          <a:p>
            <a:pPr marL="0" indent="0" algn="l">
              <a:buNone/>
            </a:pPr>
            <a:r>
              <a:rPr lang="en-US" sz="1300" b="1" i="1" dirty="0">
                <a:solidFill>
                  <a:srgbClr val="1A1A1A"/>
                </a:solidFill>
                <a:latin typeface="Calibri" pitchFamily="34" charset="0"/>
                <a:cs typeface="Calibri" pitchFamily="34" charset="-120"/>
              </a:rPr>
              <a:t>Show </a:t>
            </a:r>
            <a:r>
              <a:rPr lang="en-US" sz="1300" b="1" i="1" dirty="0" err="1">
                <a:solidFill>
                  <a:srgbClr val="1A1A1A"/>
                </a:solidFill>
                <a:latin typeface="Calibri" pitchFamily="34" charset="0"/>
                <a:cs typeface="Calibri" pitchFamily="34" charset="-120"/>
              </a:rPr>
              <a:t>bad_analysis.py</a:t>
            </a:r>
            <a:r>
              <a:rPr lang="en-US" sz="1300" b="1" i="1" dirty="0">
                <a:solidFill>
                  <a:srgbClr val="1A1A1A"/>
                </a:solidFill>
                <a:latin typeface="Calibri" pitchFamily="34" charset="0"/>
                <a:cs typeface="Calibri" pitchFamily="34" charset="-120"/>
              </a:rPr>
              <a:t> vs. </a:t>
            </a:r>
            <a:r>
              <a:rPr lang="en-US" sz="1300" b="1" i="1" dirty="0" err="1">
                <a:solidFill>
                  <a:srgbClr val="1A1A1A"/>
                </a:solidFill>
                <a:latin typeface="Calibri" pitchFamily="34" charset="0"/>
                <a:cs typeface="Calibri" pitchFamily="34" charset="-120"/>
              </a:rPr>
              <a:t>better_names_analysis.py</a:t>
            </a:r>
            <a:r>
              <a:rPr lang="en-US" sz="1300" b="1" i="1" dirty="0">
                <a:solidFill>
                  <a:srgbClr val="1A1A1A"/>
                </a:solidFill>
                <a:latin typeface="Calibri" pitchFamily="34" charset="0"/>
                <a:cs typeface="Calibri" pitchFamily="34" charset="-120"/>
              </a:rPr>
              <a:t> side by side.</a:t>
            </a:r>
            <a:endParaRPr lang="en-US" sz="1300" i="1" dirty="0"/>
          </a:p>
        </p:txBody>
      </p:sp>
    </p:spTree>
    <p:extLst>
      <p:ext uri="{BB962C8B-B14F-4D97-AF65-F5344CB8AC3E}">
        <p14:creationId xmlns:p14="http://schemas.microsoft.com/office/powerpoint/2010/main" val="1172006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463040"/>
            <a:ext cx="7680960" cy="1280160"/>
          </a:xfrm>
          <a:prstGeom prst="rect">
            <a:avLst/>
          </a:prstGeom>
          <a:noFill/>
          <a:ln/>
        </p:spPr>
        <p:txBody>
          <a:bodyPr wrap="square" lIns="0" tIns="0" rIns="0" bIns="0" rtlCol="0" anchor="ctr"/>
          <a:lstStyle/>
          <a:p>
            <a:pPr marL="0" indent="0" algn="l">
              <a:buNone/>
            </a:pPr>
            <a:r>
              <a:rPr lang="en-US" sz="3200" dirty="0">
                <a:solidFill>
                  <a:srgbClr val="FFFFFF"/>
                </a:solidFill>
                <a:latin typeface="Georgia" pitchFamily="34" charset="0"/>
                <a:ea typeface="Georgia" pitchFamily="34" charset="-122"/>
                <a:cs typeface="Georgia" pitchFamily="34" charset="-120"/>
              </a:rPr>
              <a:t>Habit 2: Modularity</a:t>
            </a:r>
            <a:endParaRPr lang="en-US" sz="3200" dirty="0"/>
          </a:p>
        </p:txBody>
      </p:sp>
      <p:sp>
        <p:nvSpPr>
          <p:cNvPr id="4" name="Text 2"/>
          <p:cNvSpPr/>
          <p:nvPr/>
        </p:nvSpPr>
        <p:spPr>
          <a:xfrm>
            <a:off x="731520" y="2834640"/>
            <a:ext cx="7680960" cy="701928"/>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ea typeface="Georgia" pitchFamily="34" charset="-122"/>
                <a:cs typeface="Georgia" pitchFamily="34" charset="-120"/>
              </a:rPr>
              <a:t>Split into functions - One function, one job that you can reason about in isolation</a:t>
            </a:r>
          </a:p>
          <a:p>
            <a:pPr marL="0" indent="0" algn="l">
              <a:buNone/>
            </a:pPr>
            <a:endParaRPr lang="en-US" sz="1500" i="1" dirty="0">
              <a:solidFill>
                <a:srgbClr val="C8A951"/>
              </a:solidFill>
              <a:latin typeface="Georgia" pitchFamily="34" charset="0"/>
            </a:endParaRPr>
          </a:p>
          <a:p>
            <a:pPr marL="0" indent="0" algn="l">
              <a:buNone/>
            </a:pPr>
            <a:r>
              <a:rPr lang="en-US" sz="1500" i="1" dirty="0">
                <a:solidFill>
                  <a:srgbClr val="C8A951"/>
                </a:solidFill>
                <a:latin typeface="Georgia" pitchFamily="34" charset="0"/>
              </a:rPr>
              <a:t>Group related functions in separate files when dealing with large code base</a:t>
            </a:r>
            <a:endParaRPr lang="en-US" sz="15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AE2DAAC-3701-C71F-E121-C480DC84494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0D6926-9524-746F-592F-17A858AAA737}"/>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Why Split Into Functions?</a:t>
            </a:r>
            <a:endParaRPr lang="en-US" sz="2600" dirty="0"/>
          </a:p>
        </p:txBody>
      </p:sp>
      <p:sp>
        <p:nvSpPr>
          <p:cNvPr id="3" name="Shape 1">
            <a:extLst>
              <a:ext uri="{FF2B5EF4-FFF2-40B4-BE49-F238E27FC236}">
                <a16:creationId xmlns:a16="http://schemas.microsoft.com/office/drawing/2014/main" id="{55BDAD4D-5F3D-D2F8-F95F-24A542BF665B}"/>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CAF7AA5B-5A80-C9BC-8574-ABEDAF1B6BC9}"/>
              </a:ext>
            </a:extLst>
          </p:cNvPr>
          <p:cNvSpPr/>
          <p:nvPr/>
        </p:nvSpPr>
        <p:spPr>
          <a:xfrm>
            <a:off x="548640" y="105156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Readability</a:t>
            </a:r>
            <a:r>
              <a:rPr lang="en-US" sz="1250" dirty="0">
                <a:solidFill>
                  <a:srgbClr val="555555"/>
                </a:solidFill>
                <a:latin typeface="Calibri" pitchFamily="34" charset="0"/>
                <a:ea typeface="Calibri" pitchFamily="34" charset="-122"/>
                <a:cs typeface="Calibri" pitchFamily="34" charset="-120"/>
              </a:rPr>
              <a:t>: The main script now reads like a summary - details live in the functions,</a:t>
            </a:r>
            <a:endParaRPr lang="en-US" sz="1250" dirty="0"/>
          </a:p>
        </p:txBody>
      </p:sp>
      <p:sp>
        <p:nvSpPr>
          <p:cNvPr id="5" name="Text 3">
            <a:extLst>
              <a:ext uri="{FF2B5EF4-FFF2-40B4-BE49-F238E27FC236}">
                <a16:creationId xmlns:a16="http://schemas.microsoft.com/office/drawing/2014/main" id="{E7E6BCC2-3304-B77E-C1EA-AE949FC22929}"/>
              </a:ext>
            </a:extLst>
          </p:cNvPr>
          <p:cNvSpPr/>
          <p:nvPr/>
        </p:nvSpPr>
        <p:spPr>
          <a:xfrm>
            <a:off x="548640" y="132588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Information Hiding</a:t>
            </a:r>
            <a:r>
              <a:rPr lang="en-US" sz="1250" dirty="0">
                <a:solidFill>
                  <a:srgbClr val="555555"/>
                </a:solidFill>
                <a:latin typeface="Calibri" pitchFamily="34" charset="0"/>
                <a:ea typeface="Calibri" pitchFamily="34" charset="-122"/>
                <a:cs typeface="Calibri" pitchFamily="34" charset="-120"/>
              </a:rPr>
              <a:t>: Each function owns a decision, action or transformation (e.g. Parnas)</a:t>
            </a:r>
            <a:endParaRPr lang="en-US" sz="1250" dirty="0"/>
          </a:p>
        </p:txBody>
      </p:sp>
      <p:sp>
        <p:nvSpPr>
          <p:cNvPr id="6" name="Text 4">
            <a:extLst>
              <a:ext uri="{FF2B5EF4-FFF2-40B4-BE49-F238E27FC236}">
                <a16:creationId xmlns:a16="http://schemas.microsoft.com/office/drawing/2014/main" id="{D5456F9D-949F-40A8-401C-98DF3A278B4F}"/>
              </a:ext>
            </a:extLst>
          </p:cNvPr>
          <p:cNvSpPr/>
          <p:nvPr/>
        </p:nvSpPr>
        <p:spPr>
          <a:xfrm>
            <a:off x="548640" y="160020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Change isolation</a:t>
            </a:r>
            <a:r>
              <a:rPr lang="en-US" sz="1250" dirty="0">
                <a:solidFill>
                  <a:srgbClr val="555555"/>
                </a:solidFill>
                <a:latin typeface="Calibri" pitchFamily="34" charset="0"/>
                <a:ea typeface="Calibri" pitchFamily="34" charset="-122"/>
                <a:cs typeface="Calibri" pitchFamily="34" charset="-120"/>
              </a:rPr>
              <a:t>: Limit blast-radius of changes</a:t>
            </a:r>
            <a:endParaRPr lang="en-US" sz="1250" dirty="0"/>
          </a:p>
        </p:txBody>
      </p:sp>
      <p:sp>
        <p:nvSpPr>
          <p:cNvPr id="7" name="Text 5">
            <a:extLst>
              <a:ext uri="{FF2B5EF4-FFF2-40B4-BE49-F238E27FC236}">
                <a16:creationId xmlns:a16="http://schemas.microsoft.com/office/drawing/2014/main" id="{36385802-D31D-C616-04FA-E01DED570461}"/>
              </a:ext>
            </a:extLst>
          </p:cNvPr>
          <p:cNvSpPr/>
          <p:nvPr/>
        </p:nvSpPr>
        <p:spPr>
          <a:xfrm>
            <a:off x="548640" y="187452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Testing</a:t>
            </a:r>
            <a:r>
              <a:rPr lang="en-US" sz="1250" dirty="0">
                <a:solidFill>
                  <a:srgbClr val="555555"/>
                </a:solidFill>
                <a:latin typeface="Calibri" pitchFamily="34" charset="0"/>
                <a:ea typeface="Calibri" pitchFamily="34" charset="-122"/>
                <a:cs typeface="Calibri" pitchFamily="34" charset="-120"/>
              </a:rPr>
              <a:t>: You can't test a 50-line script easily. You CAN test a 5-line function.</a:t>
            </a:r>
            <a:endParaRPr lang="en-US" sz="1250" dirty="0"/>
          </a:p>
        </p:txBody>
      </p:sp>
      <p:sp>
        <p:nvSpPr>
          <p:cNvPr id="8" name="Text 6">
            <a:extLst>
              <a:ext uri="{FF2B5EF4-FFF2-40B4-BE49-F238E27FC236}">
                <a16:creationId xmlns:a16="http://schemas.microsoft.com/office/drawing/2014/main" id="{A73C7676-1F7E-D844-FDF1-C7225D65F4C1}"/>
              </a:ext>
            </a:extLst>
          </p:cNvPr>
          <p:cNvSpPr/>
          <p:nvPr/>
        </p:nvSpPr>
        <p:spPr>
          <a:xfrm>
            <a:off x="548640" y="214884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Debugging</a:t>
            </a:r>
            <a:r>
              <a:rPr lang="en-US" sz="1250" dirty="0">
                <a:solidFill>
                  <a:srgbClr val="555555"/>
                </a:solidFill>
                <a:latin typeface="Calibri" pitchFamily="34" charset="0"/>
                <a:ea typeface="Calibri" pitchFamily="34" charset="-122"/>
                <a:cs typeface="Calibri" pitchFamily="34" charset="-120"/>
              </a:rPr>
              <a:t>: Error in growth rate? You know exactly where to look.</a:t>
            </a:r>
            <a:endParaRPr lang="en-US" sz="1250" dirty="0"/>
          </a:p>
        </p:txBody>
      </p:sp>
      <p:sp>
        <p:nvSpPr>
          <p:cNvPr id="9" name="Text 7">
            <a:extLst>
              <a:ext uri="{FF2B5EF4-FFF2-40B4-BE49-F238E27FC236}">
                <a16:creationId xmlns:a16="http://schemas.microsoft.com/office/drawing/2014/main" id="{C4358229-96BD-3C2A-C552-35BD5038F268}"/>
              </a:ext>
            </a:extLst>
          </p:cNvPr>
          <p:cNvSpPr/>
          <p:nvPr/>
        </p:nvSpPr>
        <p:spPr>
          <a:xfrm>
            <a:off x="548640" y="242316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Reuse</a:t>
            </a:r>
            <a:r>
              <a:rPr lang="en-US" sz="1250" dirty="0">
                <a:solidFill>
                  <a:srgbClr val="555555"/>
                </a:solidFill>
                <a:latin typeface="Calibri" pitchFamily="34" charset="0"/>
                <a:ea typeface="Calibri" pitchFamily="34" charset="-122"/>
                <a:cs typeface="Calibri" pitchFamily="34" charset="-120"/>
              </a:rPr>
              <a:t>: Need </a:t>
            </a:r>
            <a:r>
              <a:rPr lang="en-US" sz="1150" dirty="0">
                <a:solidFill>
                  <a:srgbClr val="555555"/>
                </a:solidFill>
                <a:latin typeface="Courier New" pitchFamily="34" charset="0"/>
                <a:ea typeface="Courier New" pitchFamily="34" charset="-122"/>
                <a:cs typeface="Courier New" pitchFamily="34" charset="-120"/>
              </a:rPr>
              <a:t>calculate_sphere_volume()</a:t>
            </a:r>
            <a:r>
              <a:rPr lang="en-US" sz="1250" dirty="0">
                <a:solidFill>
                  <a:srgbClr val="555555"/>
                </a:solidFill>
                <a:latin typeface="Calibri" pitchFamily="34" charset="0"/>
                <a:ea typeface="Calibri" pitchFamily="34" charset="-122"/>
                <a:cs typeface="Calibri" pitchFamily="34" charset="-120"/>
              </a:rPr>
              <a:t> in another analysis? Import it.</a:t>
            </a:r>
            <a:endParaRPr lang="en-US" sz="1250" dirty="0"/>
          </a:p>
        </p:txBody>
      </p:sp>
      <p:sp>
        <p:nvSpPr>
          <p:cNvPr id="10" name="Text 8">
            <a:extLst>
              <a:ext uri="{FF2B5EF4-FFF2-40B4-BE49-F238E27FC236}">
                <a16:creationId xmlns:a16="http://schemas.microsoft.com/office/drawing/2014/main" id="{77FEBC56-FD4A-C924-CA9F-7F11BFF47A5B}"/>
              </a:ext>
            </a:extLst>
          </p:cNvPr>
          <p:cNvSpPr/>
          <p:nvPr/>
        </p:nvSpPr>
        <p:spPr>
          <a:xfrm>
            <a:off x="548640" y="269748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Collaboration</a:t>
            </a:r>
            <a:r>
              <a:rPr lang="en-US" sz="1250" dirty="0">
                <a:solidFill>
                  <a:srgbClr val="555555"/>
                </a:solidFill>
                <a:latin typeface="Calibri" pitchFamily="34" charset="0"/>
                <a:ea typeface="Calibri" pitchFamily="34" charset="-122"/>
                <a:cs typeface="Calibri" pitchFamily="34" charset="-120"/>
              </a:rPr>
              <a:t>: Two people can work on different functions without conflicts.</a:t>
            </a:r>
            <a:endParaRPr lang="en-US" sz="1250" dirty="0"/>
          </a:p>
        </p:txBody>
      </p:sp>
    </p:spTree>
    <p:extLst>
      <p:ext uri="{BB962C8B-B14F-4D97-AF65-F5344CB8AC3E}">
        <p14:creationId xmlns:p14="http://schemas.microsoft.com/office/powerpoint/2010/main" val="3267927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Which do you prefer?</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pic>
        <p:nvPicPr>
          <p:cNvPr id="13" name="Picture 12">
            <a:extLst>
              <a:ext uri="{FF2B5EF4-FFF2-40B4-BE49-F238E27FC236}">
                <a16:creationId xmlns:a16="http://schemas.microsoft.com/office/drawing/2014/main" id="{5B789DEC-33DD-5675-26C3-1D9677F24A47}"/>
              </a:ext>
            </a:extLst>
          </p:cNvPr>
          <p:cNvPicPr>
            <a:picLocks noChangeAspect="1"/>
          </p:cNvPicPr>
          <p:nvPr/>
        </p:nvPicPr>
        <p:blipFill>
          <a:blip r:embed="rId3"/>
          <a:stretch>
            <a:fillRect/>
          </a:stretch>
        </p:blipFill>
        <p:spPr>
          <a:xfrm>
            <a:off x="46383" y="1574791"/>
            <a:ext cx="4214191" cy="3294389"/>
          </a:xfrm>
          <a:prstGeom prst="rect">
            <a:avLst/>
          </a:prstGeom>
        </p:spPr>
      </p:pic>
      <p:pic>
        <p:nvPicPr>
          <p:cNvPr id="15" name="Picture 14">
            <a:extLst>
              <a:ext uri="{FF2B5EF4-FFF2-40B4-BE49-F238E27FC236}">
                <a16:creationId xmlns:a16="http://schemas.microsoft.com/office/drawing/2014/main" id="{FD398682-049B-DE52-C9BA-670B40E47C65}"/>
              </a:ext>
            </a:extLst>
          </p:cNvPr>
          <p:cNvPicPr>
            <a:picLocks noChangeAspect="1"/>
          </p:cNvPicPr>
          <p:nvPr/>
        </p:nvPicPr>
        <p:blipFill>
          <a:blip r:embed="rId4"/>
          <a:stretch>
            <a:fillRect/>
          </a:stretch>
        </p:blipFill>
        <p:spPr>
          <a:xfrm>
            <a:off x="4316897" y="1574791"/>
            <a:ext cx="4748246" cy="1764196"/>
          </a:xfrm>
          <a:prstGeom prst="rect">
            <a:avLst/>
          </a:prstGeom>
        </p:spPr>
      </p:pic>
      <p:sp>
        <p:nvSpPr>
          <p:cNvPr id="16" name="TextBox 15">
            <a:extLst>
              <a:ext uri="{FF2B5EF4-FFF2-40B4-BE49-F238E27FC236}">
                <a16:creationId xmlns:a16="http://schemas.microsoft.com/office/drawing/2014/main" id="{967A612E-EA8A-53D4-1637-3F7A2FD8161D}"/>
              </a:ext>
            </a:extLst>
          </p:cNvPr>
          <p:cNvSpPr txBox="1"/>
          <p:nvPr/>
        </p:nvSpPr>
        <p:spPr>
          <a:xfrm>
            <a:off x="1171638" y="1102386"/>
            <a:ext cx="1963679" cy="369332"/>
          </a:xfrm>
          <a:prstGeom prst="rect">
            <a:avLst/>
          </a:prstGeom>
          <a:noFill/>
        </p:spPr>
        <p:txBody>
          <a:bodyPr wrap="none" rtlCol="0">
            <a:spAutoFit/>
          </a:bodyPr>
          <a:lstStyle/>
          <a:p>
            <a:r>
              <a:rPr lang="en-US" i="1" dirty="0"/>
              <a:t>Undisciplined code</a:t>
            </a:r>
          </a:p>
        </p:txBody>
      </p:sp>
      <p:sp>
        <p:nvSpPr>
          <p:cNvPr id="17" name="TextBox 16">
            <a:extLst>
              <a:ext uri="{FF2B5EF4-FFF2-40B4-BE49-F238E27FC236}">
                <a16:creationId xmlns:a16="http://schemas.microsoft.com/office/drawing/2014/main" id="{26CC5917-1D6E-8081-11B9-FC74FE660BD4}"/>
              </a:ext>
            </a:extLst>
          </p:cNvPr>
          <p:cNvSpPr txBox="1"/>
          <p:nvPr/>
        </p:nvSpPr>
        <p:spPr>
          <a:xfrm>
            <a:off x="5241236" y="1102386"/>
            <a:ext cx="1712200" cy="369332"/>
          </a:xfrm>
          <a:prstGeom prst="rect">
            <a:avLst/>
          </a:prstGeom>
          <a:noFill/>
        </p:spPr>
        <p:txBody>
          <a:bodyPr wrap="none" rtlCol="0">
            <a:spAutoFit/>
          </a:bodyPr>
          <a:lstStyle/>
          <a:p>
            <a:r>
              <a:rPr lang="en-US" i="1" dirty="0"/>
              <a:t>Refactored code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42B03A4-1FF5-660B-2D11-379927E7683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4940B7-CABF-D0CD-1E08-4F2B1350227B}"/>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Writing Good Functions</a:t>
            </a:r>
            <a:endParaRPr lang="en-US" sz="2600" dirty="0"/>
          </a:p>
        </p:txBody>
      </p:sp>
      <p:sp>
        <p:nvSpPr>
          <p:cNvPr id="3" name="Shape 1">
            <a:extLst>
              <a:ext uri="{FF2B5EF4-FFF2-40B4-BE49-F238E27FC236}">
                <a16:creationId xmlns:a16="http://schemas.microsoft.com/office/drawing/2014/main" id="{D4155CAB-CC76-00BC-63C8-55B9059A1F15}"/>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15ED4150-3BB5-AF2F-6E56-A6B8806CFDAF}"/>
              </a:ext>
            </a:extLst>
          </p:cNvPr>
          <p:cNvSpPr/>
          <p:nvPr/>
        </p:nvSpPr>
        <p:spPr>
          <a:xfrm>
            <a:off x="548640" y="1051559"/>
            <a:ext cx="8046720" cy="2784018"/>
          </a:xfrm>
          <a:prstGeom prst="rect">
            <a:avLst/>
          </a:prstGeom>
          <a:noFill/>
          <a:ln/>
        </p:spPr>
        <p:txBody>
          <a:bodyPr wrap="square" lIns="0" tIns="0" rIns="0" bIns="0" rtlCol="0" anchor="t" anchorCtr="0"/>
          <a:lstStyle/>
          <a:p>
            <a:pPr marL="0" indent="0" algn="l">
              <a:buNone/>
            </a:pPr>
            <a:r>
              <a:rPr lang="en-US" sz="1250" b="1" dirty="0">
                <a:solidFill>
                  <a:srgbClr val="555555"/>
                </a:solidFill>
                <a:latin typeface="Calibri" pitchFamily="34" charset="0"/>
                <a:cs typeface="Calibri" pitchFamily="34" charset="-120"/>
              </a:rPr>
              <a:t>Single responsibility: </a:t>
            </a:r>
            <a:r>
              <a:rPr lang="en-US" sz="1250" dirty="0">
                <a:solidFill>
                  <a:srgbClr val="555555"/>
                </a:solidFill>
                <a:latin typeface="Calibri" pitchFamily="34" charset="0"/>
                <a:cs typeface="Calibri" pitchFamily="34" charset="-120"/>
              </a:rPr>
              <a:t>Do one thing</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Naming: </a:t>
            </a:r>
            <a:r>
              <a:rPr lang="en-US" sz="1250" dirty="0">
                <a:solidFill>
                  <a:srgbClr val="555555"/>
                </a:solidFill>
                <a:latin typeface="Calibri" pitchFamily="34" charset="0"/>
                <a:cs typeface="Calibri" pitchFamily="34" charset="-120"/>
              </a:rPr>
              <a:t>verb, describes what it does, not how</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Minimize: </a:t>
            </a:r>
            <a:r>
              <a:rPr lang="en-US" sz="1250" dirty="0">
                <a:solidFill>
                  <a:srgbClr val="555555"/>
                </a:solidFill>
                <a:latin typeface="Calibri" pitchFamily="34" charset="0"/>
                <a:cs typeface="Calibri" pitchFamily="34" charset="-120"/>
              </a:rPr>
              <a:t>arguments (parameters)</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Limit: </a:t>
            </a:r>
            <a:r>
              <a:rPr lang="en-US" sz="1250" dirty="0">
                <a:solidFill>
                  <a:srgbClr val="555555"/>
                </a:solidFill>
                <a:latin typeface="Calibri" pitchFamily="34" charset="0"/>
                <a:cs typeface="Calibri" pitchFamily="34" charset="-120"/>
              </a:rPr>
              <a:t>indentation</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Pure: </a:t>
            </a:r>
            <a:r>
              <a:rPr lang="en-US" sz="1250" dirty="0">
                <a:solidFill>
                  <a:srgbClr val="555555"/>
                </a:solidFill>
                <a:latin typeface="Calibri" pitchFamily="34" charset="0"/>
                <a:cs typeface="Calibri" pitchFamily="34" charset="-120"/>
              </a:rPr>
              <a:t>don’t rely on state (global variables) outside of function, don’t change state outside of function</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Length</a:t>
            </a:r>
            <a:r>
              <a:rPr lang="en-US" sz="1250" dirty="0">
                <a:solidFill>
                  <a:srgbClr val="555555"/>
                </a:solidFill>
                <a:latin typeface="Calibri" pitchFamily="34" charset="0"/>
                <a:cs typeface="Calibri" pitchFamily="34" charset="-120"/>
              </a:rPr>
              <a:t>: ideally 1 -30 lines, 50 lines max.  Less is better.  Scroll test</a:t>
            </a:r>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Group</a:t>
            </a:r>
            <a:r>
              <a:rPr lang="en-US" sz="1250" dirty="0">
                <a:solidFill>
                  <a:srgbClr val="555555"/>
                </a:solidFill>
                <a:latin typeface="Calibri" pitchFamily="34" charset="0"/>
                <a:cs typeface="Calibri" pitchFamily="34" charset="-120"/>
              </a:rPr>
              <a:t>: related functions (more than a few) should live in a separate file</a:t>
            </a:r>
            <a:endParaRPr lang="en-US" sz="1250" dirty="0"/>
          </a:p>
        </p:txBody>
      </p:sp>
    </p:spTree>
    <p:extLst>
      <p:ext uri="{BB962C8B-B14F-4D97-AF65-F5344CB8AC3E}">
        <p14:creationId xmlns:p14="http://schemas.microsoft.com/office/powerpoint/2010/main" val="777798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0158F888-D676-91F3-6F3C-F2A925E054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7C46F7-97E3-7161-C7D5-656A3D7081E5}"/>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Split: A Function Emerges</a:t>
            </a:r>
            <a:endParaRPr lang="en-US" sz="2600" dirty="0"/>
          </a:p>
        </p:txBody>
      </p:sp>
      <p:sp>
        <p:nvSpPr>
          <p:cNvPr id="3" name="Shape 1">
            <a:extLst>
              <a:ext uri="{FF2B5EF4-FFF2-40B4-BE49-F238E27FC236}">
                <a16:creationId xmlns:a16="http://schemas.microsoft.com/office/drawing/2014/main" id="{55723E08-5AFA-8104-2599-3269902C0E8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6" name="Text 4">
            <a:extLst>
              <a:ext uri="{FF2B5EF4-FFF2-40B4-BE49-F238E27FC236}">
                <a16:creationId xmlns:a16="http://schemas.microsoft.com/office/drawing/2014/main" id="{115840C0-AC67-622B-FF22-E7E301B286A7}"/>
              </a:ext>
            </a:extLst>
          </p:cNvPr>
          <p:cNvSpPr/>
          <p:nvPr/>
        </p:nvSpPr>
        <p:spPr>
          <a:xfrm>
            <a:off x="597761" y="4280595"/>
            <a:ext cx="3805797"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Type hints </a:t>
            </a:r>
            <a:r>
              <a:rPr lang="en-US" sz="1200" dirty="0">
                <a:solidFill>
                  <a:srgbClr val="555555"/>
                </a:solidFill>
                <a:latin typeface="Calibri" pitchFamily="34" charset="0"/>
                <a:ea typeface="Calibri" pitchFamily="34" charset="-122"/>
                <a:cs typeface="Calibri" pitchFamily="34" charset="-120"/>
              </a:rPr>
              <a:t>tell you what goes in and what comes out.</a:t>
            </a:r>
            <a:endParaRPr lang="en-US" sz="1200" dirty="0"/>
          </a:p>
        </p:txBody>
      </p:sp>
      <p:sp>
        <p:nvSpPr>
          <p:cNvPr id="7" name="Text 5">
            <a:extLst>
              <a:ext uri="{FF2B5EF4-FFF2-40B4-BE49-F238E27FC236}">
                <a16:creationId xmlns:a16="http://schemas.microsoft.com/office/drawing/2014/main" id="{BA032F5D-9F23-1A70-3B31-BD4B3B5B7BFB}"/>
              </a:ext>
            </a:extLst>
          </p:cNvPr>
          <p:cNvSpPr/>
          <p:nvPr/>
        </p:nvSpPr>
        <p:spPr>
          <a:xfrm>
            <a:off x="597761" y="4527483"/>
            <a:ext cx="4485581"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Docstring</a:t>
            </a:r>
            <a:r>
              <a:rPr lang="en-US" sz="1200" dirty="0">
                <a:solidFill>
                  <a:srgbClr val="555555"/>
                </a:solidFill>
                <a:latin typeface="Calibri" pitchFamily="34" charset="0"/>
                <a:ea typeface="Calibri" pitchFamily="34" charset="-122"/>
                <a:cs typeface="Calibri" pitchFamily="34" charset="-120"/>
              </a:rPr>
              <a:t> tells you what it does in one line.</a:t>
            </a:r>
            <a:endParaRPr lang="en-US" sz="1200" dirty="0"/>
          </a:p>
        </p:txBody>
      </p:sp>
      <p:sp>
        <p:nvSpPr>
          <p:cNvPr id="8" name="Text 6">
            <a:extLst>
              <a:ext uri="{FF2B5EF4-FFF2-40B4-BE49-F238E27FC236}">
                <a16:creationId xmlns:a16="http://schemas.microsoft.com/office/drawing/2014/main" id="{84511890-2FED-E227-1C9F-75321145FDD6}"/>
              </a:ext>
            </a:extLst>
          </p:cNvPr>
          <p:cNvSpPr/>
          <p:nvPr/>
        </p:nvSpPr>
        <p:spPr>
          <a:xfrm>
            <a:off x="597761" y="4774371"/>
            <a:ext cx="4894655"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Pure function</a:t>
            </a:r>
            <a:r>
              <a:rPr lang="en-US" sz="1200" dirty="0">
                <a:solidFill>
                  <a:srgbClr val="555555"/>
                </a:solidFill>
                <a:latin typeface="Calibri" pitchFamily="34" charset="0"/>
                <a:ea typeface="Calibri" pitchFamily="34" charset="-122"/>
                <a:cs typeface="Calibri" pitchFamily="34" charset="-120"/>
              </a:rPr>
              <a:t> — no side effects, no global state, same input → same output.</a:t>
            </a:r>
            <a:endParaRPr lang="en-US" sz="1200" dirty="0"/>
          </a:p>
        </p:txBody>
      </p:sp>
      <p:pic>
        <p:nvPicPr>
          <p:cNvPr id="11" name="Picture 10">
            <a:extLst>
              <a:ext uri="{FF2B5EF4-FFF2-40B4-BE49-F238E27FC236}">
                <a16:creationId xmlns:a16="http://schemas.microsoft.com/office/drawing/2014/main" id="{30C2677B-35EB-B1E7-7B24-E2D62A7FEE96}"/>
              </a:ext>
            </a:extLst>
          </p:cNvPr>
          <p:cNvPicPr>
            <a:picLocks noChangeAspect="1"/>
          </p:cNvPicPr>
          <p:nvPr/>
        </p:nvPicPr>
        <p:blipFill>
          <a:blip r:embed="rId3"/>
          <a:stretch>
            <a:fillRect/>
          </a:stretch>
        </p:blipFill>
        <p:spPr>
          <a:xfrm>
            <a:off x="1053966" y="2647924"/>
            <a:ext cx="5773955" cy="1508772"/>
          </a:xfrm>
          <a:prstGeom prst="rect">
            <a:avLst/>
          </a:prstGeom>
        </p:spPr>
      </p:pic>
      <p:sp>
        <p:nvSpPr>
          <p:cNvPr id="9" name="Text 4">
            <a:extLst>
              <a:ext uri="{FF2B5EF4-FFF2-40B4-BE49-F238E27FC236}">
                <a16:creationId xmlns:a16="http://schemas.microsoft.com/office/drawing/2014/main" id="{7871EC46-C2CE-C45A-12E9-AF6EB9D072D0}"/>
              </a:ext>
            </a:extLst>
          </p:cNvPr>
          <p:cNvSpPr/>
          <p:nvPr/>
        </p:nvSpPr>
        <p:spPr>
          <a:xfrm>
            <a:off x="298977" y="941446"/>
            <a:ext cx="3805797"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From this:</a:t>
            </a:r>
            <a:endParaRPr lang="en-US" sz="1200" dirty="0"/>
          </a:p>
        </p:txBody>
      </p:sp>
      <p:sp>
        <p:nvSpPr>
          <p:cNvPr id="10" name="Text 4">
            <a:extLst>
              <a:ext uri="{FF2B5EF4-FFF2-40B4-BE49-F238E27FC236}">
                <a16:creationId xmlns:a16="http://schemas.microsoft.com/office/drawing/2014/main" id="{9B0784DD-981D-7554-70A2-17946B684665}"/>
              </a:ext>
            </a:extLst>
          </p:cNvPr>
          <p:cNvSpPr/>
          <p:nvPr/>
        </p:nvSpPr>
        <p:spPr>
          <a:xfrm>
            <a:off x="294164" y="2629308"/>
            <a:ext cx="699643"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To this:</a:t>
            </a:r>
            <a:endParaRPr lang="en-US" sz="1200" dirty="0"/>
          </a:p>
        </p:txBody>
      </p:sp>
      <p:pic>
        <p:nvPicPr>
          <p:cNvPr id="12" name="Picture 11">
            <a:extLst>
              <a:ext uri="{FF2B5EF4-FFF2-40B4-BE49-F238E27FC236}">
                <a16:creationId xmlns:a16="http://schemas.microsoft.com/office/drawing/2014/main" id="{8752BC72-D8A8-D5B9-4019-76213B4DFACE}"/>
              </a:ext>
            </a:extLst>
          </p:cNvPr>
          <p:cNvPicPr>
            <a:picLocks noChangeAspect="1"/>
          </p:cNvPicPr>
          <p:nvPr/>
        </p:nvPicPr>
        <p:blipFill>
          <a:blip r:embed="rId4"/>
          <a:stretch>
            <a:fillRect/>
          </a:stretch>
        </p:blipFill>
        <p:spPr>
          <a:xfrm>
            <a:off x="1053966" y="956004"/>
            <a:ext cx="7169618" cy="1131314"/>
          </a:xfrm>
          <a:prstGeom prst="rect">
            <a:avLst/>
          </a:prstGeom>
        </p:spPr>
      </p:pic>
    </p:spTree>
    <p:extLst>
      <p:ext uri="{BB962C8B-B14F-4D97-AF65-F5344CB8AC3E}">
        <p14:creationId xmlns:p14="http://schemas.microsoft.com/office/powerpoint/2010/main" val="3922138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E9BBC5C-7F0C-2D5E-371C-909ECDAEFA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0CBDCB-E842-BD7C-010E-41692327D9A1}"/>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Functions: Before and After</a:t>
            </a:r>
            <a:endParaRPr lang="en-US" sz="2600" dirty="0"/>
          </a:p>
        </p:txBody>
      </p:sp>
      <p:sp>
        <p:nvSpPr>
          <p:cNvPr id="3" name="Shape 1">
            <a:extLst>
              <a:ext uri="{FF2B5EF4-FFF2-40B4-BE49-F238E27FC236}">
                <a16:creationId xmlns:a16="http://schemas.microsoft.com/office/drawing/2014/main" id="{34804662-D2BE-9BCF-2D45-080AA7E63BF9}"/>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DEC94E2C-1D28-DED2-FB95-B084D8D84277}"/>
              </a:ext>
            </a:extLst>
          </p:cNvPr>
          <p:cNvSpPr/>
          <p:nvPr/>
        </p:nvSpPr>
        <p:spPr>
          <a:xfrm>
            <a:off x="548639" y="1216152"/>
            <a:ext cx="4967840" cy="274320"/>
          </a:xfrm>
          <a:prstGeom prst="rect">
            <a:avLst/>
          </a:prstGeom>
          <a:noFill/>
          <a:ln/>
        </p:spPr>
        <p:txBody>
          <a:bodyPr wrap="square" lIns="0" tIns="0" rIns="0" bIns="0" rtlCol="0" anchor="ctr"/>
          <a:lstStyle/>
          <a:p>
            <a:pPr marL="0" indent="0" algn="l">
              <a:buNone/>
            </a:pPr>
            <a:r>
              <a:rPr lang="en-US" sz="1300" b="1" i="1" dirty="0">
                <a:solidFill>
                  <a:srgbClr val="1A1A1A"/>
                </a:solidFill>
                <a:latin typeface="Calibri" pitchFamily="34" charset="0"/>
                <a:cs typeface="Calibri" pitchFamily="34" charset="-120"/>
              </a:rPr>
              <a:t>Show </a:t>
            </a:r>
            <a:r>
              <a:rPr lang="en-US" sz="1300" b="1" i="1" dirty="0" err="1">
                <a:solidFill>
                  <a:srgbClr val="1A1A1A"/>
                </a:solidFill>
                <a:latin typeface="Calibri" pitchFamily="34" charset="0"/>
                <a:cs typeface="Calibri" pitchFamily="34" charset="-120"/>
              </a:rPr>
              <a:t>bad_analysis.py</a:t>
            </a:r>
            <a:r>
              <a:rPr lang="en-US" sz="1300" b="1" i="1" dirty="0">
                <a:solidFill>
                  <a:srgbClr val="1A1A1A"/>
                </a:solidFill>
                <a:latin typeface="Calibri" pitchFamily="34" charset="0"/>
                <a:cs typeface="Calibri" pitchFamily="34" charset="-120"/>
              </a:rPr>
              <a:t> vs. </a:t>
            </a:r>
            <a:r>
              <a:rPr lang="en-US" sz="1300" b="1" i="1" dirty="0" err="1">
                <a:solidFill>
                  <a:srgbClr val="1A1A1A"/>
                </a:solidFill>
                <a:latin typeface="Calibri" pitchFamily="34" charset="0"/>
                <a:cs typeface="Calibri" pitchFamily="34" charset="-120"/>
              </a:rPr>
              <a:t>good_analysis.py</a:t>
            </a:r>
            <a:r>
              <a:rPr lang="en-US" sz="1300" b="1" i="1" dirty="0">
                <a:solidFill>
                  <a:srgbClr val="1A1A1A"/>
                </a:solidFill>
                <a:latin typeface="Calibri" pitchFamily="34" charset="0"/>
                <a:cs typeface="Calibri" pitchFamily="34" charset="-120"/>
              </a:rPr>
              <a:t> side by side.</a:t>
            </a:r>
            <a:endParaRPr lang="en-US" sz="1300" i="1" dirty="0"/>
          </a:p>
        </p:txBody>
      </p:sp>
    </p:spTree>
    <p:extLst>
      <p:ext uri="{BB962C8B-B14F-4D97-AF65-F5344CB8AC3E}">
        <p14:creationId xmlns:p14="http://schemas.microsoft.com/office/powerpoint/2010/main" val="25900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7B08D260-E302-F59C-AF82-002315F6D1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59F707-6435-98EB-7AEF-C8B963BC2BBC}"/>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Tips: Creating Functions</a:t>
            </a:r>
            <a:endParaRPr lang="en-US" sz="2600" dirty="0"/>
          </a:p>
        </p:txBody>
      </p:sp>
      <p:sp>
        <p:nvSpPr>
          <p:cNvPr id="3" name="Shape 1">
            <a:extLst>
              <a:ext uri="{FF2B5EF4-FFF2-40B4-BE49-F238E27FC236}">
                <a16:creationId xmlns:a16="http://schemas.microsoft.com/office/drawing/2014/main" id="{815ABF16-A490-9B79-9EE4-235D36308018}"/>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8199C731-2F79-0B7A-0A99-DA9B2C196C29}"/>
              </a:ext>
            </a:extLst>
          </p:cNvPr>
          <p:cNvSpPr/>
          <p:nvPr/>
        </p:nvSpPr>
        <p:spPr>
          <a:xfrm>
            <a:off x="548640" y="1051560"/>
            <a:ext cx="8046720" cy="1670224"/>
          </a:xfrm>
          <a:prstGeom prst="rect">
            <a:avLst/>
          </a:prstGeom>
          <a:noFill/>
          <a:ln/>
        </p:spPr>
        <p:txBody>
          <a:bodyPr wrap="square" lIns="0" tIns="0" rIns="0" bIns="0" rtlCol="0" anchor="ctr"/>
          <a:lstStyle/>
          <a:p>
            <a:pPr marL="0" indent="0" algn="l">
              <a:buNone/>
            </a:pPr>
            <a:r>
              <a:rPr lang="en-US" sz="1600" b="1" dirty="0">
                <a:solidFill>
                  <a:srgbClr val="555555"/>
                </a:solidFill>
                <a:latin typeface="Calibri" pitchFamily="34" charset="0"/>
                <a:cs typeface="Calibri" pitchFamily="34" charset="-120"/>
              </a:rPr>
              <a:t>Two contexts to be aware of:</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Extracting functions from existing code – </a:t>
            </a:r>
            <a:r>
              <a:rPr lang="en-US" sz="1600" i="1" dirty="0">
                <a:solidFill>
                  <a:srgbClr val="555555"/>
                </a:solidFill>
                <a:latin typeface="Calibri" pitchFamily="34" charset="0"/>
                <a:cs typeface="Calibri" pitchFamily="34" charset="-120"/>
              </a:rPr>
              <a:t>also known as refactoring</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Writing functions from the start – </a:t>
            </a:r>
            <a:r>
              <a:rPr lang="en-US" sz="1600" i="1" dirty="0">
                <a:solidFill>
                  <a:srgbClr val="555555"/>
                </a:solidFill>
                <a:latin typeface="Calibri" pitchFamily="34" charset="0"/>
                <a:cs typeface="Calibri" pitchFamily="34" charset="-120"/>
              </a:rPr>
              <a:t>design of new code</a:t>
            </a:r>
          </a:p>
          <a:p>
            <a:pPr marL="0" indent="0" algn="l">
              <a:buNone/>
            </a:pPr>
            <a:endParaRPr lang="en-US" sz="1250" dirty="0"/>
          </a:p>
        </p:txBody>
      </p:sp>
    </p:spTree>
    <p:extLst>
      <p:ext uri="{BB962C8B-B14F-4D97-AF65-F5344CB8AC3E}">
        <p14:creationId xmlns:p14="http://schemas.microsoft.com/office/powerpoint/2010/main" val="1726464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2AF5CC9-6C98-668D-C7EF-123CB52521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493125-70EA-56E0-5296-7615C6891AA8}"/>
              </a:ext>
            </a:extLst>
          </p:cNvPr>
          <p:cNvSpPr/>
          <p:nvPr/>
        </p:nvSpPr>
        <p:spPr>
          <a:xfrm>
            <a:off x="548640" y="274320"/>
            <a:ext cx="8046720" cy="640080"/>
          </a:xfrm>
          <a:prstGeom prst="rect">
            <a:avLst/>
          </a:prstGeom>
          <a:noFill/>
          <a:ln/>
        </p:spPr>
        <p:txBody>
          <a:bodyPr wrap="square" lIns="0" tIns="0" rIns="0" bIns="0" rtlCol="0" anchor="ctr"/>
          <a:lstStyle/>
          <a:p>
            <a:r>
              <a:rPr lang="en-US" sz="2600" dirty="0">
                <a:solidFill>
                  <a:srgbClr val="1A1A1A"/>
                </a:solidFill>
                <a:latin typeface="Georgia" pitchFamily="34" charset="0"/>
              </a:rPr>
              <a:t>Tips: Extracting Functions from Existing Code</a:t>
            </a:r>
            <a:endParaRPr lang="en-US" sz="2600" dirty="0"/>
          </a:p>
        </p:txBody>
      </p:sp>
      <p:sp>
        <p:nvSpPr>
          <p:cNvPr id="3" name="Shape 1">
            <a:extLst>
              <a:ext uri="{FF2B5EF4-FFF2-40B4-BE49-F238E27FC236}">
                <a16:creationId xmlns:a16="http://schemas.microsoft.com/office/drawing/2014/main" id="{CF476FFF-3994-9AC6-D6F8-88E504352D2A}"/>
              </a:ext>
            </a:extLst>
          </p:cNvPr>
          <p:cNvSpPr/>
          <p:nvPr/>
        </p:nvSpPr>
        <p:spPr>
          <a:xfrm>
            <a:off x="548640" y="914400"/>
            <a:ext cx="1371600" cy="27432"/>
          </a:xfrm>
          <a:prstGeom prst="rect">
            <a:avLst/>
          </a:prstGeom>
          <a:solidFill>
            <a:srgbClr val="C8A951"/>
          </a:solidFill>
          <a:ln/>
        </p:spPr>
        <p:txBody>
          <a:bodyPr/>
          <a:lstStyle/>
          <a:p>
            <a:endParaRPr lang="en-US"/>
          </a:p>
        </p:txBody>
      </p:sp>
      <p:graphicFrame>
        <p:nvGraphicFramePr>
          <p:cNvPr id="4" name="Table 0">
            <a:extLst>
              <a:ext uri="{FF2B5EF4-FFF2-40B4-BE49-F238E27FC236}">
                <a16:creationId xmlns:a16="http://schemas.microsoft.com/office/drawing/2014/main" id="{31E0F32E-CF9E-4419-2C96-6B3D186EFC01}"/>
              </a:ext>
            </a:extLst>
          </p:cNvPr>
          <p:cNvGraphicFramePr>
            <a:graphicFrameLocks noGrp="1"/>
          </p:cNvGraphicFramePr>
          <p:nvPr>
            <p:extLst>
              <p:ext uri="{D42A27DB-BD31-4B8C-83A1-F6EECF244321}">
                <p14:modId xmlns:p14="http://schemas.microsoft.com/office/powerpoint/2010/main" val="4184193472"/>
              </p:ext>
            </p:extLst>
          </p:nvPr>
        </p:nvGraphicFramePr>
        <p:xfrm>
          <a:off x="548640" y="1925541"/>
          <a:ext cx="7241807" cy="1577340"/>
        </p:xfrm>
        <a:graphic>
          <a:graphicData uri="http://schemas.openxmlformats.org/drawingml/2006/table">
            <a:tbl>
              <a:tblPr/>
              <a:tblGrid>
                <a:gridCol w="3289435">
                  <a:extLst>
                    <a:ext uri="{9D8B030D-6E8A-4147-A177-3AD203B41FA5}">
                      <a16:colId xmlns:a16="http://schemas.microsoft.com/office/drawing/2014/main" val="20000"/>
                    </a:ext>
                  </a:extLst>
                </a:gridCol>
                <a:gridCol w="3952372">
                  <a:extLst>
                    <a:ext uri="{9D8B030D-6E8A-4147-A177-3AD203B41FA5}">
                      <a16:colId xmlns:a16="http://schemas.microsoft.com/office/drawing/2014/main" val="20001"/>
                    </a:ext>
                  </a:extLst>
                </a:gridCol>
              </a:tblGrid>
              <a:tr h="0">
                <a:tc>
                  <a:txBody>
                    <a:bodyPr/>
                    <a:lstStyle/>
                    <a:p>
                      <a:pPr marL="0" indent="0">
                        <a:spcBef>
                          <a:spcPts val="400"/>
                        </a:spcBef>
                        <a:spcAft>
                          <a:spcPts val="400"/>
                        </a:spcAft>
                        <a:buNone/>
                      </a:pPr>
                      <a:r>
                        <a:rPr lang="en-US" sz="1100" dirty="0">
                          <a:solidFill>
                            <a:schemeClr val="bg1"/>
                          </a:solidFill>
                          <a:latin typeface="Georgia" charset="0"/>
                          <a:ea typeface="Georgia" charset="0"/>
                          <a:cs typeface="Georgia" charset="0"/>
                        </a:rPr>
                        <a:t>Signal</a:t>
                      </a: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tc>
                  <a:txBody>
                    <a:bodyPr/>
                    <a:lstStyle/>
                    <a:p>
                      <a:pPr marL="0" indent="0">
                        <a:spcBef>
                          <a:spcPts val="400"/>
                        </a:spcBef>
                        <a:spcAft>
                          <a:spcPts val="400"/>
                        </a:spcAft>
                        <a:buNone/>
                      </a:pPr>
                      <a:r>
                        <a:rPr lang="en-US" sz="1100" b="1" dirty="0">
                          <a:solidFill>
                            <a:srgbClr val="FFFFFF"/>
                          </a:solidFill>
                          <a:latin typeface="Georgia" pitchFamily="34" charset="0"/>
                          <a:ea typeface="Georgia" charset="0"/>
                          <a:cs typeface="Georgia" charset="0"/>
                        </a:rPr>
                        <a:t>What it means</a:t>
                      </a:r>
                      <a:endParaRPr lang="en-US" sz="1100" dirty="0">
                        <a:latin typeface="Georgia" charset="0"/>
                        <a:ea typeface="Georgia" charset="0"/>
                        <a:cs typeface="Georgia"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0">
                <a:tc>
                  <a:txBody>
                    <a:bodyPr/>
                    <a:lstStyle/>
                    <a:p>
                      <a:pPr marL="0" indent="0">
                        <a:spcBef>
                          <a:spcPts val="400"/>
                        </a:spcBef>
                        <a:spcAft>
                          <a:spcPts val="400"/>
                        </a:spcAft>
                        <a:buNone/>
                      </a:pPr>
                      <a:r>
                        <a:rPr lang="en-US" sz="1050" dirty="0"/>
                        <a:t>You wrote a comment describing the next block</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t>That comment is a function name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spcBef>
                          <a:spcPts val="400"/>
                        </a:spcBef>
                        <a:spcAft>
                          <a:spcPts val="400"/>
                        </a:spcAft>
                        <a:buNone/>
                      </a:pPr>
                      <a:r>
                        <a:rPr lang="en-US" sz="1050" dirty="0"/>
                        <a:t>You copy-pasted code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t>Extract it before the copies diverge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2"/>
                  </a:ext>
                </a:extLst>
              </a:tr>
              <a:tr h="0">
                <a:tc>
                  <a:txBody>
                    <a:bodyPr/>
                    <a:lstStyle/>
                    <a:p>
                      <a:pPr marL="0" indent="0">
                        <a:spcBef>
                          <a:spcPts val="400"/>
                        </a:spcBef>
                        <a:spcAft>
                          <a:spcPts val="400"/>
                        </a:spcAft>
                        <a:buNone/>
                      </a:pPr>
                      <a:r>
                        <a:rPr lang="en-US" sz="1050" dirty="0"/>
                        <a:t>You said "and" describing what a block does</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t>That's two or more functions</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spcBef>
                          <a:spcPts val="400"/>
                        </a:spcBef>
                        <a:spcAft>
                          <a:spcPts val="400"/>
                        </a:spcAft>
                        <a:buNone/>
                      </a:pPr>
                      <a:r>
                        <a:rPr lang="en-US" sz="1050" dirty="0"/>
                        <a:t>You can't test it without running the whole script</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tc>
                  <a:txBody>
                    <a:bodyPr/>
                    <a:lstStyle/>
                    <a:p>
                      <a:pPr marL="0" indent="0">
                        <a:spcBef>
                          <a:spcPts val="400"/>
                        </a:spcBef>
                        <a:spcAft>
                          <a:spcPts val="400"/>
                        </a:spcAft>
                        <a:buNone/>
                      </a:pPr>
                      <a:r>
                        <a:rPr lang="en-US" sz="1050" dirty="0"/>
                        <a:t>It's trapped — extract it</a:t>
                      </a:r>
                      <a:endParaRPr lang="en-US" sz="1050" i="1"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EDECE8"/>
                    </a:solidFill>
                  </a:tcPr>
                </a:tc>
                <a:extLst>
                  <a:ext uri="{0D108BD9-81ED-4DB2-BD59-A6C34878D82A}">
                    <a16:rowId xmlns:a16="http://schemas.microsoft.com/office/drawing/2014/main" val="10004"/>
                  </a:ext>
                </a:extLst>
              </a:tr>
              <a:tr h="0">
                <a:tc>
                  <a:txBody>
                    <a:bodyPr/>
                    <a:lstStyle/>
                    <a:p>
                      <a:pPr marL="0" indent="0">
                        <a:spcBef>
                          <a:spcPts val="400"/>
                        </a:spcBef>
                        <a:spcAft>
                          <a:spcPts val="400"/>
                        </a:spcAft>
                        <a:buNone/>
                      </a:pPr>
                      <a:r>
                        <a:rPr lang="en-US" sz="1050" dirty="0"/>
                        <a:t>You're scrolling to remember what something does</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tc>
                  <a:txBody>
                    <a:bodyPr/>
                    <a:lstStyle/>
                    <a:p>
                      <a:pPr marL="0" indent="0">
                        <a:spcBef>
                          <a:spcPts val="400"/>
                        </a:spcBef>
                        <a:spcAft>
                          <a:spcPts val="400"/>
                        </a:spcAft>
                        <a:buNone/>
                      </a:pPr>
                      <a:r>
                        <a:rPr lang="en-US" sz="1050" dirty="0"/>
                        <a:t>It needs a name</a:t>
                      </a:r>
                      <a:endParaRPr lang="en-US" sz="1050" dirty="0">
                        <a:latin typeface="Calibri" charset="0"/>
                        <a:ea typeface="Calibri" charset="0"/>
                        <a:cs typeface="Calibri" charset="0"/>
                      </a:endParaRPr>
                    </a:p>
                  </a:txBody>
                  <a:tcPr marL="101600" marR="101600" marT="50800" marB="50800" anchor="ctr">
                    <a:lnL w="6350" cap="flat" cmpd="sng" algn="ctr">
                      <a:solidFill>
                        <a:srgbClr val="E0DDD5"/>
                      </a:solidFill>
                      <a:prstDash val="solid"/>
                      <a:round/>
                      <a:headEnd type="none" w="med" len="med"/>
                      <a:tailEnd type="none" w="med" len="med"/>
                    </a:lnL>
                    <a:lnR w="6350" cap="flat" cmpd="sng" algn="ctr">
                      <a:solidFill>
                        <a:srgbClr val="E0DDD5"/>
                      </a:solidFill>
                      <a:prstDash val="solid"/>
                      <a:round/>
                      <a:headEnd type="none" w="med" len="med"/>
                      <a:tailEnd type="none" w="med" len="med"/>
                    </a:lnR>
                    <a:lnT w="6350" cap="flat" cmpd="sng" algn="ctr">
                      <a:solidFill>
                        <a:srgbClr val="E0DDD5"/>
                      </a:solidFill>
                      <a:prstDash val="solid"/>
                      <a:round/>
                      <a:headEnd type="none" w="med" len="med"/>
                      <a:tailEnd type="none" w="med" len="med"/>
                    </a:lnT>
                    <a:lnB w="6350" cap="flat" cmpd="sng" algn="ctr">
                      <a:solidFill>
                        <a:srgbClr val="E0DDD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BB12978-FB2E-B54D-5286-4C6569C93E2F}"/>
              </a:ext>
            </a:extLst>
          </p:cNvPr>
          <p:cNvSpPr txBox="1"/>
          <p:nvPr/>
        </p:nvSpPr>
        <p:spPr>
          <a:xfrm>
            <a:off x="548640" y="1231314"/>
            <a:ext cx="5832046" cy="646331"/>
          </a:xfrm>
          <a:prstGeom prst="rect">
            <a:avLst/>
          </a:prstGeom>
          <a:noFill/>
        </p:spPr>
        <p:txBody>
          <a:bodyPr wrap="none" rtlCol="0">
            <a:spAutoFit/>
          </a:bodyPr>
          <a:lstStyle/>
          <a:p>
            <a:r>
              <a:rPr lang="en-US" b="1" i="1" dirty="0">
                <a:solidFill>
                  <a:srgbClr val="555555"/>
                </a:solidFill>
                <a:latin typeface="Calibri" pitchFamily="34" charset="0"/>
                <a:cs typeface="Calibri" pitchFamily="34" charset="-120"/>
              </a:rPr>
              <a:t>Notice when a function is trying to emerge from your code.</a:t>
            </a:r>
          </a:p>
          <a:p>
            <a:endParaRPr lang="en-US" dirty="0"/>
          </a:p>
        </p:txBody>
      </p:sp>
    </p:spTree>
    <p:extLst>
      <p:ext uri="{BB962C8B-B14F-4D97-AF65-F5344CB8AC3E}">
        <p14:creationId xmlns:p14="http://schemas.microsoft.com/office/powerpoint/2010/main" val="2800650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9DBD0F2-9525-6C3F-31B4-7B75308B2AB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4323472-2573-E9F3-6791-CEB9217FE37D}"/>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Tips: Designing/writing Functions for New Code</a:t>
            </a:r>
            <a:endParaRPr lang="en-US" sz="2600" dirty="0"/>
          </a:p>
        </p:txBody>
      </p:sp>
      <p:sp>
        <p:nvSpPr>
          <p:cNvPr id="3" name="Shape 1">
            <a:extLst>
              <a:ext uri="{FF2B5EF4-FFF2-40B4-BE49-F238E27FC236}">
                <a16:creationId xmlns:a16="http://schemas.microsoft.com/office/drawing/2014/main" id="{A89291EA-D72C-B93F-E442-10275CEC6ED3}"/>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1A88799E-0C7F-9C5A-7EA1-7CE580CD07B7}"/>
              </a:ext>
            </a:extLst>
          </p:cNvPr>
          <p:cNvSpPr/>
          <p:nvPr/>
        </p:nvSpPr>
        <p:spPr>
          <a:xfrm>
            <a:off x="548640" y="1223838"/>
            <a:ext cx="8046720" cy="2413884"/>
          </a:xfrm>
          <a:prstGeom prst="rect">
            <a:avLst/>
          </a:prstGeom>
          <a:noFill/>
          <a:ln/>
        </p:spPr>
        <p:txBody>
          <a:bodyPr wrap="square" lIns="0" tIns="0" rIns="0" bIns="0" rtlCol="0" anchor="ctr"/>
          <a:lstStyle/>
          <a:p>
            <a:pPr marL="0" indent="0" algn="l">
              <a:buNone/>
            </a:pPr>
            <a:r>
              <a:rPr lang="en-US" sz="1600" b="1" dirty="0">
                <a:solidFill>
                  <a:srgbClr val="555555"/>
                </a:solidFill>
                <a:latin typeface="Calibri" pitchFamily="34" charset="0"/>
                <a:cs typeface="Calibri" pitchFamily="34" charset="-120"/>
              </a:rPr>
              <a:t>Before diving into the implementation:</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First, understand the problem or purpose of the solution -  ask question, identify assumptions</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What is the expected result?  Define the output and what does it look like?</a:t>
            </a:r>
          </a:p>
          <a:p>
            <a:pPr marL="285750" indent="-285750">
              <a:buFont typeface="Arial" panose="020B0604020202020204" pitchFamily="34" charset="0"/>
              <a:buChar char="•"/>
            </a:pPr>
            <a:r>
              <a:rPr lang="en-US" sz="1600" dirty="0">
                <a:solidFill>
                  <a:srgbClr val="555555"/>
                </a:solidFill>
                <a:latin typeface="Calibri" pitchFamily="34" charset="0"/>
                <a:cs typeface="Calibri" pitchFamily="34" charset="-120"/>
              </a:rPr>
              <a:t>What is the input and what does it look like?</a:t>
            </a:r>
          </a:p>
          <a:p>
            <a:pPr marL="285750" indent="-285750">
              <a:buFont typeface="Arial" panose="020B0604020202020204" pitchFamily="34" charset="0"/>
              <a:buChar char="•"/>
            </a:pPr>
            <a:r>
              <a:rPr lang="en-US" sz="1600" dirty="0">
                <a:solidFill>
                  <a:srgbClr val="555555"/>
                </a:solidFill>
                <a:latin typeface="Calibri" pitchFamily="34" charset="0"/>
                <a:cs typeface="Calibri" pitchFamily="34" charset="-120"/>
              </a:rPr>
              <a:t>What are the constraints?</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Work backwards from the desired or expected output to form early steps how to get there</a:t>
            </a:r>
          </a:p>
          <a:p>
            <a:pPr marL="285750" indent="-285750" algn="l">
              <a:buFont typeface="Arial" panose="020B0604020202020204" pitchFamily="34" charset="0"/>
              <a:buChar char="•"/>
            </a:pPr>
            <a:r>
              <a:rPr lang="en-US" sz="1600" dirty="0">
                <a:solidFill>
                  <a:srgbClr val="555555"/>
                </a:solidFill>
                <a:latin typeface="Calibri" pitchFamily="34" charset="0"/>
                <a:cs typeface="Calibri" pitchFamily="34" charset="-120"/>
              </a:rPr>
              <a:t>Write functions first (even if they don’t do anything), write a test for the function, then iterate on the implementation of the function.</a:t>
            </a:r>
            <a:endParaRPr lang="en-US" sz="1600" i="1" dirty="0">
              <a:solidFill>
                <a:srgbClr val="555555"/>
              </a:solidFill>
              <a:latin typeface="Calibri" pitchFamily="34" charset="0"/>
              <a:cs typeface="Calibri" pitchFamily="34" charset="-120"/>
            </a:endParaRPr>
          </a:p>
          <a:p>
            <a:pPr marL="0" indent="0" algn="l">
              <a:buNone/>
            </a:pPr>
            <a:endParaRPr lang="en-US" sz="1250" dirty="0"/>
          </a:p>
        </p:txBody>
      </p:sp>
    </p:spTree>
    <p:extLst>
      <p:ext uri="{BB962C8B-B14F-4D97-AF65-F5344CB8AC3E}">
        <p14:creationId xmlns:p14="http://schemas.microsoft.com/office/powerpoint/2010/main" val="3972961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463040"/>
            <a:ext cx="7680960" cy="1280160"/>
          </a:xfrm>
          <a:prstGeom prst="rect">
            <a:avLst/>
          </a:prstGeom>
          <a:noFill/>
          <a:ln/>
        </p:spPr>
        <p:txBody>
          <a:bodyPr wrap="square" lIns="0" tIns="0" rIns="0" bIns="0" rtlCol="0" anchor="ctr"/>
          <a:lstStyle/>
          <a:p>
            <a:pPr marL="0" indent="0" algn="l">
              <a:buNone/>
            </a:pPr>
            <a:r>
              <a:rPr lang="en-US" sz="3200" dirty="0">
                <a:solidFill>
                  <a:srgbClr val="FFFFFF"/>
                </a:solidFill>
                <a:latin typeface="Georgia" pitchFamily="34" charset="0"/>
                <a:ea typeface="Georgia" pitchFamily="34" charset="-122"/>
                <a:cs typeface="Georgia" pitchFamily="34" charset="-120"/>
              </a:rPr>
              <a:t>Habit 3: Write Tests</a:t>
            </a:r>
            <a:endParaRPr lang="en-US" sz="3200" dirty="0"/>
          </a:p>
        </p:txBody>
      </p:sp>
      <p:sp>
        <p:nvSpPr>
          <p:cNvPr id="4" name="Text 2"/>
          <p:cNvSpPr/>
          <p:nvPr/>
        </p:nvSpPr>
        <p:spPr>
          <a:xfrm>
            <a:off x="731520" y="2834640"/>
            <a:ext cx="7680960" cy="548640"/>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ea typeface="Georgia" pitchFamily="34" charset="-122"/>
                <a:cs typeface="Georgia" pitchFamily="34" charset="-120"/>
              </a:rPr>
              <a:t>Trust, but verify — automatically</a:t>
            </a:r>
            <a:endParaRPr lang="en-US" sz="15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Why Test?</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Text 2"/>
          <p:cNvSpPr/>
          <p:nvPr/>
        </p:nvSpPr>
        <p:spPr>
          <a:xfrm>
            <a:off x="548640" y="105156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You already test </a:t>
            </a:r>
            <a:r>
              <a:rPr lang="en-US" sz="1250" dirty="0">
                <a:solidFill>
                  <a:srgbClr val="555555"/>
                </a:solidFill>
                <a:latin typeface="Calibri" pitchFamily="34" charset="0"/>
                <a:ea typeface="Calibri" pitchFamily="34" charset="-122"/>
                <a:cs typeface="Calibri" pitchFamily="34" charset="-120"/>
              </a:rPr>
              <a:t>— you just do it badly.</a:t>
            </a:r>
            <a:endParaRPr lang="en-US" sz="1250" dirty="0"/>
          </a:p>
        </p:txBody>
      </p:sp>
      <p:sp>
        <p:nvSpPr>
          <p:cNvPr id="5" name="Text 3"/>
          <p:cNvSpPr/>
          <p:nvPr/>
        </p:nvSpPr>
        <p:spPr>
          <a:xfrm>
            <a:off x="548640" y="132588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What you do now:</a:t>
            </a:r>
            <a:r>
              <a:rPr lang="en-US" sz="1250" dirty="0">
                <a:solidFill>
                  <a:srgbClr val="555555"/>
                </a:solidFill>
                <a:latin typeface="Calibri" pitchFamily="34" charset="0"/>
                <a:ea typeface="Calibri" pitchFamily="34" charset="-122"/>
                <a:cs typeface="Calibri" pitchFamily="34" charset="-120"/>
              </a:rPr>
              <a:t> Run the script. Look at the output. Think "that looks about right."</a:t>
            </a:r>
            <a:endParaRPr lang="en-US" sz="1250" dirty="0"/>
          </a:p>
        </p:txBody>
      </p:sp>
      <p:sp>
        <p:nvSpPr>
          <p:cNvPr id="6" name="Text 4"/>
          <p:cNvSpPr/>
          <p:nvPr/>
        </p:nvSpPr>
        <p:spPr>
          <a:xfrm>
            <a:off x="548640" y="160020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What could go wrong?</a:t>
            </a:r>
            <a:endParaRPr lang="en-US" sz="1250" b="1" dirty="0"/>
          </a:p>
        </p:txBody>
      </p:sp>
      <p:sp>
        <p:nvSpPr>
          <p:cNvPr id="7" name="Text 5"/>
          <p:cNvSpPr/>
          <p:nvPr/>
        </p:nvSpPr>
        <p:spPr>
          <a:xfrm>
            <a:off x="548640" y="1874520"/>
            <a:ext cx="8046720" cy="256032"/>
          </a:xfrm>
          <a:prstGeom prst="rect">
            <a:avLst/>
          </a:prstGeom>
          <a:noFill/>
          <a:ln/>
        </p:spPr>
        <p:txBody>
          <a:bodyPr wrap="square" lIns="0" tIns="0" rIns="0" bIns="0" rtlCol="0" anchor="ctr"/>
          <a:lstStyle/>
          <a:p>
            <a:pPr marL="0" indent="0" algn="l">
              <a:buNone/>
            </a:pPr>
            <a:r>
              <a:rPr lang="en-US" sz="1250" b="1" dirty="0">
                <a:solidFill>
                  <a:srgbClr val="555555"/>
                </a:solidFill>
                <a:latin typeface="Calibri" pitchFamily="34" charset="0"/>
                <a:ea typeface="Calibri" pitchFamily="34" charset="-122"/>
                <a:cs typeface="Calibri" pitchFamily="34" charset="-120"/>
              </a:rPr>
              <a:t>What testing gives you</a:t>
            </a:r>
            <a:r>
              <a:rPr lang="en-US" sz="1250" dirty="0">
                <a:solidFill>
                  <a:srgbClr val="555555"/>
                </a:solidFill>
                <a:latin typeface="Calibri" pitchFamily="34" charset="0"/>
                <a:ea typeface="Calibri" pitchFamily="34" charset="-122"/>
                <a:cs typeface="Calibri" pitchFamily="34" charset="-120"/>
              </a:rPr>
              <a:t>: A machine that checks your work, every time, in seconds.</a:t>
            </a:r>
            <a:endParaRPr lang="en-US" sz="1250" dirty="0"/>
          </a:p>
        </p:txBody>
      </p:sp>
      <p:sp>
        <p:nvSpPr>
          <p:cNvPr id="8" name="Text 6"/>
          <p:cNvSpPr/>
          <p:nvPr/>
        </p:nvSpPr>
        <p:spPr>
          <a:xfrm>
            <a:off x="548640" y="2148840"/>
            <a:ext cx="8046720" cy="960120"/>
          </a:xfrm>
          <a:prstGeom prst="rect">
            <a:avLst/>
          </a:prstGeom>
          <a:noFill/>
          <a:ln/>
        </p:spPr>
        <p:txBody>
          <a:bodyPr wrap="square" lIns="0" tIns="0" rIns="0" bIns="0" rtlCol="0" anchor="ctr"/>
          <a:lstStyle/>
          <a:p>
            <a:pPr marL="342900" indent="-342900" algn="l">
              <a:spcAft>
                <a:spcPts val="600"/>
              </a:spcAft>
              <a:buSzPct val="100000"/>
              <a:buChar char="•"/>
            </a:pPr>
            <a:r>
              <a:rPr lang="en-US" sz="1250" dirty="0">
                <a:solidFill>
                  <a:srgbClr val="555555"/>
                </a:solidFill>
                <a:latin typeface="Calibri" pitchFamily="34" charset="0"/>
                <a:ea typeface="Calibri" pitchFamily="34" charset="-122"/>
                <a:cs typeface="Calibri" pitchFamily="34" charset="-120"/>
              </a:rPr>
              <a:t>"Looks right" ≠ IS right</a:t>
            </a:r>
            <a:endParaRPr lang="en-US" sz="1250" dirty="0"/>
          </a:p>
          <a:p>
            <a:pPr marL="342900" indent="-342900" algn="l">
              <a:spcAft>
                <a:spcPts val="600"/>
              </a:spcAft>
              <a:buSzPct val="100000"/>
              <a:buChar char="•"/>
            </a:pPr>
            <a:r>
              <a:rPr lang="en-US" sz="1250" dirty="0">
                <a:solidFill>
                  <a:srgbClr val="555555"/>
                </a:solidFill>
                <a:latin typeface="Calibri" pitchFamily="34" charset="0"/>
                <a:ea typeface="Calibri" pitchFamily="34" charset="-122"/>
                <a:cs typeface="Calibri" pitchFamily="34" charset="-120"/>
              </a:rPr>
              <a:t>You can't remember what "right" looked like last month</a:t>
            </a:r>
            <a:endParaRPr lang="en-US" sz="1250" dirty="0"/>
          </a:p>
          <a:p>
            <a:pPr marL="342900" indent="-342900" algn="l">
              <a:spcAft>
                <a:spcPts val="600"/>
              </a:spcAft>
              <a:buSzPct val="100000"/>
              <a:buChar char="•"/>
            </a:pPr>
            <a:r>
              <a:rPr lang="en-US" sz="1250" dirty="0">
                <a:solidFill>
                  <a:srgbClr val="555555"/>
                </a:solidFill>
                <a:latin typeface="Calibri" pitchFamily="34" charset="0"/>
                <a:ea typeface="Calibri" pitchFamily="34" charset="-122"/>
                <a:cs typeface="Calibri" pitchFamily="34" charset="-120"/>
              </a:rPr>
              <a:t>You change one thing and silently break another</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A Test Is Just an Assert</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Shape 2"/>
          <p:cNvSpPr/>
          <p:nvPr/>
        </p:nvSpPr>
        <p:spPr>
          <a:xfrm>
            <a:off x="548640" y="1005840"/>
            <a:ext cx="8046720" cy="1572768"/>
          </a:xfrm>
          <a:prstGeom prst="rect">
            <a:avLst/>
          </a:prstGeom>
          <a:solidFill>
            <a:srgbClr val="2D2D2D"/>
          </a:solidFill>
          <a:ln/>
          <a:effectLst>
            <a:outerShdw blurRad="50800" dist="25400" dir="8100000" algn="bl" rotWithShape="0">
              <a:srgbClr val="000000">
                <a:alpha val="10000"/>
              </a:srgbClr>
            </a:outerShdw>
          </a:effectLst>
        </p:spPr>
        <p:txBody>
          <a:bodyPr/>
          <a:lstStyle/>
          <a:p>
            <a:endParaRPr lang="en-US"/>
          </a:p>
        </p:txBody>
      </p:sp>
      <p:sp>
        <p:nvSpPr>
          <p:cNvPr id="5" name="Text 3"/>
          <p:cNvSpPr/>
          <p:nvPr/>
        </p:nvSpPr>
        <p:spPr>
          <a:xfrm>
            <a:off x="731520" y="1078992"/>
            <a:ext cx="7680960" cy="1426464"/>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def test_sphere_volume_known_value():</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 20mm diameter → 10mm radius → (4/3) × π × 10³</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expected = (4 / 3) * math.pi * 1000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actual = calculate_sphere_volume(20)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math.isclose(actual, expected)</a:t>
            </a:r>
            <a:endParaRPr lang="en-US" sz="950" dirty="0"/>
          </a:p>
          <a:p>
            <a:pPr marL="0" indent="0" algn="l">
              <a:spcAft>
                <a:spcPts val="100"/>
              </a:spcAft>
              <a:buNone/>
            </a:pP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def test_sphere_volume_zero():</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calculate_sphere_volume(0) == 0</a:t>
            </a:r>
            <a:endParaRPr lang="en-US" sz="950" dirty="0"/>
          </a:p>
        </p:txBody>
      </p:sp>
      <p:sp>
        <p:nvSpPr>
          <p:cNvPr id="6" name="Text 4"/>
          <p:cNvSpPr/>
          <p:nvPr/>
        </p:nvSpPr>
        <p:spPr>
          <a:xfrm>
            <a:off x="548640" y="2715768"/>
            <a:ext cx="8046720" cy="22860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That's it. Known input. Expected output. Assert they match.</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Testing Behavior, Not Just Math</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Shape 2"/>
          <p:cNvSpPr/>
          <p:nvPr/>
        </p:nvSpPr>
        <p:spPr>
          <a:xfrm>
            <a:off x="548640" y="1005840"/>
            <a:ext cx="8046720" cy="3136392"/>
          </a:xfrm>
          <a:prstGeom prst="rect">
            <a:avLst/>
          </a:prstGeom>
          <a:solidFill>
            <a:srgbClr val="2D2D2D"/>
          </a:solidFill>
          <a:ln/>
          <a:effectLst>
            <a:outerShdw blurRad="50800" dist="25400" dir="8100000" algn="bl" rotWithShape="0">
              <a:srgbClr val="000000">
                <a:alpha val="10000"/>
              </a:srgbClr>
            </a:outerShdw>
          </a:effectLst>
        </p:spPr>
        <p:txBody>
          <a:bodyPr/>
          <a:lstStyle/>
          <a:p>
            <a:endParaRPr lang="en-US"/>
          </a:p>
        </p:txBody>
      </p:sp>
      <p:sp>
        <p:nvSpPr>
          <p:cNvPr id="5" name="Text 3"/>
          <p:cNvSpPr/>
          <p:nvPr/>
        </p:nvSpPr>
        <p:spPr>
          <a:xfrm>
            <a:off x="731520" y="1078992"/>
            <a:ext cx="7680960" cy="2990088"/>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def test_shrinking_tumor_is_responder():</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measurements = pd.DataFrame({</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'day': [0, 90],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'volume_mm3': [1000.0, 400.0],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rate = compute_growth_rate(measurements)</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rate &lt; 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is_responder(rate)</a:t>
            </a:r>
            <a:endParaRPr lang="en-US" sz="950" dirty="0"/>
          </a:p>
          <a:p>
            <a:pPr marL="0" indent="0" algn="l">
              <a:spcAft>
                <a:spcPts val="100"/>
              </a:spcAft>
              <a:buNone/>
            </a:pP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def test_growing_tumor_is_not_responder():</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measurements = pd.DataFrame({</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'day': [0, 90],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'volume_mm3': [500.0, 1500.0],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rate = compute_growth_rate(measurements)</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rate &gt; 0</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assert not is_responder(rate)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Running Tests</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Shape 2"/>
          <p:cNvSpPr/>
          <p:nvPr/>
        </p:nvSpPr>
        <p:spPr>
          <a:xfrm>
            <a:off x="548640" y="1005840"/>
            <a:ext cx="8046720" cy="1572768"/>
          </a:xfrm>
          <a:prstGeom prst="rect">
            <a:avLst/>
          </a:prstGeom>
          <a:solidFill>
            <a:srgbClr val="2D2D2D"/>
          </a:solidFill>
          <a:ln/>
          <a:effectLst>
            <a:outerShdw blurRad="50800" dist="25400" dir="8100000" algn="bl" rotWithShape="0">
              <a:srgbClr val="000000">
                <a:alpha val="10000"/>
              </a:srgbClr>
            </a:outerShdw>
          </a:effectLst>
        </p:spPr>
        <p:txBody>
          <a:bodyPr/>
          <a:lstStyle/>
          <a:p>
            <a:endParaRPr lang="en-US"/>
          </a:p>
        </p:txBody>
      </p:sp>
      <p:sp>
        <p:nvSpPr>
          <p:cNvPr id="5" name="Text 3"/>
          <p:cNvSpPr/>
          <p:nvPr/>
        </p:nvSpPr>
        <p:spPr>
          <a:xfrm>
            <a:off x="731520" y="1078992"/>
            <a:ext cx="7680960" cy="1426464"/>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python -m pytest test_good_analysis.py -v</a:t>
            </a:r>
            <a:endParaRPr lang="en-US" sz="950" dirty="0"/>
          </a:p>
          <a:p>
            <a:pPr marL="0" indent="0" algn="l">
              <a:spcAft>
                <a:spcPts val="100"/>
              </a:spcAft>
              <a:buNone/>
            </a:pP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test_good_analysis.py::test_sphere_volume_known_value PASSED</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test_good_analysis.py::test_sphere_volume_zero PASSED</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test_good_analysis.py::test_shrinking_tumor_is_responder PASSED</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test_good_analysis.py::test_growing_tumor_is_not_responder PASSED</a:t>
            </a:r>
            <a:endParaRPr lang="en-US" sz="950" dirty="0"/>
          </a:p>
          <a:p>
            <a:pPr marL="0" indent="0" algn="l">
              <a:spcAft>
                <a:spcPts val="100"/>
              </a:spcAft>
              <a:buNone/>
            </a:pP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4 passed in 0.3s =========</a:t>
            </a:r>
            <a:endParaRPr lang="en-US" sz="950" dirty="0"/>
          </a:p>
        </p:txBody>
      </p:sp>
      <p:sp>
        <p:nvSpPr>
          <p:cNvPr id="6" name="Text 4"/>
          <p:cNvSpPr/>
          <p:nvPr/>
        </p:nvSpPr>
        <p:spPr>
          <a:xfrm>
            <a:off x="548640" y="2715768"/>
            <a:ext cx="8046720" cy="22860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Four tests. 0.3 seconds. Run them every time you change anything.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463040"/>
            <a:ext cx="7680960" cy="1280160"/>
          </a:xfrm>
          <a:prstGeom prst="rect">
            <a:avLst/>
          </a:prstGeom>
          <a:noFill/>
          <a:ln/>
        </p:spPr>
        <p:txBody>
          <a:bodyPr wrap="square" lIns="0" tIns="0" rIns="0" bIns="0" rtlCol="0" anchor="ctr"/>
          <a:lstStyle/>
          <a:p>
            <a:pPr marL="0" indent="0" algn="l">
              <a:buNone/>
            </a:pPr>
            <a:r>
              <a:rPr lang="en-US" sz="3200" dirty="0">
                <a:solidFill>
                  <a:srgbClr val="FFFFFF"/>
                </a:solidFill>
                <a:latin typeface="Georgia" pitchFamily="34" charset="0"/>
                <a:ea typeface="Georgia" pitchFamily="34" charset="-122"/>
                <a:cs typeface="Georgia" pitchFamily="34" charset="-120"/>
              </a:rPr>
              <a:t>Habit 4: Version Control</a:t>
            </a:r>
            <a:endParaRPr lang="en-US" sz="3200" dirty="0"/>
          </a:p>
        </p:txBody>
      </p:sp>
      <p:sp>
        <p:nvSpPr>
          <p:cNvPr id="4" name="Text 2"/>
          <p:cNvSpPr/>
          <p:nvPr/>
        </p:nvSpPr>
        <p:spPr>
          <a:xfrm>
            <a:off x="731520" y="2834640"/>
            <a:ext cx="7680960" cy="548640"/>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ea typeface="Georgia" pitchFamily="34" charset="-122"/>
                <a:cs typeface="Georgia" pitchFamily="34" charset="-120"/>
              </a:rPr>
              <a:t>A time machine for your code</a:t>
            </a:r>
            <a:endParaRPr lang="en-US" sz="15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Not version control</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9" name="TextBox 8">
            <a:extLst>
              <a:ext uri="{FF2B5EF4-FFF2-40B4-BE49-F238E27FC236}">
                <a16:creationId xmlns:a16="http://schemas.microsoft.com/office/drawing/2014/main" id="{EE6AB703-35D0-5B83-DE62-8DBBF042A52C}"/>
              </a:ext>
            </a:extLst>
          </p:cNvPr>
          <p:cNvSpPr txBox="1"/>
          <p:nvPr/>
        </p:nvSpPr>
        <p:spPr>
          <a:xfrm>
            <a:off x="1360800" y="1749600"/>
            <a:ext cx="7178400" cy="2031325"/>
          </a:xfrm>
          <a:prstGeom prst="rect">
            <a:avLst/>
          </a:prstGeom>
          <a:noFill/>
        </p:spPr>
        <p:txBody>
          <a:bodyPr wrap="square" rtlCol="0">
            <a:spAutoFit/>
          </a:bodyPr>
          <a:lstStyle/>
          <a:p>
            <a:r>
              <a:rPr lang="en-US" dirty="0" err="1"/>
              <a:t>analysis.py</a:t>
            </a:r>
            <a:endParaRPr lang="en-US" dirty="0"/>
          </a:p>
          <a:p>
            <a:r>
              <a:rPr lang="en-US" dirty="0"/>
              <a:t>analysis_v2.py</a:t>
            </a:r>
          </a:p>
          <a:p>
            <a:r>
              <a:rPr lang="en-US" dirty="0"/>
              <a:t>analysis_v2_fixed.py</a:t>
            </a:r>
          </a:p>
          <a:p>
            <a:r>
              <a:rPr lang="en-US" dirty="0"/>
              <a:t>analysis_v3_FINAL.py</a:t>
            </a:r>
          </a:p>
          <a:p>
            <a:r>
              <a:rPr lang="en-US" dirty="0"/>
              <a:t>analysis_v3_FINAL_really.py</a:t>
            </a:r>
          </a:p>
          <a:p>
            <a:r>
              <a:rPr lang="en-US" dirty="0"/>
              <a:t>analysis_v3_FINAL_use_this_one.py</a:t>
            </a:r>
          </a:p>
          <a:p>
            <a:r>
              <a:rPr lang="en-US" dirty="0" err="1"/>
              <a:t>analysis_backup_March.py</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0DA3D30-2984-7536-37BE-55BAFE24EBF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A03B81-AE7A-8B24-E80F-686F438F6702}"/>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Git in 60 Seconds</a:t>
            </a:r>
            <a:endParaRPr lang="en-US" sz="2600" dirty="0"/>
          </a:p>
        </p:txBody>
      </p:sp>
      <p:sp>
        <p:nvSpPr>
          <p:cNvPr id="3" name="Shape 1">
            <a:extLst>
              <a:ext uri="{FF2B5EF4-FFF2-40B4-BE49-F238E27FC236}">
                <a16:creationId xmlns:a16="http://schemas.microsoft.com/office/drawing/2014/main" id="{667EC1AA-22D4-F50E-1B40-2BAFDDB7B5E3}"/>
              </a:ext>
            </a:extLst>
          </p:cNvPr>
          <p:cNvSpPr/>
          <p:nvPr/>
        </p:nvSpPr>
        <p:spPr>
          <a:xfrm>
            <a:off x="548640" y="804672"/>
            <a:ext cx="1371600" cy="27432"/>
          </a:xfrm>
          <a:prstGeom prst="rect">
            <a:avLst/>
          </a:prstGeom>
          <a:solidFill>
            <a:srgbClr val="C8A951"/>
          </a:solidFill>
          <a:ln/>
        </p:spPr>
        <p:txBody>
          <a:bodyPr/>
          <a:lstStyle/>
          <a:p>
            <a:endParaRPr lang="en-US"/>
          </a:p>
        </p:txBody>
      </p:sp>
      <p:sp>
        <p:nvSpPr>
          <p:cNvPr id="4" name="Text 2">
            <a:extLst>
              <a:ext uri="{FF2B5EF4-FFF2-40B4-BE49-F238E27FC236}">
                <a16:creationId xmlns:a16="http://schemas.microsoft.com/office/drawing/2014/main" id="{690282AB-5B74-870C-69F4-707FC17F7971}"/>
              </a:ext>
            </a:extLst>
          </p:cNvPr>
          <p:cNvSpPr/>
          <p:nvPr/>
        </p:nvSpPr>
        <p:spPr>
          <a:xfrm>
            <a:off x="548640" y="1051560"/>
            <a:ext cx="8046720" cy="2031558"/>
          </a:xfrm>
          <a:prstGeom prst="rect">
            <a:avLst/>
          </a:prstGeom>
          <a:noFill/>
          <a:ln/>
        </p:spPr>
        <p:txBody>
          <a:bodyPr wrap="square" lIns="0" tIns="0" rIns="0" bIns="0" rtlCol="0" anchor="t" anchorCtr="0"/>
          <a:lstStyle/>
          <a:p>
            <a:pPr marL="0" indent="0" algn="l">
              <a:buNone/>
            </a:pPr>
            <a:r>
              <a:rPr lang="en-US" sz="1250" b="1" dirty="0">
                <a:solidFill>
                  <a:srgbClr val="555555"/>
                </a:solidFill>
                <a:latin typeface="Calibri" pitchFamily="34" charset="0"/>
                <a:ea typeface="Calibri" pitchFamily="34" charset="-122"/>
                <a:cs typeface="Calibri" pitchFamily="34" charset="-120"/>
              </a:rPr>
              <a:t>What it does</a:t>
            </a:r>
            <a:r>
              <a:rPr lang="en-US" sz="1250" dirty="0">
                <a:solidFill>
                  <a:srgbClr val="555555"/>
                </a:solidFill>
                <a:latin typeface="Calibri" pitchFamily="34" charset="0"/>
                <a:ea typeface="Calibri" pitchFamily="34" charset="-122"/>
                <a:cs typeface="Calibri" pitchFamily="34" charset="-120"/>
              </a:rPr>
              <a:t>: Records every version of every file. You can always go back.</a:t>
            </a:r>
          </a:p>
          <a:p>
            <a:pPr marL="0" indent="0" algn="l">
              <a:buNone/>
            </a:pPr>
            <a:endParaRPr lang="en-US" sz="1250" dirty="0">
              <a:solidFill>
                <a:srgbClr val="555555"/>
              </a:solidFill>
              <a:latin typeface="Calibri" pitchFamily="34" charset="0"/>
              <a:cs typeface="Calibri" pitchFamily="34" charset="-120"/>
            </a:endParaRPr>
          </a:p>
          <a:p>
            <a:r>
              <a:rPr lang="en-US" sz="1250" b="1" dirty="0">
                <a:solidFill>
                  <a:srgbClr val="555555"/>
                </a:solidFill>
                <a:latin typeface="Calibri" pitchFamily="34" charset="0"/>
                <a:ea typeface="Calibri" pitchFamily="34" charset="-122"/>
                <a:cs typeface="Calibri" pitchFamily="34" charset="-120"/>
              </a:rPr>
              <a:t>Why it matters for</a:t>
            </a:r>
            <a:r>
              <a:rPr lang="en-US" sz="1250" dirty="0">
                <a:solidFill>
                  <a:srgbClr val="555555"/>
                </a:solidFill>
                <a:latin typeface="Calibri" pitchFamily="34" charset="0"/>
                <a:ea typeface="Calibri" pitchFamily="34" charset="-122"/>
                <a:cs typeface="Calibri" pitchFamily="34" charset="-120"/>
              </a:rPr>
              <a:t>: </a:t>
            </a:r>
            <a:r>
              <a:rPr lang="en-US" sz="1250" b="1" i="1" dirty="0">
                <a:solidFill>
                  <a:srgbClr val="555555"/>
                </a:solidFill>
                <a:latin typeface="Calibri" pitchFamily="34" charset="0"/>
                <a:ea typeface="Calibri" pitchFamily="34" charset="-122"/>
                <a:cs typeface="Calibri" pitchFamily="34" charset="-120"/>
              </a:rPr>
              <a:t>Reproducibility</a:t>
            </a:r>
            <a:endParaRPr lang="en-US" sz="1250" b="1" i="1" dirty="0"/>
          </a:p>
          <a:p>
            <a:pPr marL="0" indent="0" algn="l">
              <a:buNone/>
            </a:pPr>
            <a:endParaRPr lang="en-US" sz="1250" dirty="0">
              <a:solidFill>
                <a:srgbClr val="555555"/>
              </a:solidFill>
              <a:latin typeface="Calibri" pitchFamily="34" charset="0"/>
              <a:cs typeface="Calibri" pitchFamily="34" charset="-120"/>
            </a:endParaRPr>
          </a:p>
          <a:p>
            <a:pPr marL="0" indent="0" algn="l">
              <a:buNone/>
            </a:pPr>
            <a:r>
              <a:rPr lang="en-US" sz="1250" b="1" dirty="0">
                <a:solidFill>
                  <a:srgbClr val="555555"/>
                </a:solidFill>
                <a:latin typeface="Calibri" pitchFamily="34" charset="0"/>
                <a:cs typeface="Calibri" pitchFamily="34" charset="-120"/>
              </a:rPr>
              <a:t>Version control for:</a:t>
            </a:r>
          </a:p>
          <a:p>
            <a:pPr marL="285750" indent="-285750" algn="l">
              <a:buFont typeface="Arial" panose="020B0604020202020204" pitchFamily="34" charset="0"/>
              <a:buChar char="•"/>
            </a:pPr>
            <a:r>
              <a:rPr lang="en-US" sz="1250" dirty="0">
                <a:solidFill>
                  <a:srgbClr val="555555"/>
                </a:solidFill>
                <a:latin typeface="Calibri" pitchFamily="34" charset="0"/>
                <a:cs typeface="Calibri" pitchFamily="34" charset="-120"/>
              </a:rPr>
              <a:t>Source code</a:t>
            </a:r>
          </a:p>
          <a:p>
            <a:pPr marL="285750" indent="-285750" algn="l">
              <a:buFont typeface="Arial" panose="020B0604020202020204" pitchFamily="34" charset="0"/>
              <a:buChar char="•"/>
            </a:pPr>
            <a:r>
              <a:rPr lang="en-US" sz="1250" dirty="0">
                <a:solidFill>
                  <a:srgbClr val="555555"/>
                </a:solidFill>
                <a:latin typeface="Calibri" pitchFamily="34" charset="0"/>
                <a:cs typeface="Calibri" pitchFamily="34" charset="-120"/>
              </a:rPr>
              <a:t>Scripts</a:t>
            </a:r>
          </a:p>
          <a:p>
            <a:pPr marL="285750" indent="-285750" algn="l">
              <a:buFont typeface="Arial" panose="020B0604020202020204" pitchFamily="34" charset="0"/>
              <a:buChar char="•"/>
            </a:pPr>
            <a:r>
              <a:rPr lang="en-US" sz="1250" dirty="0">
                <a:solidFill>
                  <a:srgbClr val="555555"/>
                </a:solidFill>
                <a:latin typeface="Calibri" pitchFamily="34" charset="0"/>
                <a:cs typeface="Calibri" pitchFamily="34" charset="-120"/>
              </a:rPr>
              <a:t>Configuration files</a:t>
            </a:r>
          </a:p>
          <a:p>
            <a:pPr marL="285750" indent="-285750" algn="l">
              <a:buFont typeface="Arial" panose="020B0604020202020204" pitchFamily="34" charset="0"/>
              <a:buChar char="•"/>
            </a:pPr>
            <a:r>
              <a:rPr lang="en-US" sz="1250" dirty="0">
                <a:solidFill>
                  <a:srgbClr val="555555"/>
                </a:solidFill>
                <a:latin typeface="Calibri" pitchFamily="34" charset="0"/>
                <a:cs typeface="Calibri" pitchFamily="34" charset="-120"/>
              </a:rPr>
              <a:t>Data</a:t>
            </a:r>
          </a:p>
          <a:p>
            <a:pPr marL="285750" indent="-285750" algn="l">
              <a:buFont typeface="Arial" panose="020B0604020202020204" pitchFamily="34" charset="0"/>
              <a:buChar char="•"/>
            </a:pPr>
            <a:r>
              <a:rPr lang="en-US" sz="1250" dirty="0">
                <a:solidFill>
                  <a:srgbClr val="555555"/>
                </a:solidFill>
                <a:latin typeface="Calibri" pitchFamily="34" charset="0"/>
                <a:cs typeface="Calibri" pitchFamily="34" charset="-120"/>
              </a:rPr>
              <a:t>Dependencies (e.g. libraries)</a:t>
            </a:r>
          </a:p>
          <a:p>
            <a:pPr marL="0" indent="0" algn="l">
              <a:buNone/>
            </a:pPr>
            <a:endParaRPr lang="en-US" sz="1250" dirty="0"/>
          </a:p>
        </p:txBody>
      </p:sp>
      <p:sp>
        <p:nvSpPr>
          <p:cNvPr id="6" name="Text 4">
            <a:extLst>
              <a:ext uri="{FF2B5EF4-FFF2-40B4-BE49-F238E27FC236}">
                <a16:creationId xmlns:a16="http://schemas.microsoft.com/office/drawing/2014/main" id="{53DD849F-758B-1A65-655E-3CAA021ABE0D}"/>
              </a:ext>
            </a:extLst>
          </p:cNvPr>
          <p:cNvSpPr/>
          <p:nvPr/>
        </p:nvSpPr>
        <p:spPr>
          <a:xfrm>
            <a:off x="4670066" y="420624"/>
            <a:ext cx="3976977" cy="256032"/>
          </a:xfrm>
          <a:prstGeom prst="rect">
            <a:avLst/>
          </a:prstGeom>
          <a:noFill/>
          <a:ln/>
        </p:spPr>
        <p:txBody>
          <a:bodyPr wrap="square" lIns="0" tIns="0" rIns="0" bIns="0" rtlCol="0" anchor="ctr"/>
          <a:lstStyle/>
          <a:p>
            <a:pPr marL="0" indent="0" algn="l">
              <a:buNone/>
            </a:pPr>
            <a:r>
              <a:rPr lang="en-US" sz="1250" i="1" dirty="0">
                <a:solidFill>
                  <a:srgbClr val="555555"/>
                </a:solidFill>
                <a:latin typeface="Calibri" pitchFamily="34" charset="0"/>
                <a:ea typeface="Calibri" pitchFamily="34" charset="-122"/>
                <a:cs typeface="Calibri" pitchFamily="34" charset="-120"/>
              </a:rPr>
              <a:t>The dedicated Git session will cover the mechanics.</a:t>
            </a:r>
            <a:endParaRPr lang="en-US" sz="1250" i="1" dirty="0"/>
          </a:p>
        </p:txBody>
      </p:sp>
      <p:sp>
        <p:nvSpPr>
          <p:cNvPr id="7" name="Text 5">
            <a:extLst>
              <a:ext uri="{FF2B5EF4-FFF2-40B4-BE49-F238E27FC236}">
                <a16:creationId xmlns:a16="http://schemas.microsoft.com/office/drawing/2014/main" id="{166CA886-C648-37FB-1D81-6FC6C053F101}"/>
              </a:ext>
            </a:extLst>
          </p:cNvPr>
          <p:cNvSpPr/>
          <p:nvPr/>
        </p:nvSpPr>
        <p:spPr>
          <a:xfrm>
            <a:off x="548640" y="3265998"/>
            <a:ext cx="8046720" cy="256032"/>
          </a:xfrm>
          <a:prstGeom prst="rect">
            <a:avLst/>
          </a:prstGeom>
          <a:noFill/>
          <a:ln/>
        </p:spPr>
        <p:txBody>
          <a:bodyPr wrap="square" lIns="0" tIns="0" rIns="0" bIns="0" rtlCol="0" anchor="ctr"/>
          <a:lstStyle/>
          <a:p>
            <a:pPr marL="0" indent="0" algn="l">
              <a:buNone/>
            </a:pPr>
            <a:r>
              <a:rPr lang="en-US" sz="1250" dirty="0">
                <a:solidFill>
                  <a:srgbClr val="555555"/>
                </a:solidFill>
                <a:latin typeface="Calibri" pitchFamily="34" charset="0"/>
                <a:ea typeface="Calibri" pitchFamily="34" charset="-122"/>
                <a:cs typeface="Calibri" pitchFamily="34" charset="-120"/>
              </a:rPr>
              <a:t>For now: if </a:t>
            </a:r>
            <a:r>
              <a:rPr lang="en-US" sz="1150" dirty="0">
                <a:solidFill>
                  <a:srgbClr val="555555"/>
                </a:solidFill>
                <a:latin typeface="Courier New" pitchFamily="34" charset="0"/>
                <a:ea typeface="Courier New" pitchFamily="34" charset="-122"/>
                <a:cs typeface="Courier New" pitchFamily="34" charset="-120"/>
              </a:rPr>
              <a:t>data_final_v3_REAL.py</a:t>
            </a:r>
            <a:r>
              <a:rPr lang="en-US" sz="1250" dirty="0">
                <a:solidFill>
                  <a:srgbClr val="555555"/>
                </a:solidFill>
                <a:latin typeface="Calibri" pitchFamily="34" charset="0"/>
                <a:ea typeface="Calibri" pitchFamily="34" charset="-122"/>
                <a:cs typeface="Calibri" pitchFamily="34" charset="-120"/>
              </a:rPr>
              <a:t> is in your workflow, Git replaces it.</a:t>
            </a:r>
            <a:endParaRPr lang="en-US" sz="1250" dirty="0"/>
          </a:p>
        </p:txBody>
      </p:sp>
      <p:sp>
        <p:nvSpPr>
          <p:cNvPr id="8" name="Text 6">
            <a:extLst>
              <a:ext uri="{FF2B5EF4-FFF2-40B4-BE49-F238E27FC236}">
                <a16:creationId xmlns:a16="http://schemas.microsoft.com/office/drawing/2014/main" id="{49ACB97A-74BD-2096-1BFD-EC7942500899}"/>
              </a:ext>
            </a:extLst>
          </p:cNvPr>
          <p:cNvSpPr/>
          <p:nvPr/>
        </p:nvSpPr>
        <p:spPr>
          <a:xfrm>
            <a:off x="548640" y="3540318"/>
            <a:ext cx="8046720" cy="960120"/>
          </a:xfrm>
          <a:prstGeom prst="rect">
            <a:avLst/>
          </a:prstGeom>
          <a:noFill/>
          <a:ln/>
        </p:spPr>
        <p:txBody>
          <a:bodyPr wrap="square" lIns="0" tIns="0" rIns="0" bIns="0" rtlCol="0" anchor="ctr"/>
          <a:lstStyle/>
          <a:p>
            <a:pPr marL="342900" indent="-342900" algn="l">
              <a:spcAft>
                <a:spcPts val="600"/>
              </a:spcAft>
              <a:buSzPct val="100000"/>
              <a:buChar char="•"/>
            </a:pPr>
            <a:r>
              <a:rPr lang="en-US" sz="1250" b="1" dirty="0">
                <a:solidFill>
                  <a:srgbClr val="555555"/>
                </a:solidFill>
                <a:latin typeface="Calibri" pitchFamily="34" charset="0"/>
                <a:ea typeface="Calibri" pitchFamily="34" charset="-122"/>
                <a:cs typeface="Calibri" pitchFamily="34" charset="-120"/>
              </a:rPr>
              <a:t>Reproducibility</a:t>
            </a:r>
            <a:r>
              <a:rPr lang="en-US" sz="1250" dirty="0">
                <a:solidFill>
                  <a:srgbClr val="555555"/>
                </a:solidFill>
                <a:latin typeface="Calibri" pitchFamily="34" charset="0"/>
                <a:ea typeface="Calibri" pitchFamily="34" charset="-122"/>
                <a:cs typeface="Calibri" pitchFamily="34" charset="-120"/>
              </a:rPr>
              <a:t> — tag the exact code that produced a figure, plot or value in a paper</a:t>
            </a:r>
            <a:endParaRPr lang="en-US" sz="1250" dirty="0"/>
          </a:p>
          <a:p>
            <a:pPr marL="342900" indent="-342900" algn="l">
              <a:spcAft>
                <a:spcPts val="600"/>
              </a:spcAft>
              <a:buSzPct val="100000"/>
              <a:buChar char="•"/>
            </a:pPr>
            <a:r>
              <a:rPr lang="en-US" sz="1250" b="1" dirty="0">
                <a:solidFill>
                  <a:srgbClr val="555555"/>
                </a:solidFill>
                <a:latin typeface="Calibri" pitchFamily="34" charset="0"/>
                <a:ea typeface="Calibri" pitchFamily="34" charset="-122"/>
                <a:cs typeface="Calibri" pitchFamily="34" charset="-120"/>
              </a:rPr>
              <a:t>Collaboration</a:t>
            </a:r>
            <a:r>
              <a:rPr lang="en-US" sz="1250" dirty="0">
                <a:solidFill>
                  <a:srgbClr val="555555"/>
                </a:solidFill>
                <a:latin typeface="Calibri" pitchFamily="34" charset="0"/>
                <a:ea typeface="Calibri" pitchFamily="34" charset="-122"/>
                <a:cs typeface="Calibri" pitchFamily="34" charset="-120"/>
              </a:rPr>
              <a:t> — merge changes from multiple people without overwriting</a:t>
            </a:r>
            <a:endParaRPr lang="en-US" sz="1250" dirty="0"/>
          </a:p>
          <a:p>
            <a:pPr marL="342900" indent="-342900" algn="l">
              <a:spcAft>
                <a:spcPts val="600"/>
              </a:spcAft>
              <a:buSzPct val="100000"/>
              <a:buChar char="•"/>
            </a:pPr>
            <a:r>
              <a:rPr lang="en-US" sz="1250" b="1" dirty="0">
                <a:solidFill>
                  <a:srgbClr val="555555"/>
                </a:solidFill>
                <a:latin typeface="Calibri" pitchFamily="34" charset="0"/>
                <a:ea typeface="Calibri" pitchFamily="34" charset="-122"/>
                <a:cs typeface="Calibri" pitchFamily="34" charset="-120"/>
              </a:rPr>
              <a:t>Safety net </a:t>
            </a:r>
            <a:r>
              <a:rPr lang="en-US" sz="1250" dirty="0">
                <a:solidFill>
                  <a:srgbClr val="555555"/>
                </a:solidFill>
                <a:latin typeface="Calibri" pitchFamily="34" charset="0"/>
                <a:ea typeface="Calibri" pitchFamily="34" charset="-122"/>
                <a:cs typeface="Calibri" pitchFamily="34" charset="-120"/>
              </a:rPr>
              <a:t>— broke something? Revert to yesterday</a:t>
            </a:r>
            <a:endParaRPr lang="en-US" sz="1250" dirty="0"/>
          </a:p>
        </p:txBody>
      </p:sp>
    </p:spTree>
    <p:extLst>
      <p:ext uri="{BB962C8B-B14F-4D97-AF65-F5344CB8AC3E}">
        <p14:creationId xmlns:p14="http://schemas.microsoft.com/office/powerpoint/2010/main" val="1961250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207261A-F96D-47F2-9DC2-C657187B59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E22462-C99D-01DE-F184-885C6B3B4629}"/>
              </a:ext>
            </a:extLst>
          </p:cNvPr>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rPr>
              <a:t>Minium Viable Git</a:t>
            </a:r>
            <a:endParaRPr lang="en-US" sz="2600" dirty="0"/>
          </a:p>
        </p:txBody>
      </p:sp>
      <p:sp>
        <p:nvSpPr>
          <p:cNvPr id="3" name="Shape 1">
            <a:extLst>
              <a:ext uri="{FF2B5EF4-FFF2-40B4-BE49-F238E27FC236}">
                <a16:creationId xmlns:a16="http://schemas.microsoft.com/office/drawing/2014/main" id="{366B7361-43DE-11AE-DBBB-140A5671303F}"/>
              </a:ext>
            </a:extLst>
          </p:cNvPr>
          <p:cNvSpPr/>
          <p:nvPr/>
        </p:nvSpPr>
        <p:spPr>
          <a:xfrm>
            <a:off x="548640" y="804672"/>
            <a:ext cx="1371600" cy="27432"/>
          </a:xfrm>
          <a:prstGeom prst="rect">
            <a:avLst/>
          </a:prstGeom>
          <a:solidFill>
            <a:srgbClr val="C8A951"/>
          </a:solidFill>
          <a:ln/>
        </p:spPr>
        <p:txBody>
          <a:bodyPr/>
          <a:lstStyle/>
          <a:p>
            <a:endParaRPr lang="en-US"/>
          </a:p>
        </p:txBody>
      </p:sp>
      <p:pic>
        <p:nvPicPr>
          <p:cNvPr id="9" name="Picture 8">
            <a:extLst>
              <a:ext uri="{FF2B5EF4-FFF2-40B4-BE49-F238E27FC236}">
                <a16:creationId xmlns:a16="http://schemas.microsoft.com/office/drawing/2014/main" id="{EC45F4F2-E9DF-93EB-6C20-D37DCA890E2F}"/>
              </a:ext>
            </a:extLst>
          </p:cNvPr>
          <p:cNvPicPr>
            <a:picLocks noChangeAspect="1"/>
          </p:cNvPicPr>
          <p:nvPr/>
        </p:nvPicPr>
        <p:blipFill>
          <a:blip r:embed="rId3"/>
          <a:stretch>
            <a:fillRect/>
          </a:stretch>
        </p:blipFill>
        <p:spPr>
          <a:xfrm>
            <a:off x="685800" y="1793605"/>
            <a:ext cx="7772400" cy="1556289"/>
          </a:xfrm>
          <a:prstGeom prst="rect">
            <a:avLst/>
          </a:prstGeom>
        </p:spPr>
      </p:pic>
    </p:spTree>
    <p:extLst>
      <p:ext uri="{BB962C8B-B14F-4D97-AF65-F5344CB8AC3E}">
        <p14:creationId xmlns:p14="http://schemas.microsoft.com/office/powerpoint/2010/main" val="3332687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463040"/>
            <a:ext cx="7680960" cy="1280160"/>
          </a:xfrm>
          <a:prstGeom prst="rect">
            <a:avLst/>
          </a:prstGeom>
          <a:noFill/>
          <a:ln/>
        </p:spPr>
        <p:txBody>
          <a:bodyPr wrap="square" lIns="0" tIns="0" rIns="0" bIns="0" rtlCol="0" anchor="ctr"/>
          <a:lstStyle/>
          <a:p>
            <a:pPr marL="0" indent="0" algn="l">
              <a:buNone/>
            </a:pPr>
            <a:r>
              <a:rPr lang="en-US" sz="3200" dirty="0">
                <a:solidFill>
                  <a:srgbClr val="FFFFFF"/>
                </a:solidFill>
                <a:latin typeface="Georgia" pitchFamily="34" charset="0"/>
                <a:ea typeface="Georgia" pitchFamily="34" charset="-122"/>
                <a:cs typeface="Georgia" pitchFamily="34" charset="-120"/>
              </a:rPr>
              <a:t>Habit 5: Document It</a:t>
            </a:r>
            <a:endParaRPr lang="en-US" sz="3200" dirty="0"/>
          </a:p>
        </p:txBody>
      </p:sp>
      <p:sp>
        <p:nvSpPr>
          <p:cNvPr id="4" name="Text 2"/>
          <p:cNvSpPr/>
          <p:nvPr/>
        </p:nvSpPr>
        <p:spPr>
          <a:xfrm>
            <a:off x="731520" y="2834640"/>
            <a:ext cx="7680960" cy="548640"/>
          </a:xfrm>
          <a:prstGeom prst="rect">
            <a:avLst/>
          </a:prstGeom>
          <a:noFill/>
          <a:ln/>
        </p:spPr>
        <p:txBody>
          <a:bodyPr wrap="square" lIns="0" tIns="0" rIns="0" bIns="0" rtlCol="0" anchor="ctr"/>
          <a:lstStyle/>
          <a:p>
            <a:pPr marL="0" indent="0" algn="l">
              <a:buNone/>
            </a:pPr>
            <a:r>
              <a:rPr lang="en-US" sz="1500" i="1" dirty="0">
                <a:solidFill>
                  <a:srgbClr val="C8A951"/>
                </a:solidFill>
                <a:latin typeface="Georgia" pitchFamily="34" charset="0"/>
                <a:ea typeface="Georgia" pitchFamily="34" charset="-122"/>
                <a:cs typeface="Georgia" pitchFamily="34" charset="-120"/>
              </a:rPr>
              <a:t>The README is for you, six months from now</a:t>
            </a:r>
            <a:endParaRPr lang="en-US" sz="1500" dirty="0"/>
          </a:p>
        </p:txBody>
      </p:sp>
      <p:sp>
        <p:nvSpPr>
          <p:cNvPr id="5" name="Shape 3"/>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Documentation: The Minimum</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Text 2"/>
          <p:cNvSpPr/>
          <p:nvPr/>
        </p:nvSpPr>
        <p:spPr>
          <a:xfrm>
            <a:off x="548640" y="1005840"/>
            <a:ext cx="8046720"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Docstrings</a:t>
            </a:r>
            <a:r>
              <a:rPr lang="en-US" sz="1200" dirty="0">
                <a:solidFill>
                  <a:srgbClr val="555555"/>
                </a:solidFill>
                <a:latin typeface="Calibri" pitchFamily="34" charset="0"/>
                <a:ea typeface="Calibri" pitchFamily="34" charset="-122"/>
                <a:cs typeface="Calibri" pitchFamily="34" charset="-120"/>
              </a:rPr>
              <a:t> — one line per function describes what the code does not how it does it:</a:t>
            </a:r>
            <a:endParaRPr lang="en-US" sz="1200" dirty="0"/>
          </a:p>
        </p:txBody>
      </p:sp>
      <p:sp>
        <p:nvSpPr>
          <p:cNvPr id="5" name="Shape 3"/>
          <p:cNvSpPr/>
          <p:nvPr/>
        </p:nvSpPr>
        <p:spPr>
          <a:xfrm>
            <a:off x="548640" y="1252728"/>
            <a:ext cx="8046720" cy="548640"/>
          </a:xfrm>
          <a:prstGeom prst="rect">
            <a:avLst/>
          </a:prstGeom>
          <a:solidFill>
            <a:srgbClr val="2D2D2D"/>
          </a:solidFill>
          <a:ln/>
          <a:effectLst>
            <a:outerShdw blurRad="50800" dist="25400" dir="8100000" algn="bl" rotWithShape="0">
              <a:srgbClr val="000000">
                <a:alpha val="10000"/>
              </a:srgbClr>
            </a:outerShdw>
          </a:effectLst>
        </p:spPr>
        <p:txBody>
          <a:bodyPr/>
          <a:lstStyle/>
          <a:p>
            <a:endParaRPr lang="en-US"/>
          </a:p>
        </p:txBody>
      </p:sp>
      <p:sp>
        <p:nvSpPr>
          <p:cNvPr id="6" name="Text 4"/>
          <p:cNvSpPr/>
          <p:nvPr/>
        </p:nvSpPr>
        <p:spPr>
          <a:xfrm>
            <a:off x="731520" y="1325880"/>
            <a:ext cx="7680960" cy="402336"/>
          </a:xfrm>
          <a:prstGeom prst="rect">
            <a:avLst/>
          </a:prstGeom>
          <a:noFill/>
          <a:ln/>
        </p:spPr>
        <p:txBody>
          <a:bodyPr wrap="square" lIns="0" tIns="0" rIns="0" bIns="0" rtlCol="0" anchor="t"/>
          <a:lstStyle/>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def calculate_sphere_volume(diameter_mm: float) -&gt; float:</a:t>
            </a:r>
            <a:endParaRPr lang="en-US" sz="950" dirty="0"/>
          </a:p>
          <a:p>
            <a:pPr marL="0" indent="0" algn="l">
              <a:spcAft>
                <a:spcPts val="100"/>
              </a:spcAft>
              <a:buNone/>
            </a:pPr>
            <a:r>
              <a:rPr lang="en-US" sz="950" dirty="0">
                <a:solidFill>
                  <a:srgbClr val="E8E8E8"/>
                </a:solidFill>
                <a:latin typeface="Courier New" pitchFamily="34" charset="0"/>
                <a:ea typeface="Courier New" pitchFamily="34" charset="-122"/>
                <a:cs typeface="Courier New" pitchFamily="34" charset="-120"/>
              </a:rPr>
              <a:t>    """Calculate sphere volume from diameter."""</a:t>
            </a:r>
            <a:endParaRPr lang="en-US" sz="950" dirty="0"/>
          </a:p>
        </p:txBody>
      </p:sp>
      <p:sp>
        <p:nvSpPr>
          <p:cNvPr id="7" name="Text 5"/>
          <p:cNvSpPr/>
          <p:nvPr/>
        </p:nvSpPr>
        <p:spPr>
          <a:xfrm>
            <a:off x="548640" y="1938528"/>
            <a:ext cx="8046720" cy="228600"/>
          </a:xfrm>
          <a:prstGeom prst="rect">
            <a:avLst/>
          </a:prstGeom>
          <a:noFill/>
          <a:ln/>
        </p:spPr>
        <p:txBody>
          <a:bodyPr wrap="square" lIns="0" tIns="0" rIns="0" bIns="0" rtlCol="0" anchor="ctr"/>
          <a:lstStyle/>
          <a:p>
            <a:pPr marL="0" indent="0" algn="l">
              <a:buNone/>
            </a:pPr>
            <a:r>
              <a:rPr lang="en-US" sz="1200" b="1" dirty="0">
                <a:solidFill>
                  <a:srgbClr val="555555"/>
                </a:solidFill>
                <a:latin typeface="Calibri" pitchFamily="34" charset="0"/>
                <a:ea typeface="Calibri" pitchFamily="34" charset="-122"/>
                <a:cs typeface="Calibri" pitchFamily="34" charset="-120"/>
              </a:rPr>
              <a:t>README.md</a:t>
            </a:r>
            <a:r>
              <a:rPr lang="en-US" sz="1200" dirty="0">
                <a:solidFill>
                  <a:srgbClr val="555555"/>
                </a:solidFill>
                <a:latin typeface="Calibri" pitchFamily="34" charset="0"/>
                <a:ea typeface="Calibri" pitchFamily="34" charset="-122"/>
                <a:cs typeface="Calibri" pitchFamily="34" charset="-120"/>
              </a:rPr>
              <a:t> — one file per project:</a:t>
            </a:r>
            <a:endParaRPr lang="en-US" sz="1200" dirty="0"/>
          </a:p>
        </p:txBody>
      </p:sp>
      <p:sp>
        <p:nvSpPr>
          <p:cNvPr id="8" name="Text 6"/>
          <p:cNvSpPr/>
          <p:nvPr/>
        </p:nvSpPr>
        <p:spPr>
          <a:xfrm>
            <a:off x="548640" y="2185416"/>
            <a:ext cx="8046720" cy="228600"/>
          </a:xfrm>
          <a:prstGeom prst="rect">
            <a:avLst/>
          </a:prstGeom>
          <a:noFill/>
          <a:ln/>
        </p:spPr>
        <p:txBody>
          <a:bodyPr wrap="square" lIns="0" tIns="0" rIns="0" bIns="0" rtlCol="0" anchor="ctr"/>
          <a:lstStyle/>
          <a:p>
            <a:pPr marL="342900" indent="-342900" algn="l">
              <a:buSzPct val="100000"/>
              <a:buChar char="•"/>
            </a:pPr>
            <a:r>
              <a:rPr lang="en-US" sz="1200" dirty="0">
                <a:solidFill>
                  <a:srgbClr val="555555"/>
                </a:solidFill>
                <a:latin typeface="Calibri" pitchFamily="34" charset="0"/>
                <a:ea typeface="Calibri" pitchFamily="34" charset="-122"/>
                <a:cs typeface="Calibri" pitchFamily="34" charset="-120"/>
              </a:rPr>
              <a:t>What does this project do?</a:t>
            </a:r>
            <a:endParaRPr lang="en-US" sz="1200" dirty="0"/>
          </a:p>
        </p:txBody>
      </p:sp>
      <p:sp>
        <p:nvSpPr>
          <p:cNvPr id="9" name="Text 7"/>
          <p:cNvSpPr/>
          <p:nvPr/>
        </p:nvSpPr>
        <p:spPr>
          <a:xfrm>
            <a:off x="548640" y="2432304"/>
            <a:ext cx="8046720" cy="228600"/>
          </a:xfrm>
          <a:prstGeom prst="rect">
            <a:avLst/>
          </a:prstGeom>
          <a:noFill/>
          <a:ln/>
        </p:spPr>
        <p:txBody>
          <a:bodyPr wrap="square" lIns="0" tIns="0" rIns="0" bIns="0" rtlCol="0" anchor="ctr"/>
          <a:lstStyle/>
          <a:p>
            <a:pPr marL="342900" indent="-342900" algn="l">
              <a:buSzPct val="100000"/>
              <a:buChar char="•"/>
            </a:pPr>
            <a:r>
              <a:rPr lang="en-US" sz="1200" dirty="0">
                <a:solidFill>
                  <a:srgbClr val="555555"/>
                </a:solidFill>
                <a:latin typeface="Calibri" pitchFamily="34" charset="0"/>
                <a:ea typeface="Calibri" pitchFamily="34" charset="-122"/>
                <a:cs typeface="Calibri" pitchFamily="34" charset="-120"/>
              </a:rPr>
              <a:t>How do I run it?</a:t>
            </a:r>
            <a:endParaRPr lang="en-US" sz="1200" dirty="0"/>
          </a:p>
        </p:txBody>
      </p:sp>
      <p:sp>
        <p:nvSpPr>
          <p:cNvPr id="10" name="Text 8"/>
          <p:cNvSpPr/>
          <p:nvPr/>
        </p:nvSpPr>
        <p:spPr>
          <a:xfrm>
            <a:off x="548640" y="2679192"/>
            <a:ext cx="8046720" cy="228600"/>
          </a:xfrm>
          <a:prstGeom prst="rect">
            <a:avLst/>
          </a:prstGeom>
          <a:noFill/>
          <a:ln/>
        </p:spPr>
        <p:txBody>
          <a:bodyPr wrap="square" lIns="0" tIns="0" rIns="0" bIns="0" rtlCol="0" anchor="ctr"/>
          <a:lstStyle/>
          <a:p>
            <a:pPr marL="342900" indent="-342900" algn="l">
              <a:buSzPct val="100000"/>
              <a:buChar char="•"/>
            </a:pPr>
            <a:r>
              <a:rPr lang="en-US" sz="1200" dirty="0">
                <a:solidFill>
                  <a:srgbClr val="555555"/>
                </a:solidFill>
                <a:latin typeface="Calibri" pitchFamily="34" charset="0"/>
                <a:ea typeface="Calibri" pitchFamily="34" charset="-122"/>
                <a:cs typeface="Calibri" pitchFamily="34" charset="-120"/>
              </a:rPr>
              <a:t>What data does it need?</a:t>
            </a:r>
            <a:endParaRPr lang="en-US" sz="1200" dirty="0"/>
          </a:p>
        </p:txBody>
      </p:sp>
      <p:sp>
        <p:nvSpPr>
          <p:cNvPr id="11" name="Text 9"/>
          <p:cNvSpPr/>
          <p:nvPr/>
        </p:nvSpPr>
        <p:spPr>
          <a:xfrm>
            <a:off x="548640" y="2926080"/>
            <a:ext cx="8046720" cy="274320"/>
          </a:xfrm>
          <a:prstGeom prst="rect">
            <a:avLst/>
          </a:prstGeom>
          <a:noFill/>
          <a:ln/>
        </p:spPr>
        <p:txBody>
          <a:bodyPr wrap="square" lIns="0" tIns="0" rIns="0" bIns="0" rtlCol="0" anchor="ctr"/>
          <a:lstStyle/>
          <a:p>
            <a:pPr marL="0" indent="0" algn="l">
              <a:buNone/>
            </a:pPr>
            <a:r>
              <a:rPr lang="en-US" sz="1300" b="1" dirty="0">
                <a:solidFill>
                  <a:srgbClr val="1A1A1A"/>
                </a:solidFill>
                <a:latin typeface="Calibri" pitchFamily="34" charset="0"/>
                <a:ea typeface="Calibri" pitchFamily="34" charset="-122"/>
                <a:cs typeface="Calibri" pitchFamily="34" charset="-120"/>
              </a:rPr>
              <a:t>The dedicated documentation session will cover the details.</a:t>
            </a:r>
            <a:endParaRPr lang="en-US" sz="1300" dirty="0"/>
          </a:p>
        </p:txBody>
      </p:sp>
      <p:sp>
        <p:nvSpPr>
          <p:cNvPr id="12" name="Text 10"/>
          <p:cNvSpPr/>
          <p:nvPr/>
        </p:nvSpPr>
        <p:spPr>
          <a:xfrm>
            <a:off x="548640" y="3218688"/>
            <a:ext cx="8046720" cy="228600"/>
          </a:xfrm>
          <a:prstGeom prst="rect">
            <a:avLst/>
          </a:prstGeom>
          <a:noFill/>
          <a:ln/>
        </p:spPr>
        <p:txBody>
          <a:bodyPr wrap="square" lIns="0" tIns="0" rIns="0" bIns="0" rtlCol="0" anchor="ctr"/>
          <a:lstStyle/>
          <a:p>
            <a:pPr marL="0" indent="0" algn="l">
              <a:buNone/>
            </a:pPr>
            <a:r>
              <a:rPr lang="en-US" sz="1200" dirty="0">
                <a:solidFill>
                  <a:srgbClr val="555555"/>
                </a:solidFill>
                <a:latin typeface="Calibri" pitchFamily="34" charset="0"/>
                <a:ea typeface="Calibri" pitchFamily="34" charset="-122"/>
                <a:cs typeface="Calibri" pitchFamily="34" charset="-120"/>
              </a:rPr>
              <a:t>For now: if a function doesn't have a docstring, add one. If your project doesn't have a README, write one.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lgn="l">
              <a:buNone/>
            </a:pPr>
            <a:r>
              <a:rPr lang="en-US" sz="2600" dirty="0">
                <a:solidFill>
                  <a:srgbClr val="1A1A1A"/>
                </a:solidFill>
                <a:latin typeface="Georgia" pitchFamily="34" charset="0"/>
                <a:ea typeface="Georgia" pitchFamily="34" charset="-122"/>
                <a:cs typeface="Georgia" pitchFamily="34" charset="-120"/>
              </a:rPr>
              <a:t>The Five Habits — Recap</a:t>
            </a:r>
            <a:endParaRPr lang="en-US" sz="2600" dirty="0"/>
          </a:p>
        </p:txBody>
      </p:sp>
      <p:sp>
        <p:nvSpPr>
          <p:cNvPr id="3" name="Shape 1"/>
          <p:cNvSpPr/>
          <p:nvPr/>
        </p:nvSpPr>
        <p:spPr>
          <a:xfrm>
            <a:off x="548640" y="804672"/>
            <a:ext cx="1371600" cy="27432"/>
          </a:xfrm>
          <a:prstGeom prst="rect">
            <a:avLst/>
          </a:prstGeom>
          <a:solidFill>
            <a:srgbClr val="C8A951"/>
          </a:solidFill>
          <a:ln/>
        </p:spPr>
        <p:txBody>
          <a:bodyPr/>
          <a:lstStyle/>
          <a:p>
            <a:endParaRPr lang="en-US"/>
          </a:p>
        </p:txBody>
      </p:sp>
      <p:sp>
        <p:nvSpPr>
          <p:cNvPr id="4" name="Shape 2"/>
          <p:cNvSpPr/>
          <p:nvPr/>
        </p:nvSpPr>
        <p:spPr>
          <a:xfrm>
            <a:off x="548640" y="1124712"/>
            <a:ext cx="365760" cy="365760"/>
          </a:xfrm>
          <a:prstGeom prst="ellipse">
            <a:avLst/>
          </a:prstGeom>
          <a:solidFill>
            <a:srgbClr val="1D9E75"/>
          </a:solidFill>
          <a:ln/>
        </p:spPr>
        <p:txBody>
          <a:bodyPr/>
          <a:lstStyle/>
          <a:p>
            <a:endParaRPr lang="en-US"/>
          </a:p>
        </p:txBody>
      </p:sp>
      <p:sp>
        <p:nvSpPr>
          <p:cNvPr id="5" name="Text 3"/>
          <p:cNvSpPr/>
          <p:nvPr/>
        </p:nvSpPr>
        <p:spPr>
          <a:xfrm>
            <a:off x="548640" y="11247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097280"/>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Name things</a:t>
            </a:r>
            <a:r>
              <a:rPr lang="en-US" sz="1200" dirty="0">
                <a:solidFill>
                  <a:srgbClr val="555555"/>
                </a:solidFill>
                <a:latin typeface="Calibri" pitchFamily="34" charset="0"/>
                <a:ea typeface="Calibri" pitchFamily="34" charset="-122"/>
                <a:cs typeface="Calibri" pitchFamily="34" charset="-120"/>
              </a:rPr>
              <a:t> — nouns for variables, verbs for functions, units in names</a:t>
            </a:r>
            <a:endParaRPr lang="en-US" sz="1400" dirty="0"/>
          </a:p>
        </p:txBody>
      </p:sp>
      <p:sp>
        <p:nvSpPr>
          <p:cNvPr id="7" name="Shape 5"/>
          <p:cNvSpPr/>
          <p:nvPr/>
        </p:nvSpPr>
        <p:spPr>
          <a:xfrm>
            <a:off x="548640" y="1655064"/>
            <a:ext cx="365760" cy="365760"/>
          </a:xfrm>
          <a:prstGeom prst="ellipse">
            <a:avLst/>
          </a:prstGeom>
          <a:solidFill>
            <a:srgbClr val="378ADD"/>
          </a:solidFill>
          <a:ln/>
        </p:spPr>
        <p:txBody>
          <a:bodyPr/>
          <a:lstStyle/>
          <a:p>
            <a:endParaRPr lang="en-US"/>
          </a:p>
        </p:txBody>
      </p:sp>
      <p:sp>
        <p:nvSpPr>
          <p:cNvPr id="8" name="Text 6"/>
          <p:cNvSpPr/>
          <p:nvPr/>
        </p:nvSpPr>
        <p:spPr>
          <a:xfrm>
            <a:off x="548640" y="16550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51560" y="1627632"/>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Modularity</a:t>
            </a:r>
            <a:r>
              <a:rPr lang="en-US" sz="1200" dirty="0">
                <a:solidFill>
                  <a:srgbClr val="555555"/>
                </a:solidFill>
                <a:latin typeface="Calibri" pitchFamily="34" charset="0"/>
                <a:ea typeface="Calibri" pitchFamily="34" charset="-122"/>
                <a:cs typeface="Calibri" pitchFamily="34" charset="-120"/>
              </a:rPr>
              <a:t> — create functions with one job, group related functions in separate files/modules</a:t>
            </a:r>
            <a:endParaRPr lang="en-US" sz="1400" dirty="0"/>
          </a:p>
        </p:txBody>
      </p:sp>
      <p:sp>
        <p:nvSpPr>
          <p:cNvPr id="10" name="Shape 8"/>
          <p:cNvSpPr/>
          <p:nvPr/>
        </p:nvSpPr>
        <p:spPr>
          <a:xfrm>
            <a:off x="548640" y="2185416"/>
            <a:ext cx="365760" cy="365760"/>
          </a:xfrm>
          <a:prstGeom prst="ellipse">
            <a:avLst/>
          </a:prstGeom>
          <a:solidFill>
            <a:srgbClr val="7F77DD"/>
          </a:solidFill>
          <a:ln/>
        </p:spPr>
        <p:txBody>
          <a:bodyPr/>
          <a:lstStyle/>
          <a:p>
            <a:endParaRPr lang="en-US"/>
          </a:p>
        </p:txBody>
      </p:sp>
      <p:sp>
        <p:nvSpPr>
          <p:cNvPr id="11" name="Text 9"/>
          <p:cNvSpPr/>
          <p:nvPr/>
        </p:nvSpPr>
        <p:spPr>
          <a:xfrm>
            <a:off x="548640" y="21854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51560" y="2157984"/>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Write tests</a:t>
            </a:r>
            <a:r>
              <a:rPr lang="en-US" sz="1200" dirty="0">
                <a:solidFill>
                  <a:srgbClr val="555555"/>
                </a:solidFill>
                <a:latin typeface="Calibri" pitchFamily="34" charset="0"/>
                <a:ea typeface="Calibri" pitchFamily="34" charset="-122"/>
                <a:cs typeface="Calibri" pitchFamily="34" charset="-120"/>
              </a:rPr>
              <a:t> — known input, expected output, assert they match, </a:t>
            </a:r>
            <a:r>
              <a:rPr lang="en-US" sz="1200">
                <a:solidFill>
                  <a:srgbClr val="555555"/>
                </a:solidFill>
                <a:latin typeface="Calibri" pitchFamily="34" charset="0"/>
                <a:ea typeface="Calibri" pitchFamily="34" charset="-122"/>
                <a:cs typeface="Calibri" pitchFamily="34" charset="-120"/>
              </a:rPr>
              <a:t>automate testing</a:t>
            </a:r>
            <a:endParaRPr lang="en-US" sz="1400" dirty="0"/>
          </a:p>
        </p:txBody>
      </p:sp>
      <p:sp>
        <p:nvSpPr>
          <p:cNvPr id="13" name="Shape 11"/>
          <p:cNvSpPr/>
          <p:nvPr/>
        </p:nvSpPr>
        <p:spPr>
          <a:xfrm>
            <a:off x="548640" y="2715768"/>
            <a:ext cx="365760" cy="365760"/>
          </a:xfrm>
          <a:prstGeom prst="ellipse">
            <a:avLst/>
          </a:prstGeom>
          <a:solidFill>
            <a:srgbClr val="BA7517"/>
          </a:solidFill>
          <a:ln/>
        </p:spPr>
        <p:txBody>
          <a:bodyPr/>
          <a:lstStyle/>
          <a:p>
            <a:endParaRPr lang="en-US"/>
          </a:p>
        </p:txBody>
      </p:sp>
      <p:sp>
        <p:nvSpPr>
          <p:cNvPr id="14" name="Text 12"/>
          <p:cNvSpPr/>
          <p:nvPr/>
        </p:nvSpPr>
        <p:spPr>
          <a:xfrm>
            <a:off x="548640" y="271576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51560" y="2688336"/>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Version control</a:t>
            </a:r>
            <a:r>
              <a:rPr lang="en-US" sz="1200" dirty="0">
                <a:solidFill>
                  <a:srgbClr val="555555"/>
                </a:solidFill>
                <a:latin typeface="Calibri" pitchFamily="34" charset="0"/>
                <a:ea typeface="Calibri" pitchFamily="34" charset="-122"/>
                <a:cs typeface="Calibri" pitchFamily="34" charset="-120"/>
              </a:rPr>
              <a:t> — every version recorded, always reversible *(dedicated session)*</a:t>
            </a:r>
            <a:endParaRPr lang="en-US" sz="1400" dirty="0"/>
          </a:p>
        </p:txBody>
      </p:sp>
      <p:sp>
        <p:nvSpPr>
          <p:cNvPr id="16" name="Shape 14"/>
          <p:cNvSpPr/>
          <p:nvPr/>
        </p:nvSpPr>
        <p:spPr>
          <a:xfrm>
            <a:off x="548640" y="3246120"/>
            <a:ext cx="365760" cy="365760"/>
          </a:xfrm>
          <a:prstGeom prst="ellipse">
            <a:avLst/>
          </a:prstGeom>
          <a:solidFill>
            <a:srgbClr val="1D9E75"/>
          </a:solidFill>
          <a:ln/>
        </p:spPr>
        <p:txBody>
          <a:bodyPr/>
          <a:lstStyle/>
          <a:p>
            <a:endParaRPr lang="en-US"/>
          </a:p>
        </p:txBody>
      </p:sp>
      <p:sp>
        <p:nvSpPr>
          <p:cNvPr id="17" name="Text 15"/>
          <p:cNvSpPr/>
          <p:nvPr/>
        </p:nvSpPr>
        <p:spPr>
          <a:xfrm>
            <a:off x="548640" y="32461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51560" y="3218688"/>
            <a:ext cx="7543800" cy="420624"/>
          </a:xfrm>
          <a:prstGeom prst="rect">
            <a:avLst/>
          </a:prstGeom>
          <a:noFill/>
          <a:ln/>
        </p:spPr>
        <p:txBody>
          <a:bodyPr wrap="square" lIns="0" tIns="0" rIns="0" bIns="0" rtlCol="0" anchor="ctr"/>
          <a:lstStyle/>
          <a:p>
            <a:pPr marL="0" indent="0" algn="l">
              <a:buNone/>
            </a:pPr>
            <a:r>
              <a:rPr lang="en-US" sz="1400" b="1" dirty="0">
                <a:solidFill>
                  <a:srgbClr val="1A1A1A"/>
                </a:solidFill>
                <a:latin typeface="Calibri" pitchFamily="34" charset="0"/>
                <a:ea typeface="Calibri" pitchFamily="34" charset="-122"/>
                <a:cs typeface="Calibri" pitchFamily="34" charset="-120"/>
              </a:rPr>
              <a:t>Document it</a:t>
            </a:r>
            <a:r>
              <a:rPr lang="en-US" sz="1200" dirty="0">
                <a:solidFill>
                  <a:srgbClr val="555555"/>
                </a:solidFill>
                <a:latin typeface="Calibri" pitchFamily="34" charset="0"/>
                <a:ea typeface="Calibri" pitchFamily="34" charset="-122"/>
                <a:cs typeface="Calibri" pitchFamily="34" charset="-120"/>
              </a:rPr>
              <a:t> — docstrings + README as the floor *(dedicated session)*</a:t>
            </a:r>
            <a:endParaRPr lang="en-US" sz="1400" dirty="0"/>
          </a:p>
        </p:txBody>
      </p:sp>
      <p:sp>
        <p:nvSpPr>
          <p:cNvPr id="19" name="Text 17"/>
          <p:cNvSpPr/>
          <p:nvPr/>
        </p:nvSpPr>
        <p:spPr>
          <a:xfrm>
            <a:off x="548640" y="3931920"/>
            <a:ext cx="8046720" cy="320040"/>
          </a:xfrm>
          <a:prstGeom prst="rect">
            <a:avLst/>
          </a:prstGeom>
          <a:noFill/>
          <a:ln/>
        </p:spPr>
        <p:txBody>
          <a:bodyPr wrap="square" lIns="0" tIns="0" rIns="0" bIns="0" rtlCol="0" anchor="ctr"/>
          <a:lstStyle/>
          <a:p>
            <a:pPr marL="0" indent="0" algn="l">
              <a:buNone/>
            </a:pPr>
            <a:r>
              <a:rPr lang="en-US" sz="1300" i="1" dirty="0">
                <a:solidFill>
                  <a:srgbClr val="C8A951"/>
                </a:solidFill>
                <a:latin typeface="Georgia" pitchFamily="34" charset="0"/>
                <a:ea typeface="Georgia" pitchFamily="34" charset="-122"/>
                <a:cs typeface="Georgia" pitchFamily="34" charset="-120"/>
              </a:rPr>
              <a:t>Each one independently improves your code. Together they compound.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2">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C8A951"/>
          </a:solidFill>
          <a:ln/>
        </p:spPr>
        <p:txBody>
          <a:bodyPr/>
          <a:lstStyle/>
          <a:p>
            <a:endParaRPr lang="en-US"/>
          </a:p>
        </p:txBody>
      </p:sp>
      <p:sp>
        <p:nvSpPr>
          <p:cNvPr id="3" name="Text 1"/>
          <p:cNvSpPr/>
          <p:nvPr/>
        </p:nvSpPr>
        <p:spPr>
          <a:xfrm>
            <a:off x="731520" y="1280160"/>
            <a:ext cx="7680960" cy="1097280"/>
          </a:xfrm>
          <a:prstGeom prst="rect">
            <a:avLst/>
          </a:prstGeom>
          <a:noFill/>
          <a:ln/>
        </p:spPr>
        <p:txBody>
          <a:bodyPr wrap="square" lIns="0" tIns="0" rIns="0" bIns="0" rtlCol="0" anchor="ctr"/>
          <a:lstStyle/>
          <a:p>
            <a:pPr marL="0" indent="0" algn="l">
              <a:buNone/>
            </a:pPr>
            <a:r>
              <a:rPr lang="en-US" sz="2800" dirty="0">
                <a:solidFill>
                  <a:srgbClr val="FFFFFF"/>
                </a:solidFill>
                <a:latin typeface="Georgia" pitchFamily="34" charset="0"/>
                <a:ea typeface="Georgia" pitchFamily="34" charset="-122"/>
                <a:cs typeface="Georgia" pitchFamily="34" charset="-120"/>
              </a:rPr>
              <a:t>The Code You Write Today Is the Code You Debug Tomorrow</a:t>
            </a:r>
            <a:endParaRPr lang="en-US" sz="2800" dirty="0"/>
          </a:p>
        </p:txBody>
      </p:sp>
      <p:sp>
        <p:nvSpPr>
          <p:cNvPr id="4" name="Text 2"/>
          <p:cNvSpPr/>
          <p:nvPr/>
        </p:nvSpPr>
        <p:spPr>
          <a:xfrm>
            <a:off x="731520" y="2743200"/>
            <a:ext cx="7680960" cy="320040"/>
          </a:xfrm>
          <a:prstGeom prst="rect">
            <a:avLst/>
          </a:prstGeom>
          <a:noFill/>
          <a:ln/>
        </p:spPr>
        <p:txBody>
          <a:bodyPr wrap="square" lIns="0" tIns="0" rIns="0" bIns="0" rtlCol="0" anchor="ctr"/>
          <a:lstStyle/>
          <a:p>
            <a:pPr marL="0" indent="0" algn="l">
              <a:buNone/>
            </a:pPr>
            <a:r>
              <a:rPr lang="en-US" sz="1300" i="1" dirty="0">
                <a:solidFill>
                  <a:srgbClr val="C8A951"/>
                </a:solidFill>
                <a:latin typeface="Georgia" pitchFamily="34" charset="0"/>
                <a:ea typeface="Georgia" pitchFamily="34" charset="-122"/>
                <a:cs typeface="Georgia" pitchFamily="34" charset="-120"/>
              </a:rPr>
              <a:t>Start with one habit. Then add another.</a:t>
            </a:r>
            <a:endParaRPr lang="en-US" sz="1300" dirty="0"/>
          </a:p>
        </p:txBody>
      </p:sp>
      <p:sp>
        <p:nvSpPr>
          <p:cNvPr id="5" name="Text 3"/>
          <p:cNvSpPr/>
          <p:nvPr/>
        </p:nvSpPr>
        <p:spPr>
          <a:xfrm>
            <a:off x="731520" y="3154680"/>
            <a:ext cx="7680960" cy="548640"/>
          </a:xfrm>
          <a:prstGeom prst="rect">
            <a:avLst/>
          </a:prstGeom>
          <a:noFill/>
          <a:ln/>
        </p:spPr>
        <p:txBody>
          <a:bodyPr wrap="square" lIns="0" tIns="0" rIns="0" bIns="0" rtlCol="0" anchor="ctr"/>
          <a:lstStyle/>
          <a:p>
            <a:pPr marL="0" indent="0" algn="l">
              <a:buNone/>
            </a:pPr>
            <a:r>
              <a:rPr lang="en-US" sz="1300" dirty="0">
                <a:solidFill>
                  <a:srgbClr val="888888"/>
                </a:solidFill>
                <a:latin typeface="Courier New" pitchFamily="34" charset="0"/>
                <a:ea typeface="Courier New" pitchFamily="34" charset="-122"/>
                <a:cs typeface="Courier New" pitchFamily="34" charset="-120"/>
              </a:rPr>
              <a:t>Download pack: </a:t>
            </a:r>
            <a:r>
              <a:rPr lang="en-US" sz="1200" dirty="0">
                <a:solidFill>
                  <a:srgbClr val="888888"/>
                </a:solidFill>
                <a:latin typeface="Courier New" pitchFamily="34" charset="0"/>
                <a:ea typeface="Courier New" pitchFamily="34" charset="-122"/>
                <a:cs typeface="Courier New" pitchFamily="34" charset="-120"/>
              </a:rPr>
              <a:t>bad_analysis.py</a:t>
            </a:r>
            <a:r>
              <a:rPr lang="en-US" sz="1300" dirty="0">
                <a:solidFill>
                  <a:srgbClr val="888888"/>
                </a:solidFill>
                <a:latin typeface="Courier New" pitchFamily="34" charset="0"/>
                <a:ea typeface="Courier New" pitchFamily="34" charset="-122"/>
                <a:cs typeface="Courier New" pitchFamily="34" charset="-120"/>
              </a:rPr>
              <a:t>, </a:t>
            </a:r>
            <a:r>
              <a:rPr lang="en-US" sz="1200" dirty="0">
                <a:solidFill>
                  <a:srgbClr val="888888"/>
                </a:solidFill>
                <a:latin typeface="Courier New" pitchFamily="34" charset="0"/>
                <a:ea typeface="Courier New" pitchFamily="34" charset="-122"/>
                <a:cs typeface="Courier New" pitchFamily="34" charset="-120"/>
              </a:rPr>
              <a:t>good_analysis.py</a:t>
            </a:r>
            <a:r>
              <a:rPr lang="en-US" sz="1300" dirty="0">
                <a:solidFill>
                  <a:srgbClr val="888888"/>
                </a:solidFill>
                <a:latin typeface="Courier New" pitchFamily="34" charset="0"/>
                <a:ea typeface="Courier New" pitchFamily="34" charset="-122"/>
                <a:cs typeface="Courier New" pitchFamily="34" charset="-120"/>
              </a:rPr>
              <a:t>, </a:t>
            </a:r>
            <a:r>
              <a:rPr lang="en-US" sz="1200" dirty="0">
                <a:solidFill>
                  <a:srgbClr val="888888"/>
                </a:solidFill>
                <a:latin typeface="Courier New" pitchFamily="34" charset="0"/>
                <a:ea typeface="Courier New" pitchFamily="34" charset="-122"/>
                <a:cs typeface="Courier New" pitchFamily="34" charset="-120"/>
              </a:rPr>
              <a:t>test_good_analysis.py</a:t>
            </a:r>
            <a:r>
              <a:rPr lang="en-US" sz="1300" dirty="0">
                <a:solidFill>
                  <a:srgbClr val="888888"/>
                </a:solidFill>
                <a:latin typeface="Courier New" pitchFamily="34" charset="0"/>
                <a:ea typeface="Courier New" pitchFamily="34" charset="-122"/>
                <a:cs typeface="Courier New" pitchFamily="34" charset="-120"/>
              </a:rPr>
              <a:t>, </a:t>
            </a:r>
            <a:r>
              <a:rPr lang="en-US" sz="1200" dirty="0">
                <a:solidFill>
                  <a:srgbClr val="888888"/>
                </a:solidFill>
                <a:latin typeface="Courier New" pitchFamily="34" charset="0"/>
                <a:ea typeface="Courier New" pitchFamily="34" charset="-122"/>
                <a:cs typeface="Courier New" pitchFamily="34" charset="-120"/>
              </a:rPr>
              <a:t>make_data.py</a:t>
            </a:r>
            <a:r>
              <a:rPr lang="en-US" sz="1300" dirty="0">
                <a:solidFill>
                  <a:srgbClr val="888888"/>
                </a:solidFill>
                <a:latin typeface="Courier New" pitchFamily="34" charset="0"/>
                <a:ea typeface="Courier New" pitchFamily="34" charset="-122"/>
                <a:cs typeface="Courier New" pitchFamily="34" charset="-120"/>
              </a:rPr>
              <a:t>, </a:t>
            </a:r>
            <a:r>
              <a:rPr lang="en-US" sz="1200" dirty="0">
                <a:solidFill>
                  <a:srgbClr val="888888"/>
                </a:solidFill>
                <a:latin typeface="Courier New" pitchFamily="34" charset="0"/>
                <a:ea typeface="Courier New" pitchFamily="34" charset="-122"/>
                <a:cs typeface="Courier New" pitchFamily="34" charset="-120"/>
              </a:rPr>
              <a:t>tumor_data.csv</a:t>
            </a:r>
            <a:r>
              <a:rPr lang="en-US" sz="1300" dirty="0">
                <a:solidFill>
                  <a:srgbClr val="888888"/>
                </a:solidFill>
                <a:latin typeface="Courier New" pitchFamily="34" charset="0"/>
                <a:ea typeface="Courier New" pitchFamily="34" charset="-122"/>
                <a:cs typeface="Courier New" pitchFamily="34" charset="-120"/>
              </a:rPr>
              <a:t>, </a:t>
            </a:r>
            <a:r>
              <a:rPr lang="en-US" sz="1200" dirty="0">
                <a:solidFill>
                  <a:srgbClr val="888888"/>
                </a:solidFill>
                <a:latin typeface="Courier New" pitchFamily="34" charset="0"/>
                <a:ea typeface="Courier New" pitchFamily="34" charset="-122"/>
                <a:cs typeface="Courier New" pitchFamily="34" charset="-120"/>
              </a:rPr>
              <a:t>README.md</a:t>
            </a:r>
            <a:endParaRPr lang="en-US" sz="1300" dirty="0"/>
          </a:p>
        </p:txBody>
      </p:sp>
      <p:sp>
        <p:nvSpPr>
          <p:cNvPr id="6" name="Shape 4"/>
          <p:cNvSpPr/>
          <p:nvPr/>
        </p:nvSpPr>
        <p:spPr>
          <a:xfrm>
            <a:off x="731520" y="4389120"/>
            <a:ext cx="1828800" cy="27432"/>
          </a:xfrm>
          <a:prstGeom prst="rect">
            <a:avLst/>
          </a:prstGeom>
          <a:solidFill>
            <a:srgbClr val="C8A951"/>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8629</TotalTime>
  <Words>4965</Words>
  <Application>Microsoft Macintosh PowerPoint</Application>
  <PresentationFormat>On-screen Show (16:9)</PresentationFormat>
  <Paragraphs>352</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Arial</vt:lpstr>
      <vt:lpstr>Calibri</vt:lpstr>
      <vt:lpstr>Consolas</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Five Habits of a Software Developer</dc:title>
  <dc:subject>PptxGenJS Presentation</dc:subject>
  <dc:creator>Carlos</dc:creator>
  <cp:lastModifiedBy>Carlton Mason</cp:lastModifiedBy>
  <cp:revision>36</cp:revision>
  <dcterms:created xsi:type="dcterms:W3CDTF">2026-09-22T16:50:37Z</dcterms:created>
  <dcterms:modified xsi:type="dcterms:W3CDTF">2026-10-03T16:06:59Z</dcterms:modified>
</cp:coreProperties>
</file>