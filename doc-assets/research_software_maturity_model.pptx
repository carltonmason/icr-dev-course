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76" r:id="rId3"/>
    <p:sldId id="258" r:id="rId4"/>
    <p:sldId id="284" r:id="rId5"/>
    <p:sldId id="285" r:id="rId6"/>
    <p:sldId id="286" r:id="rId7"/>
    <p:sldId id="287" r:id="rId8"/>
    <p:sldId id="288" r:id="rId9"/>
    <p:sldId id="257"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86"/>
    <p:restoredTop sz="74274"/>
  </p:normalViewPr>
  <p:slideViewPr>
    <p:cSldViewPr snapToGrid="0" snapToObjects="1">
      <p:cViewPr varScale="1">
        <p:scale>
          <a:sx n="122" d="100"/>
          <a:sy n="122" d="100"/>
        </p:scale>
        <p:origin x="8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443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Welcome back from the history section. You've seen 80 years of the industry learning the same lessons over and over. Now let's bring it to your desk. Everything that follows uses a single example — a tumor growth analysis — that we'll improve step by step.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623656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09659-F28B-59FE-5F24-58D0DAD7A2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8FF9E-263E-C13A-E69D-62A813BD76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55DD141-0942-D9C0-2EC2-8C8B76EE6D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CD06F4-A8AE-7B93-80F9-7DFBDA9B5531}"/>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68806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D9B43-AFB4-97EC-8003-F50EFE8D0E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F4CD93-EE8A-AAFF-9569-4667DD90C8C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437687F-B30A-1FDD-4342-1A0FF1844D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5530DD-0817-5988-D0AF-000E940D48F6}"/>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45146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FBFD5-0ABE-480F-46C6-2CAD9DAFE4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058327-4565-60E1-B18C-86C3F73AC32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DAA48D-7039-10EE-B499-23453EC66F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A2838A-C86D-C51F-FB5B-20FC4010D45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5553069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285CA-F356-3937-BE8F-B4DE789E0B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6C6D76-D043-3944-C897-458BD07B5B7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46458F2-2CC0-CF21-AE84-A001F01F3B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294677-3081-8190-3272-DE7FF2239BB6}"/>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754483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0FF9D-C1AF-4E48-65CE-8EFBE695A2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4E660F-29A2-3AAB-B16E-45679ADE98E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9E5C67C-47BC-3712-7D4D-56C2AAB2DA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6BAB51-4841-92D2-59C8-F4BEF5AF8ADB}"/>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6069591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isn't about job titles — it's about habits. A physicist who writes code with these habits IS a software developer. The table is deliberately provocative. Ask: "Which column sounds more like your code right now?" Most will laugh and point left.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C8A951"/>
          </a:solidFill>
          <a:ln/>
        </p:spPr>
        <p:txBody>
          <a:bodyPr/>
          <a:lstStyle/>
          <a:p>
            <a:endParaRPr lang="en-US"/>
          </a:p>
        </p:txBody>
      </p:sp>
      <p:sp>
        <p:nvSpPr>
          <p:cNvPr id="3" name="Text 1"/>
          <p:cNvSpPr/>
          <p:nvPr/>
        </p:nvSpPr>
        <p:spPr>
          <a:xfrm>
            <a:off x="731520" y="1280160"/>
            <a:ext cx="7680960" cy="1645920"/>
          </a:xfrm>
          <a:prstGeom prst="rect">
            <a:avLst/>
          </a:prstGeom>
          <a:noFill/>
          <a:ln/>
        </p:spPr>
        <p:txBody>
          <a:bodyPr wrap="square" lIns="0" tIns="0" rIns="0" bIns="0" rtlCol="0" anchor="ctr"/>
          <a:lstStyle/>
          <a:p>
            <a:pPr marL="0" indent="0" algn="l">
              <a:buNone/>
            </a:pPr>
            <a:r>
              <a:rPr lang="en-US" sz="3600" dirty="0">
                <a:solidFill>
                  <a:srgbClr val="FFFFFF"/>
                </a:solidFill>
                <a:latin typeface="Georgia" pitchFamily="34" charset="0"/>
              </a:rPr>
              <a:t>Research Software Maturity Model</a:t>
            </a:r>
            <a:endParaRPr lang="en-US" sz="3600" dirty="0"/>
          </a:p>
        </p:txBody>
      </p:sp>
      <p:sp>
        <p:nvSpPr>
          <p:cNvPr id="4" name="Text 2"/>
          <p:cNvSpPr/>
          <p:nvPr/>
        </p:nvSpPr>
        <p:spPr>
          <a:xfrm>
            <a:off x="731520" y="2926080"/>
            <a:ext cx="7680960" cy="548640"/>
          </a:xfrm>
          <a:prstGeom prst="rect">
            <a:avLst/>
          </a:prstGeom>
          <a:noFill/>
          <a:ln/>
        </p:spPr>
        <p:txBody>
          <a:bodyPr wrap="square" lIns="0" tIns="0" rIns="0" bIns="0" rtlCol="0" anchor="ctr"/>
          <a:lstStyle/>
          <a:p>
            <a:pPr marL="0" indent="0" algn="l">
              <a:buNone/>
            </a:pPr>
            <a:r>
              <a:rPr lang="en-US" sz="1600" i="1" dirty="0">
                <a:solidFill>
                  <a:srgbClr val="C8A951"/>
                </a:solidFill>
                <a:latin typeface="Georgia" pitchFamily="34" charset="0"/>
                <a:ea typeface="Georgia" pitchFamily="34" charset="-122"/>
                <a:cs typeface="Georgia" pitchFamily="34" charset="-120"/>
              </a:rPr>
              <a:t>From disposable scripts to reusable research infrastructure"</a:t>
            </a:r>
            <a:endParaRPr lang="en-US" sz="1600" dirty="0"/>
          </a:p>
        </p:txBody>
      </p:sp>
      <p:sp>
        <p:nvSpPr>
          <p:cNvPr id="5" name="Shape 3"/>
          <p:cNvSpPr/>
          <p:nvPr/>
        </p:nvSpPr>
        <p:spPr>
          <a:xfrm>
            <a:off x="731520" y="4389120"/>
            <a:ext cx="1828800" cy="27432"/>
          </a:xfrm>
          <a:prstGeom prst="rect">
            <a:avLst/>
          </a:prstGeom>
          <a:solidFill>
            <a:srgbClr val="C8A951"/>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rPr>
              <a:t>Research Software Maturity Model</a:t>
            </a:r>
            <a:endParaRPr lang="en-US" sz="2600" dirty="0"/>
          </a:p>
        </p:txBody>
      </p:sp>
      <p:sp>
        <p:nvSpPr>
          <p:cNvPr id="3" name="Shape 1"/>
          <p:cNvSpPr/>
          <p:nvPr/>
        </p:nvSpPr>
        <p:spPr>
          <a:xfrm>
            <a:off x="548640" y="804672"/>
            <a:ext cx="1371600" cy="27432"/>
          </a:xfrm>
          <a:prstGeom prst="rect">
            <a:avLst/>
          </a:prstGeom>
          <a:solidFill>
            <a:srgbClr val="C8A951"/>
          </a:solidFill>
          <a:ln/>
        </p:spPr>
        <p:txBody>
          <a:bodyPr/>
          <a:lstStyle/>
          <a:p>
            <a:endParaRPr lang="en-US"/>
          </a:p>
        </p:txBody>
      </p:sp>
      <p:sp>
        <p:nvSpPr>
          <p:cNvPr id="4" name="Shape 2"/>
          <p:cNvSpPr/>
          <p:nvPr/>
        </p:nvSpPr>
        <p:spPr>
          <a:xfrm>
            <a:off x="548640" y="1124712"/>
            <a:ext cx="365760" cy="365760"/>
          </a:xfrm>
          <a:prstGeom prst="ellipse">
            <a:avLst/>
          </a:prstGeom>
          <a:solidFill>
            <a:srgbClr val="FF0000"/>
          </a:solidFill>
          <a:ln/>
        </p:spPr>
        <p:txBody>
          <a:bodyPr/>
          <a:lstStyle/>
          <a:p>
            <a:endParaRPr lang="en-US"/>
          </a:p>
        </p:txBody>
      </p:sp>
      <p:sp>
        <p:nvSpPr>
          <p:cNvPr id="5" name="Text 3"/>
          <p:cNvSpPr/>
          <p:nvPr/>
        </p:nvSpPr>
        <p:spPr>
          <a:xfrm>
            <a:off x="548640" y="112471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cs typeface="Calibri" pitchFamily="34" charset="-120"/>
              </a:rPr>
              <a:t>0</a:t>
            </a:r>
            <a:endParaRPr lang="en-US" sz="1400" dirty="0"/>
          </a:p>
        </p:txBody>
      </p:sp>
      <p:sp>
        <p:nvSpPr>
          <p:cNvPr id="6" name="Text 4"/>
          <p:cNvSpPr/>
          <p:nvPr/>
        </p:nvSpPr>
        <p:spPr>
          <a:xfrm>
            <a:off x="1051560" y="1097280"/>
            <a:ext cx="7543800" cy="420624"/>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Disposable Code </a:t>
            </a:r>
            <a:r>
              <a:rPr lang="en-US" sz="1200" dirty="0">
                <a:solidFill>
                  <a:srgbClr val="555555"/>
                </a:solidFill>
                <a:latin typeface="Calibri" pitchFamily="34" charset="0"/>
                <a:ea typeface="Calibri" pitchFamily="34" charset="-122"/>
                <a:cs typeface="Calibri" pitchFamily="34" charset="-120"/>
              </a:rPr>
              <a:t> — Code written to answer one question once.</a:t>
            </a:r>
            <a:endParaRPr lang="en-US" sz="1400" dirty="0"/>
          </a:p>
        </p:txBody>
      </p:sp>
      <p:sp>
        <p:nvSpPr>
          <p:cNvPr id="7" name="Shape 5"/>
          <p:cNvSpPr/>
          <p:nvPr/>
        </p:nvSpPr>
        <p:spPr>
          <a:xfrm>
            <a:off x="548640" y="1655064"/>
            <a:ext cx="365760" cy="365760"/>
          </a:xfrm>
          <a:prstGeom prst="ellipse">
            <a:avLst/>
          </a:prstGeom>
          <a:solidFill>
            <a:srgbClr val="FFC000"/>
          </a:solidFill>
          <a:ln/>
        </p:spPr>
        <p:txBody>
          <a:bodyPr/>
          <a:lstStyle/>
          <a:p>
            <a:endParaRPr lang="en-US"/>
          </a:p>
        </p:txBody>
      </p:sp>
      <p:sp>
        <p:nvSpPr>
          <p:cNvPr id="8" name="Text 6"/>
          <p:cNvSpPr/>
          <p:nvPr/>
        </p:nvSpPr>
        <p:spPr>
          <a:xfrm>
            <a:off x="548640" y="165506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cs typeface="Calibri" pitchFamily="34" charset="-120"/>
              </a:rPr>
              <a:t>1</a:t>
            </a:r>
            <a:endParaRPr lang="en-US" sz="1400" dirty="0"/>
          </a:p>
        </p:txBody>
      </p:sp>
      <p:sp>
        <p:nvSpPr>
          <p:cNvPr id="9" name="Text 7"/>
          <p:cNvSpPr/>
          <p:nvPr/>
        </p:nvSpPr>
        <p:spPr>
          <a:xfrm>
            <a:off x="1051560" y="1627632"/>
            <a:ext cx="7543800" cy="420624"/>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Personal Organization</a:t>
            </a:r>
            <a:r>
              <a:rPr lang="en-US" sz="1200" dirty="0">
                <a:solidFill>
                  <a:srgbClr val="555555"/>
                </a:solidFill>
                <a:latin typeface="Calibri" pitchFamily="34" charset="0"/>
                <a:ea typeface="Calibri" pitchFamily="34" charset="-122"/>
                <a:cs typeface="Calibri" pitchFamily="34" charset="-120"/>
              </a:rPr>
              <a:t> — The student begins organizing their own work</a:t>
            </a:r>
            <a:endParaRPr lang="en-US" sz="1400" dirty="0"/>
          </a:p>
        </p:txBody>
      </p:sp>
      <p:sp>
        <p:nvSpPr>
          <p:cNvPr id="10" name="Shape 8"/>
          <p:cNvSpPr/>
          <p:nvPr/>
        </p:nvSpPr>
        <p:spPr>
          <a:xfrm>
            <a:off x="548640" y="2185416"/>
            <a:ext cx="365760" cy="365760"/>
          </a:xfrm>
          <a:prstGeom prst="ellipse">
            <a:avLst/>
          </a:prstGeom>
          <a:solidFill>
            <a:srgbClr val="FFFF00"/>
          </a:solidFill>
          <a:ln/>
        </p:spPr>
        <p:txBody>
          <a:bodyPr/>
          <a:lstStyle/>
          <a:p>
            <a:endParaRPr lang="en-US" dirty="0"/>
          </a:p>
        </p:txBody>
      </p:sp>
      <p:sp>
        <p:nvSpPr>
          <p:cNvPr id="11" name="Text 9"/>
          <p:cNvSpPr/>
          <p:nvPr/>
        </p:nvSpPr>
        <p:spPr>
          <a:xfrm>
            <a:off x="548640" y="2185416"/>
            <a:ext cx="365760" cy="365760"/>
          </a:xfrm>
          <a:prstGeom prst="rect">
            <a:avLst/>
          </a:prstGeom>
          <a:noFill/>
          <a:ln/>
        </p:spPr>
        <p:txBody>
          <a:bodyPr wrap="square" lIns="0" tIns="0" rIns="0" bIns="0" rtlCol="0" anchor="ctr"/>
          <a:lstStyle/>
          <a:p>
            <a:pPr marL="0" indent="0" algn="ctr">
              <a:buNone/>
            </a:pPr>
            <a:r>
              <a:rPr lang="en-US" sz="1400" b="1" dirty="0">
                <a:latin typeface="Calibri" pitchFamily="34" charset="0"/>
                <a:cs typeface="Calibri" pitchFamily="34" charset="-120"/>
              </a:rPr>
              <a:t>2</a:t>
            </a:r>
            <a:endParaRPr lang="en-US" sz="1400" dirty="0"/>
          </a:p>
        </p:txBody>
      </p:sp>
      <p:sp>
        <p:nvSpPr>
          <p:cNvPr id="12" name="Text 10"/>
          <p:cNvSpPr/>
          <p:nvPr/>
        </p:nvSpPr>
        <p:spPr>
          <a:xfrm>
            <a:off x="1051560" y="2157984"/>
            <a:ext cx="7543800" cy="420624"/>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Reproducible Research</a:t>
            </a:r>
            <a:r>
              <a:rPr lang="en-US" sz="1200" dirty="0">
                <a:solidFill>
                  <a:srgbClr val="555555"/>
                </a:solidFill>
                <a:latin typeface="Calibri" pitchFamily="34" charset="0"/>
                <a:ea typeface="Calibri" pitchFamily="34" charset="-122"/>
                <a:cs typeface="Calibri" pitchFamily="34" charset="-120"/>
              </a:rPr>
              <a:t> — The project can reliably reproduce published results</a:t>
            </a:r>
            <a:endParaRPr lang="en-US" sz="1400" dirty="0"/>
          </a:p>
        </p:txBody>
      </p:sp>
      <p:sp>
        <p:nvSpPr>
          <p:cNvPr id="13" name="Shape 11"/>
          <p:cNvSpPr/>
          <p:nvPr/>
        </p:nvSpPr>
        <p:spPr>
          <a:xfrm>
            <a:off x="548640" y="2715768"/>
            <a:ext cx="365760" cy="365760"/>
          </a:xfrm>
          <a:prstGeom prst="ellipse">
            <a:avLst/>
          </a:prstGeom>
          <a:solidFill>
            <a:schemeClr val="accent6"/>
          </a:solidFill>
          <a:ln/>
        </p:spPr>
        <p:txBody>
          <a:bodyPr/>
          <a:lstStyle/>
          <a:p>
            <a:endParaRPr lang="en-US"/>
          </a:p>
        </p:txBody>
      </p:sp>
      <p:sp>
        <p:nvSpPr>
          <p:cNvPr id="14" name="Text 12"/>
          <p:cNvSpPr/>
          <p:nvPr/>
        </p:nvSpPr>
        <p:spPr>
          <a:xfrm>
            <a:off x="548640" y="271576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cs typeface="Calibri" pitchFamily="34" charset="-120"/>
              </a:rPr>
              <a:t>3</a:t>
            </a:r>
            <a:endParaRPr lang="en-US" sz="1400" dirty="0"/>
          </a:p>
        </p:txBody>
      </p:sp>
      <p:sp>
        <p:nvSpPr>
          <p:cNvPr id="15" name="Text 13"/>
          <p:cNvSpPr/>
          <p:nvPr/>
        </p:nvSpPr>
        <p:spPr>
          <a:xfrm>
            <a:off x="1051560" y="2688336"/>
            <a:ext cx="7543800" cy="420624"/>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Collaborative Research</a:t>
            </a:r>
            <a:r>
              <a:rPr lang="en-US" sz="1200" dirty="0">
                <a:solidFill>
                  <a:srgbClr val="555555"/>
                </a:solidFill>
                <a:latin typeface="Calibri" pitchFamily="34" charset="0"/>
                <a:ea typeface="Calibri" pitchFamily="34" charset="-122"/>
                <a:cs typeface="Calibri" pitchFamily="34" charset="-120"/>
              </a:rPr>
              <a:t>— Multiple researches can confidently contribute</a:t>
            </a:r>
            <a:endParaRPr lang="en-US" sz="1400" dirty="0"/>
          </a:p>
        </p:txBody>
      </p:sp>
      <p:sp>
        <p:nvSpPr>
          <p:cNvPr id="16" name="Shape 14"/>
          <p:cNvSpPr/>
          <p:nvPr/>
        </p:nvSpPr>
        <p:spPr>
          <a:xfrm>
            <a:off x="548640" y="3246120"/>
            <a:ext cx="365760" cy="365760"/>
          </a:xfrm>
          <a:prstGeom prst="ellipse">
            <a:avLst/>
          </a:prstGeom>
          <a:solidFill>
            <a:srgbClr val="00B0F0"/>
          </a:solidFill>
          <a:ln/>
        </p:spPr>
        <p:txBody>
          <a:bodyPr/>
          <a:lstStyle/>
          <a:p>
            <a:endParaRPr lang="en-US"/>
          </a:p>
        </p:txBody>
      </p:sp>
      <p:sp>
        <p:nvSpPr>
          <p:cNvPr id="17" name="Text 15"/>
          <p:cNvSpPr/>
          <p:nvPr/>
        </p:nvSpPr>
        <p:spPr>
          <a:xfrm>
            <a:off x="548640" y="32461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cs typeface="Calibri" pitchFamily="34" charset="-120"/>
              </a:rPr>
              <a:t>4</a:t>
            </a:r>
            <a:endParaRPr lang="en-US" sz="1400" dirty="0"/>
          </a:p>
        </p:txBody>
      </p:sp>
      <p:sp>
        <p:nvSpPr>
          <p:cNvPr id="18" name="Text 16"/>
          <p:cNvSpPr/>
          <p:nvPr/>
        </p:nvSpPr>
        <p:spPr>
          <a:xfrm>
            <a:off x="1051560" y="3218688"/>
            <a:ext cx="7543800" cy="420624"/>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Institutional-Grade Research Software</a:t>
            </a:r>
            <a:r>
              <a:rPr lang="en-US" sz="1200" dirty="0">
                <a:solidFill>
                  <a:srgbClr val="555555"/>
                </a:solidFill>
                <a:latin typeface="Calibri" pitchFamily="34" charset="0"/>
                <a:ea typeface="Calibri" pitchFamily="34" charset="-122"/>
                <a:cs typeface="Calibri" pitchFamily="34" charset="-120"/>
              </a:rPr>
              <a:t> — Software becomes a durable research asset</a:t>
            </a:r>
            <a:endParaRPr lang="en-US" sz="1400" dirty="0"/>
          </a:p>
        </p:txBody>
      </p:sp>
      <p:sp>
        <p:nvSpPr>
          <p:cNvPr id="19" name="Text 17"/>
          <p:cNvSpPr/>
          <p:nvPr/>
        </p:nvSpPr>
        <p:spPr>
          <a:xfrm>
            <a:off x="643233" y="4549140"/>
            <a:ext cx="8046720" cy="320040"/>
          </a:xfrm>
          <a:prstGeom prst="rect">
            <a:avLst/>
          </a:prstGeom>
          <a:noFill/>
          <a:ln/>
        </p:spPr>
        <p:txBody>
          <a:bodyPr wrap="square" lIns="0" tIns="0" rIns="0" bIns="0" rtlCol="0" anchor="ctr"/>
          <a:lstStyle/>
          <a:p>
            <a:pPr marL="0" indent="0" algn="l">
              <a:buNone/>
            </a:pPr>
            <a:r>
              <a:rPr lang="en-US" sz="1300" b="1" i="1" dirty="0">
                <a:solidFill>
                  <a:srgbClr val="C8A951"/>
                </a:solidFill>
                <a:latin typeface="Georgia" pitchFamily="34" charset="0"/>
                <a:ea typeface="Georgia" pitchFamily="34" charset="-122"/>
                <a:cs typeface="Georgia" pitchFamily="34" charset="-120"/>
              </a:rPr>
              <a:t>Level 2 should be the minimum for publishable computational research.</a:t>
            </a:r>
            <a:endParaRPr lang="en-US" sz="1300" b="1" dirty="0"/>
          </a:p>
        </p:txBody>
      </p:sp>
      <p:sp>
        <p:nvSpPr>
          <p:cNvPr id="26" name="Shape 14">
            <a:extLst>
              <a:ext uri="{FF2B5EF4-FFF2-40B4-BE49-F238E27FC236}">
                <a16:creationId xmlns:a16="http://schemas.microsoft.com/office/drawing/2014/main" id="{A48858B6-9BDB-BB75-280A-0D0B0D1059C3}"/>
              </a:ext>
            </a:extLst>
          </p:cNvPr>
          <p:cNvSpPr/>
          <p:nvPr/>
        </p:nvSpPr>
        <p:spPr>
          <a:xfrm>
            <a:off x="548640" y="3803904"/>
            <a:ext cx="365760" cy="365760"/>
          </a:xfrm>
          <a:prstGeom prst="ellipse">
            <a:avLst/>
          </a:prstGeom>
          <a:solidFill>
            <a:srgbClr val="7030A0"/>
          </a:solidFill>
          <a:ln/>
        </p:spPr>
        <p:txBody>
          <a:bodyPr/>
          <a:lstStyle/>
          <a:p>
            <a:endParaRPr lang="en-US"/>
          </a:p>
        </p:txBody>
      </p:sp>
      <p:sp>
        <p:nvSpPr>
          <p:cNvPr id="27" name="Text 15">
            <a:extLst>
              <a:ext uri="{FF2B5EF4-FFF2-40B4-BE49-F238E27FC236}">
                <a16:creationId xmlns:a16="http://schemas.microsoft.com/office/drawing/2014/main" id="{B91EC705-F56D-750E-EF6A-C8D7ACC5FADC}"/>
              </a:ext>
            </a:extLst>
          </p:cNvPr>
          <p:cNvSpPr/>
          <p:nvPr/>
        </p:nvSpPr>
        <p:spPr>
          <a:xfrm>
            <a:off x="548640" y="380390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cs typeface="Calibri" pitchFamily="34" charset="-120"/>
              </a:rPr>
              <a:t>5</a:t>
            </a:r>
            <a:endParaRPr lang="en-US" sz="1400" dirty="0"/>
          </a:p>
        </p:txBody>
      </p:sp>
      <p:sp>
        <p:nvSpPr>
          <p:cNvPr id="28" name="Text 16">
            <a:extLst>
              <a:ext uri="{FF2B5EF4-FFF2-40B4-BE49-F238E27FC236}">
                <a16:creationId xmlns:a16="http://schemas.microsoft.com/office/drawing/2014/main" id="{699A8637-45F0-B06A-7E2A-1914BB538B91}"/>
              </a:ext>
            </a:extLst>
          </p:cNvPr>
          <p:cNvSpPr/>
          <p:nvPr/>
        </p:nvSpPr>
        <p:spPr>
          <a:xfrm>
            <a:off x="1051560" y="3776472"/>
            <a:ext cx="7543800" cy="420624"/>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Research Platform</a:t>
            </a:r>
            <a:r>
              <a:rPr lang="en-US" sz="1200" dirty="0">
                <a:solidFill>
                  <a:srgbClr val="555555"/>
                </a:solidFill>
                <a:latin typeface="Calibri" pitchFamily="34" charset="0"/>
                <a:ea typeface="Calibri" pitchFamily="34" charset="-122"/>
                <a:cs typeface="Calibri" pitchFamily="34" charset="-120"/>
              </a:rPr>
              <a:t> — Software evolves into share scientific infrastructure</a:t>
            </a:r>
            <a:endParaRPr lang="en-US" sz="1400" dirty="0"/>
          </a:p>
        </p:txBody>
      </p:sp>
    </p:spTree>
    <p:extLst>
      <p:ext uri="{BB962C8B-B14F-4D97-AF65-F5344CB8AC3E}">
        <p14:creationId xmlns:p14="http://schemas.microsoft.com/office/powerpoint/2010/main" val="3370928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rPr>
              <a:t>Level 0 - Disposable Code</a:t>
            </a:r>
            <a:endParaRPr lang="en-US" sz="2600" dirty="0"/>
          </a:p>
        </p:txBody>
      </p:sp>
      <p:sp>
        <p:nvSpPr>
          <p:cNvPr id="3" name="Shape 1"/>
          <p:cNvSpPr/>
          <p:nvPr/>
        </p:nvSpPr>
        <p:spPr>
          <a:xfrm>
            <a:off x="548640" y="804672"/>
            <a:ext cx="1371600" cy="27432"/>
          </a:xfrm>
          <a:prstGeom prst="rect">
            <a:avLst/>
          </a:prstGeom>
          <a:solidFill>
            <a:srgbClr val="C8A951"/>
          </a:solidFill>
          <a:ln/>
        </p:spPr>
        <p:txBody>
          <a:bodyPr/>
          <a:lstStyle/>
          <a:p>
            <a:endParaRPr lang="en-US"/>
          </a:p>
        </p:txBody>
      </p:sp>
      <p:sp>
        <p:nvSpPr>
          <p:cNvPr id="5" name="TextBox 4">
            <a:extLst>
              <a:ext uri="{FF2B5EF4-FFF2-40B4-BE49-F238E27FC236}">
                <a16:creationId xmlns:a16="http://schemas.microsoft.com/office/drawing/2014/main" id="{5470C678-6CE0-8234-713A-AC1236ED0BD5}"/>
              </a:ext>
            </a:extLst>
          </p:cNvPr>
          <p:cNvSpPr txBox="1"/>
          <p:nvPr/>
        </p:nvSpPr>
        <p:spPr>
          <a:xfrm>
            <a:off x="548640" y="1072054"/>
            <a:ext cx="4237699" cy="4247317"/>
          </a:xfrm>
          <a:prstGeom prst="rect">
            <a:avLst/>
          </a:prstGeom>
          <a:noFill/>
        </p:spPr>
        <p:txBody>
          <a:bodyPr wrap="none" rtlCol="0">
            <a:spAutoFit/>
          </a:bodyPr>
          <a:lstStyle/>
          <a:p>
            <a:r>
              <a:rPr lang="en-US" b="1" dirty="0"/>
              <a:t>Description:</a:t>
            </a:r>
            <a:br>
              <a:rPr lang="en-US" dirty="0"/>
            </a:br>
            <a:r>
              <a:rPr lang="en-US" dirty="0"/>
              <a:t>Code written to answer one question once.</a:t>
            </a:r>
          </a:p>
          <a:p>
            <a:r>
              <a:rPr lang="en-US" b="1" dirty="0"/>
              <a:t>Characteristics:</a:t>
            </a:r>
            <a:endParaRPr lang="en-US" dirty="0"/>
          </a:p>
          <a:p>
            <a:pPr marL="285750" lvl="0" indent="-285750">
              <a:buFont typeface="Arial" panose="020B0604020202020204" pitchFamily="34" charset="0"/>
              <a:buChar char="•"/>
            </a:pPr>
            <a:r>
              <a:rPr lang="en-US" dirty="0"/>
              <a:t>Lives only on a personal laptop</a:t>
            </a:r>
          </a:p>
          <a:p>
            <a:pPr marL="285750" lvl="0" indent="-285750">
              <a:buFont typeface="Arial" panose="020B0604020202020204" pitchFamily="34" charset="0"/>
              <a:buChar char="•"/>
            </a:pPr>
            <a:r>
              <a:rPr lang="en-US" dirty="0"/>
              <a:t>No structure</a:t>
            </a:r>
          </a:p>
          <a:p>
            <a:pPr marL="285750" lvl="0" indent="-285750">
              <a:buFont typeface="Arial" panose="020B0604020202020204" pitchFamily="34" charset="0"/>
              <a:buChar char="•"/>
            </a:pPr>
            <a:r>
              <a:rPr lang="en-US" dirty="0"/>
              <a:t>No version control</a:t>
            </a:r>
          </a:p>
          <a:p>
            <a:pPr marL="285750" lvl="0" indent="-285750">
              <a:buFont typeface="Arial" panose="020B0604020202020204" pitchFamily="34" charset="0"/>
              <a:buChar char="•"/>
            </a:pPr>
            <a:r>
              <a:rPr lang="en-US" dirty="0"/>
              <a:t>Hard-coded file paths</a:t>
            </a:r>
          </a:p>
          <a:p>
            <a:pPr marL="285750" lvl="0" indent="-285750">
              <a:buFont typeface="Arial" panose="020B0604020202020204" pitchFamily="34" charset="0"/>
              <a:buChar char="•"/>
            </a:pPr>
            <a:r>
              <a:rPr lang="en-US" dirty="0"/>
              <a:t>Logic buried in notebooks</a:t>
            </a:r>
          </a:p>
          <a:p>
            <a:pPr marL="285750" lvl="0" indent="-285750">
              <a:buFont typeface="Arial" panose="020B0604020202020204" pitchFamily="34" charset="0"/>
              <a:buChar char="•"/>
            </a:pPr>
            <a:r>
              <a:rPr lang="en-US" dirty="0"/>
              <a:t>No documentation</a:t>
            </a:r>
          </a:p>
          <a:p>
            <a:pPr marL="285750" lvl="0" indent="-285750">
              <a:buFont typeface="Arial" panose="020B0604020202020204" pitchFamily="34" charset="0"/>
              <a:buChar char="•"/>
            </a:pPr>
            <a:r>
              <a:rPr lang="en-US" dirty="0"/>
              <a:t>No reproducibility guarantee</a:t>
            </a:r>
          </a:p>
          <a:p>
            <a:pPr marL="285750" lvl="0" indent="-285750">
              <a:buFont typeface="Arial" panose="020B0604020202020204" pitchFamily="34" charset="0"/>
              <a:buChar char="•"/>
            </a:pPr>
            <a:r>
              <a:rPr lang="en-US" dirty="0"/>
              <a:t>Breaks when the student leaves</a:t>
            </a:r>
          </a:p>
          <a:p>
            <a:r>
              <a:rPr lang="en-US" b="1" dirty="0"/>
              <a:t>Risk Level:</a:t>
            </a:r>
            <a:r>
              <a:rPr lang="en-US" dirty="0"/>
              <a:t> Extremely high</a:t>
            </a:r>
            <a:br>
              <a:rPr lang="en-US" dirty="0"/>
            </a:br>
            <a:r>
              <a:rPr lang="en-US" b="1" dirty="0"/>
              <a:t>Reproducibility:</a:t>
            </a:r>
            <a:r>
              <a:rPr lang="en-US" dirty="0"/>
              <a:t> Accidental</a:t>
            </a:r>
            <a:br>
              <a:rPr lang="en-US" dirty="0"/>
            </a:br>
            <a:r>
              <a:rPr lang="en-US" b="1" dirty="0"/>
              <a:t>Collaboration:</a:t>
            </a:r>
            <a:r>
              <a:rPr lang="en-US" dirty="0"/>
              <a:t> Nearly impossible</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01D46580-74E5-9024-726B-8E14A9BAAB6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CF3DF44-27F0-B05C-48E0-34A756D00736}"/>
              </a:ext>
            </a:extLst>
          </p:cNvPr>
          <p:cNvSpPr/>
          <p:nvPr/>
        </p:nvSpPr>
        <p:spPr>
          <a:xfrm>
            <a:off x="548640" y="256032"/>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rPr>
              <a:t>Level 1 – Personal Organization</a:t>
            </a:r>
            <a:endParaRPr lang="en-US" sz="2600" dirty="0"/>
          </a:p>
        </p:txBody>
      </p:sp>
      <p:sp>
        <p:nvSpPr>
          <p:cNvPr id="3" name="Shape 1">
            <a:extLst>
              <a:ext uri="{FF2B5EF4-FFF2-40B4-BE49-F238E27FC236}">
                <a16:creationId xmlns:a16="http://schemas.microsoft.com/office/drawing/2014/main" id="{C6936430-31F7-4B53-4DD6-02333FF0B83F}"/>
              </a:ext>
            </a:extLst>
          </p:cNvPr>
          <p:cNvSpPr/>
          <p:nvPr/>
        </p:nvSpPr>
        <p:spPr>
          <a:xfrm>
            <a:off x="548640" y="804672"/>
            <a:ext cx="1371600" cy="27432"/>
          </a:xfrm>
          <a:prstGeom prst="rect">
            <a:avLst/>
          </a:prstGeom>
          <a:solidFill>
            <a:srgbClr val="C8A951"/>
          </a:solidFill>
          <a:ln/>
        </p:spPr>
        <p:txBody>
          <a:bodyPr/>
          <a:lstStyle/>
          <a:p>
            <a:endParaRPr lang="en-US"/>
          </a:p>
        </p:txBody>
      </p:sp>
      <p:sp>
        <p:nvSpPr>
          <p:cNvPr id="5" name="TextBox 4">
            <a:extLst>
              <a:ext uri="{FF2B5EF4-FFF2-40B4-BE49-F238E27FC236}">
                <a16:creationId xmlns:a16="http://schemas.microsoft.com/office/drawing/2014/main" id="{43E1F283-3FA0-6A9B-868D-0A59B93D08E4}"/>
              </a:ext>
            </a:extLst>
          </p:cNvPr>
          <p:cNvSpPr txBox="1"/>
          <p:nvPr/>
        </p:nvSpPr>
        <p:spPr>
          <a:xfrm>
            <a:off x="548640" y="1072054"/>
            <a:ext cx="4528099" cy="3416320"/>
          </a:xfrm>
          <a:prstGeom prst="rect">
            <a:avLst/>
          </a:prstGeom>
          <a:noFill/>
        </p:spPr>
        <p:txBody>
          <a:bodyPr wrap="none" rtlCol="0">
            <a:spAutoFit/>
          </a:bodyPr>
          <a:lstStyle/>
          <a:p>
            <a:r>
              <a:rPr lang="en-US" b="1" dirty="0"/>
              <a:t>Description:</a:t>
            </a:r>
            <a:br>
              <a:rPr lang="en-US" dirty="0"/>
            </a:br>
            <a:r>
              <a:rPr lang="en-US" dirty="0"/>
              <a:t>The student begins organizing their own work.</a:t>
            </a:r>
          </a:p>
          <a:p>
            <a:r>
              <a:rPr lang="en-US" b="1" dirty="0"/>
              <a:t>Characteristics:</a:t>
            </a:r>
            <a:endParaRPr lang="en-US" dirty="0"/>
          </a:p>
          <a:p>
            <a:pPr marL="285750" lvl="0" indent="-285750">
              <a:buFont typeface="Arial" panose="020B0604020202020204" pitchFamily="34" charset="0"/>
              <a:buChar char="•"/>
            </a:pPr>
            <a:r>
              <a:rPr lang="en-US" dirty="0"/>
              <a:t>Uses Git locally</a:t>
            </a:r>
          </a:p>
          <a:p>
            <a:pPr marL="285750" lvl="0" indent="-285750">
              <a:buFont typeface="Arial" panose="020B0604020202020204" pitchFamily="34" charset="0"/>
              <a:buChar char="•"/>
            </a:pPr>
            <a:r>
              <a:rPr lang="en-US" dirty="0"/>
              <a:t>Meaningful variable and function names</a:t>
            </a:r>
          </a:p>
          <a:p>
            <a:pPr marL="285750" lvl="0" indent="-285750">
              <a:buFont typeface="Arial" panose="020B0604020202020204" pitchFamily="34" charset="0"/>
              <a:buChar char="•"/>
            </a:pPr>
            <a:r>
              <a:rPr lang="en-US" dirty="0"/>
              <a:t>Basic project folder structure</a:t>
            </a:r>
          </a:p>
          <a:p>
            <a:pPr marL="285750" lvl="0" indent="-285750">
              <a:buFont typeface="Arial" panose="020B0604020202020204" pitchFamily="34" charset="0"/>
              <a:buChar char="•"/>
            </a:pPr>
            <a:r>
              <a:rPr lang="en-US" dirty="0"/>
              <a:t>README exists (even if minimal)</a:t>
            </a:r>
          </a:p>
          <a:p>
            <a:pPr marL="285750" lvl="0" indent="-285750">
              <a:buFont typeface="Arial" panose="020B0604020202020204" pitchFamily="34" charset="0"/>
              <a:buChar char="•"/>
            </a:pPr>
            <a:r>
              <a:rPr lang="en-US" dirty="0"/>
              <a:t>Code separated from raw data</a:t>
            </a:r>
          </a:p>
          <a:p>
            <a:r>
              <a:rPr lang="en-US" b="1" dirty="0"/>
              <a:t>Reproducibility:</a:t>
            </a:r>
            <a:r>
              <a:rPr lang="en-US" dirty="0"/>
              <a:t> Possible with effort</a:t>
            </a:r>
            <a:br>
              <a:rPr lang="en-US" dirty="0"/>
            </a:br>
            <a:r>
              <a:rPr lang="en-US" b="1" dirty="0"/>
              <a:t>Collaboration:</a:t>
            </a:r>
            <a:r>
              <a:rPr lang="en-US" dirty="0"/>
              <a:t> Difficult but feasible</a:t>
            </a:r>
          </a:p>
          <a:p>
            <a:r>
              <a:rPr lang="en-US" i="1" dirty="0"/>
              <a:t>This level prevents catastrophic loss.</a:t>
            </a:r>
          </a:p>
          <a:p>
            <a:endParaRPr lang="en-US" dirty="0"/>
          </a:p>
        </p:txBody>
      </p:sp>
    </p:spTree>
    <p:extLst>
      <p:ext uri="{BB962C8B-B14F-4D97-AF65-F5344CB8AC3E}">
        <p14:creationId xmlns:p14="http://schemas.microsoft.com/office/powerpoint/2010/main" val="3429772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60260475-A1DE-AEBB-2934-B14804A5658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0CAD35-7F84-80D9-E5B2-2B2F97A9D3E4}"/>
              </a:ext>
            </a:extLst>
          </p:cNvPr>
          <p:cNvSpPr/>
          <p:nvPr/>
        </p:nvSpPr>
        <p:spPr>
          <a:xfrm>
            <a:off x="548640" y="256032"/>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rPr>
              <a:t>Level 2 – Reproducible Research</a:t>
            </a:r>
            <a:endParaRPr lang="en-US" sz="2600" dirty="0"/>
          </a:p>
        </p:txBody>
      </p:sp>
      <p:sp>
        <p:nvSpPr>
          <p:cNvPr id="3" name="Shape 1">
            <a:extLst>
              <a:ext uri="{FF2B5EF4-FFF2-40B4-BE49-F238E27FC236}">
                <a16:creationId xmlns:a16="http://schemas.microsoft.com/office/drawing/2014/main" id="{F809002B-3F0F-6C77-5427-A66C07904369}"/>
              </a:ext>
            </a:extLst>
          </p:cNvPr>
          <p:cNvSpPr/>
          <p:nvPr/>
        </p:nvSpPr>
        <p:spPr>
          <a:xfrm>
            <a:off x="548640" y="804672"/>
            <a:ext cx="1371600" cy="27432"/>
          </a:xfrm>
          <a:prstGeom prst="rect">
            <a:avLst/>
          </a:prstGeom>
          <a:solidFill>
            <a:srgbClr val="C8A951"/>
          </a:solidFill>
          <a:ln/>
        </p:spPr>
        <p:txBody>
          <a:bodyPr/>
          <a:lstStyle/>
          <a:p>
            <a:endParaRPr lang="en-US"/>
          </a:p>
        </p:txBody>
      </p:sp>
      <p:sp>
        <p:nvSpPr>
          <p:cNvPr id="5" name="TextBox 4">
            <a:extLst>
              <a:ext uri="{FF2B5EF4-FFF2-40B4-BE49-F238E27FC236}">
                <a16:creationId xmlns:a16="http://schemas.microsoft.com/office/drawing/2014/main" id="{FEF3DF49-3115-702F-02ED-A78B83AD0390}"/>
              </a:ext>
            </a:extLst>
          </p:cNvPr>
          <p:cNvSpPr txBox="1"/>
          <p:nvPr/>
        </p:nvSpPr>
        <p:spPr>
          <a:xfrm>
            <a:off x="548640" y="1072054"/>
            <a:ext cx="7093096" cy="3693319"/>
          </a:xfrm>
          <a:prstGeom prst="rect">
            <a:avLst/>
          </a:prstGeom>
          <a:noFill/>
        </p:spPr>
        <p:txBody>
          <a:bodyPr wrap="none" rtlCol="0">
            <a:spAutoFit/>
          </a:bodyPr>
          <a:lstStyle/>
          <a:p>
            <a:r>
              <a:rPr lang="en-US" b="1" dirty="0"/>
              <a:t>Description:</a:t>
            </a:r>
            <a:br>
              <a:rPr lang="en-US" dirty="0"/>
            </a:br>
            <a:r>
              <a:rPr lang="en-US" dirty="0"/>
              <a:t>The project can reliably reproduce published results.</a:t>
            </a:r>
          </a:p>
          <a:p>
            <a:r>
              <a:rPr lang="en-US" b="1" dirty="0"/>
              <a:t>Characteristics:</a:t>
            </a:r>
            <a:endParaRPr lang="en-US" dirty="0"/>
          </a:p>
          <a:p>
            <a:pPr marL="285750" lvl="0" indent="-285750">
              <a:buFont typeface="Arial" panose="020B0604020202020204" pitchFamily="34" charset="0"/>
              <a:buChar char="•"/>
            </a:pPr>
            <a:r>
              <a:rPr lang="en-US" dirty="0"/>
              <a:t>Hosted on GitHub or institutional equivalent</a:t>
            </a:r>
          </a:p>
          <a:p>
            <a:pPr marL="285750" lvl="0" indent="-285750">
              <a:buFont typeface="Arial" panose="020B0604020202020204" pitchFamily="34" charset="0"/>
              <a:buChar char="•"/>
            </a:pPr>
            <a:r>
              <a:rPr lang="en-US" dirty="0"/>
              <a:t>Tagged versions for papers</a:t>
            </a:r>
          </a:p>
          <a:p>
            <a:pPr marL="285750" lvl="0" indent="-285750">
              <a:buFont typeface="Arial" panose="020B0604020202020204" pitchFamily="34" charset="0"/>
              <a:buChar char="•"/>
            </a:pPr>
            <a:r>
              <a:rPr lang="en-US" dirty="0"/>
              <a:t>Dependencies pinned (</a:t>
            </a:r>
            <a:r>
              <a:rPr lang="en-US" dirty="0" err="1"/>
              <a:t>requirements.txt</a:t>
            </a:r>
            <a:r>
              <a:rPr lang="en-US" dirty="0"/>
              <a:t> or </a:t>
            </a:r>
            <a:r>
              <a:rPr lang="en-US" dirty="0" err="1"/>
              <a:t>environment.yml</a:t>
            </a:r>
            <a:r>
              <a:rPr lang="en-US" dirty="0"/>
              <a:t>)</a:t>
            </a:r>
          </a:p>
          <a:p>
            <a:pPr marL="285750" lvl="0" indent="-285750">
              <a:buFont typeface="Arial" panose="020B0604020202020204" pitchFamily="34" charset="0"/>
              <a:buChar char="•"/>
            </a:pPr>
            <a:r>
              <a:rPr lang="en-US" dirty="0"/>
              <a:t>Clear instructions to run</a:t>
            </a:r>
          </a:p>
          <a:p>
            <a:pPr marL="285750" lvl="0" indent="-285750">
              <a:buFont typeface="Arial" panose="020B0604020202020204" pitchFamily="34" charset="0"/>
              <a:buChar char="•"/>
            </a:pPr>
            <a:r>
              <a:rPr lang="en-US" dirty="0"/>
              <a:t>Minimal test coverage for critical functions</a:t>
            </a:r>
          </a:p>
          <a:p>
            <a:pPr marL="285750" lvl="0" indent="-285750">
              <a:buFont typeface="Arial" panose="020B0604020202020204" pitchFamily="34" charset="0"/>
              <a:buChar char="•"/>
            </a:pPr>
            <a:r>
              <a:rPr lang="en-US" dirty="0"/>
              <a:t>No hard-coded personal paths</a:t>
            </a:r>
          </a:p>
          <a:p>
            <a:r>
              <a:rPr lang="en-US" b="1" dirty="0"/>
              <a:t>Reproducibility:</a:t>
            </a:r>
            <a:r>
              <a:rPr lang="en-US" dirty="0"/>
              <a:t> Reliable</a:t>
            </a:r>
            <a:br>
              <a:rPr lang="en-US" dirty="0"/>
            </a:br>
            <a:r>
              <a:rPr lang="en-US" b="1" dirty="0"/>
              <a:t>Collaboration:</a:t>
            </a:r>
            <a:r>
              <a:rPr lang="en-US" dirty="0"/>
              <a:t> Functional</a:t>
            </a:r>
          </a:p>
          <a:p>
            <a:r>
              <a:rPr lang="en-US" i="1" dirty="0"/>
              <a:t>This should be the minimum goal for publishable computational research.</a:t>
            </a:r>
          </a:p>
          <a:p>
            <a:endParaRPr lang="en-US" dirty="0"/>
          </a:p>
        </p:txBody>
      </p:sp>
    </p:spTree>
    <p:extLst>
      <p:ext uri="{BB962C8B-B14F-4D97-AF65-F5344CB8AC3E}">
        <p14:creationId xmlns:p14="http://schemas.microsoft.com/office/powerpoint/2010/main" val="4118991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BF1D0D1E-EC7B-0B4B-646A-E94714196E7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C9DE578-A9BD-F37C-B4CE-C64ACDA3D700}"/>
              </a:ext>
            </a:extLst>
          </p:cNvPr>
          <p:cNvSpPr/>
          <p:nvPr/>
        </p:nvSpPr>
        <p:spPr>
          <a:xfrm>
            <a:off x="548640" y="256032"/>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rPr>
              <a:t>Level 3 – Collaborative Research</a:t>
            </a:r>
            <a:endParaRPr lang="en-US" sz="2600" dirty="0"/>
          </a:p>
        </p:txBody>
      </p:sp>
      <p:sp>
        <p:nvSpPr>
          <p:cNvPr id="3" name="Shape 1">
            <a:extLst>
              <a:ext uri="{FF2B5EF4-FFF2-40B4-BE49-F238E27FC236}">
                <a16:creationId xmlns:a16="http://schemas.microsoft.com/office/drawing/2014/main" id="{4C0EA57C-15B8-0A87-3057-6D686DC7C489}"/>
              </a:ext>
            </a:extLst>
          </p:cNvPr>
          <p:cNvSpPr/>
          <p:nvPr/>
        </p:nvSpPr>
        <p:spPr>
          <a:xfrm>
            <a:off x="548640" y="804672"/>
            <a:ext cx="1371600" cy="27432"/>
          </a:xfrm>
          <a:prstGeom prst="rect">
            <a:avLst/>
          </a:prstGeom>
          <a:solidFill>
            <a:srgbClr val="C8A951"/>
          </a:solidFill>
          <a:ln/>
        </p:spPr>
        <p:txBody>
          <a:bodyPr/>
          <a:lstStyle/>
          <a:p>
            <a:endParaRPr lang="en-US"/>
          </a:p>
        </p:txBody>
      </p:sp>
      <p:sp>
        <p:nvSpPr>
          <p:cNvPr id="5" name="TextBox 4">
            <a:extLst>
              <a:ext uri="{FF2B5EF4-FFF2-40B4-BE49-F238E27FC236}">
                <a16:creationId xmlns:a16="http://schemas.microsoft.com/office/drawing/2014/main" id="{4B894F8C-F9F6-48E6-418F-449405824CB2}"/>
              </a:ext>
            </a:extLst>
          </p:cNvPr>
          <p:cNvSpPr txBox="1"/>
          <p:nvPr/>
        </p:nvSpPr>
        <p:spPr>
          <a:xfrm>
            <a:off x="548640" y="832104"/>
            <a:ext cx="6419643" cy="4524315"/>
          </a:xfrm>
          <a:prstGeom prst="rect">
            <a:avLst/>
          </a:prstGeom>
          <a:noFill/>
        </p:spPr>
        <p:txBody>
          <a:bodyPr wrap="none" rtlCol="0">
            <a:spAutoFit/>
          </a:bodyPr>
          <a:lstStyle/>
          <a:p>
            <a:r>
              <a:rPr lang="en-US" b="1" dirty="0"/>
              <a:t>Description:</a:t>
            </a:r>
            <a:br>
              <a:rPr lang="en-US" dirty="0"/>
            </a:br>
            <a:r>
              <a:rPr lang="en-US" dirty="0"/>
              <a:t>Multiple researchers can confidently contribute.</a:t>
            </a:r>
          </a:p>
          <a:p>
            <a:r>
              <a:rPr lang="en-US" b="1" dirty="0"/>
              <a:t>Characteristics:</a:t>
            </a:r>
            <a:endParaRPr lang="en-US" dirty="0"/>
          </a:p>
          <a:p>
            <a:pPr marL="285750" lvl="0" indent="-285750">
              <a:buFont typeface="Arial" panose="020B0604020202020204" pitchFamily="34" charset="0"/>
              <a:buChar char="•"/>
            </a:pPr>
            <a:r>
              <a:rPr lang="en-US" dirty="0"/>
              <a:t>Modular codebase (logic in /</a:t>
            </a:r>
            <a:r>
              <a:rPr lang="en-US" dirty="0" err="1"/>
              <a:t>src</a:t>
            </a:r>
            <a:r>
              <a:rPr lang="en-US" dirty="0"/>
              <a:t>)</a:t>
            </a:r>
          </a:p>
          <a:p>
            <a:pPr marL="285750" lvl="0" indent="-285750">
              <a:buFont typeface="Arial" panose="020B0604020202020204" pitchFamily="34" charset="0"/>
              <a:buChar char="•"/>
            </a:pPr>
            <a:r>
              <a:rPr lang="en-US" dirty="0"/>
              <a:t>Clear separation between exploration and reusable logic</a:t>
            </a:r>
          </a:p>
          <a:p>
            <a:pPr marL="285750" lvl="0" indent="-285750">
              <a:buFont typeface="Arial" panose="020B0604020202020204" pitchFamily="34" charset="0"/>
              <a:buChar char="•"/>
            </a:pPr>
            <a:r>
              <a:rPr lang="en-US" dirty="0"/>
              <a:t>Pull request workflow</a:t>
            </a:r>
          </a:p>
          <a:p>
            <a:pPr marL="285750" lvl="0" indent="-285750">
              <a:buFont typeface="Arial" panose="020B0604020202020204" pitchFamily="34" charset="0"/>
              <a:buChar char="•"/>
            </a:pPr>
            <a:r>
              <a:rPr lang="en-US" dirty="0"/>
              <a:t>Basic automated testing</a:t>
            </a:r>
          </a:p>
          <a:p>
            <a:pPr marL="285750" lvl="0" indent="-285750">
              <a:buFont typeface="Arial" panose="020B0604020202020204" pitchFamily="34" charset="0"/>
              <a:buChar char="•"/>
            </a:pPr>
            <a:r>
              <a:rPr lang="en-US" dirty="0"/>
              <a:t>Code reviews</a:t>
            </a:r>
          </a:p>
          <a:p>
            <a:pPr marL="285750" lvl="0" indent="-285750">
              <a:buFont typeface="Arial" panose="020B0604020202020204" pitchFamily="34" charset="0"/>
              <a:buChar char="•"/>
            </a:pPr>
            <a:r>
              <a:rPr lang="en-US" dirty="0"/>
              <a:t>Meaningful commit messages</a:t>
            </a:r>
          </a:p>
          <a:p>
            <a:pPr marL="285750" lvl="0" indent="-285750">
              <a:buFont typeface="Arial" panose="020B0604020202020204" pitchFamily="34" charset="0"/>
              <a:buChar char="•"/>
            </a:pPr>
            <a:r>
              <a:rPr lang="en-US" dirty="0"/>
              <a:t>Structured issue tracking</a:t>
            </a:r>
          </a:p>
          <a:p>
            <a:pPr marL="285750" indent="-285750">
              <a:buFont typeface="Arial" panose="020B0604020202020204" pitchFamily="34" charset="0"/>
              <a:buChar char="•"/>
            </a:pPr>
            <a:r>
              <a:rPr lang="en-US" dirty="0"/>
              <a:t>Tests may run automatically via simple CI (e.g., GitHub Actions).</a:t>
            </a:r>
          </a:p>
          <a:p>
            <a:r>
              <a:rPr lang="en-US" b="1" dirty="0"/>
              <a:t>Reproducibility:</a:t>
            </a:r>
            <a:r>
              <a:rPr lang="en-US" dirty="0"/>
              <a:t> Strong</a:t>
            </a:r>
            <a:br>
              <a:rPr lang="en-US" dirty="0"/>
            </a:br>
            <a:r>
              <a:rPr lang="en-US" b="1" dirty="0"/>
              <a:t>Collaboration:</a:t>
            </a:r>
            <a:r>
              <a:rPr lang="en-US" dirty="0"/>
              <a:t> Efficient</a:t>
            </a:r>
            <a:br>
              <a:rPr lang="en-US" dirty="0"/>
            </a:br>
            <a:r>
              <a:rPr lang="en-US" b="1" dirty="0"/>
              <a:t>Onboarding new students:</a:t>
            </a:r>
            <a:r>
              <a:rPr lang="en-US" dirty="0"/>
              <a:t> Manageable</a:t>
            </a:r>
          </a:p>
          <a:p>
            <a:r>
              <a:rPr lang="en-US" i="1" dirty="0"/>
              <a:t>This is where labs start behaving like engineering teams.</a:t>
            </a:r>
          </a:p>
          <a:p>
            <a:endParaRPr lang="en-US" dirty="0"/>
          </a:p>
        </p:txBody>
      </p:sp>
    </p:spTree>
    <p:extLst>
      <p:ext uri="{BB962C8B-B14F-4D97-AF65-F5344CB8AC3E}">
        <p14:creationId xmlns:p14="http://schemas.microsoft.com/office/powerpoint/2010/main" val="107160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BA48C21B-88C1-C74E-DA8A-13EB2C7EDCB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B22D5CC-2177-C525-2589-A97CBDEBBD3B}"/>
              </a:ext>
            </a:extLst>
          </p:cNvPr>
          <p:cNvSpPr/>
          <p:nvPr/>
        </p:nvSpPr>
        <p:spPr>
          <a:xfrm>
            <a:off x="548640" y="256032"/>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rPr>
              <a:t>Level 4 – Institutional-Grade  Research Software</a:t>
            </a:r>
            <a:endParaRPr lang="en-US" sz="2600" dirty="0"/>
          </a:p>
        </p:txBody>
      </p:sp>
      <p:sp>
        <p:nvSpPr>
          <p:cNvPr id="3" name="Shape 1">
            <a:extLst>
              <a:ext uri="{FF2B5EF4-FFF2-40B4-BE49-F238E27FC236}">
                <a16:creationId xmlns:a16="http://schemas.microsoft.com/office/drawing/2014/main" id="{C3D4B5D8-F3C4-1CFD-3498-72A2D767E379}"/>
              </a:ext>
            </a:extLst>
          </p:cNvPr>
          <p:cNvSpPr/>
          <p:nvPr/>
        </p:nvSpPr>
        <p:spPr>
          <a:xfrm>
            <a:off x="548640" y="804672"/>
            <a:ext cx="1371600" cy="27432"/>
          </a:xfrm>
          <a:prstGeom prst="rect">
            <a:avLst/>
          </a:prstGeom>
          <a:solidFill>
            <a:srgbClr val="C8A951"/>
          </a:solidFill>
          <a:ln/>
        </p:spPr>
        <p:txBody>
          <a:bodyPr/>
          <a:lstStyle/>
          <a:p>
            <a:endParaRPr lang="en-US"/>
          </a:p>
        </p:txBody>
      </p:sp>
      <p:sp>
        <p:nvSpPr>
          <p:cNvPr id="5" name="TextBox 4">
            <a:extLst>
              <a:ext uri="{FF2B5EF4-FFF2-40B4-BE49-F238E27FC236}">
                <a16:creationId xmlns:a16="http://schemas.microsoft.com/office/drawing/2014/main" id="{98E9A136-8586-7586-6E42-DAA2554A83DB}"/>
              </a:ext>
            </a:extLst>
          </p:cNvPr>
          <p:cNvSpPr txBox="1"/>
          <p:nvPr/>
        </p:nvSpPr>
        <p:spPr>
          <a:xfrm>
            <a:off x="548640" y="832104"/>
            <a:ext cx="5657896" cy="4247317"/>
          </a:xfrm>
          <a:prstGeom prst="rect">
            <a:avLst/>
          </a:prstGeom>
          <a:noFill/>
        </p:spPr>
        <p:txBody>
          <a:bodyPr wrap="none" rtlCol="0">
            <a:spAutoFit/>
          </a:bodyPr>
          <a:lstStyle/>
          <a:p>
            <a:r>
              <a:rPr lang="en-US" b="1" dirty="0"/>
              <a:t>Description:</a:t>
            </a:r>
            <a:br>
              <a:rPr lang="en-US" dirty="0"/>
            </a:br>
            <a:r>
              <a:rPr lang="en-US" dirty="0"/>
              <a:t>Software becomes a durable research asset.</a:t>
            </a:r>
          </a:p>
          <a:p>
            <a:r>
              <a:rPr lang="en-US" b="1" dirty="0"/>
              <a:t>Characteristics:</a:t>
            </a:r>
            <a:endParaRPr lang="en-US" dirty="0"/>
          </a:p>
          <a:p>
            <a:pPr marL="285750" lvl="0" indent="-285750">
              <a:buFont typeface="Arial" panose="020B0604020202020204" pitchFamily="34" charset="0"/>
              <a:buChar char="•"/>
            </a:pPr>
            <a:r>
              <a:rPr lang="en-US" dirty="0"/>
              <a:t>High test coverage</a:t>
            </a:r>
          </a:p>
          <a:p>
            <a:pPr marL="285750" lvl="0" indent="-285750">
              <a:buFont typeface="Arial" panose="020B0604020202020204" pitchFamily="34" charset="0"/>
              <a:buChar char="•"/>
            </a:pPr>
            <a:r>
              <a:rPr lang="en-US" dirty="0"/>
              <a:t>Continuous integration pipeline</a:t>
            </a:r>
          </a:p>
          <a:p>
            <a:pPr marL="285750" lvl="0" indent="-285750">
              <a:buFont typeface="Arial" panose="020B0604020202020204" pitchFamily="34" charset="0"/>
              <a:buChar char="•"/>
            </a:pPr>
            <a:r>
              <a:rPr lang="en-US" dirty="0"/>
              <a:t>Containerized environment (e.g., Docker)</a:t>
            </a:r>
          </a:p>
          <a:p>
            <a:pPr marL="285750" lvl="0" indent="-285750">
              <a:buFont typeface="Arial" panose="020B0604020202020204" pitchFamily="34" charset="0"/>
              <a:buChar char="•"/>
            </a:pPr>
            <a:r>
              <a:rPr lang="en-US" dirty="0"/>
              <a:t>API or documented interfaces</a:t>
            </a:r>
          </a:p>
          <a:p>
            <a:pPr marL="285750" lvl="0" indent="-285750">
              <a:buFont typeface="Arial" panose="020B0604020202020204" pitchFamily="34" charset="0"/>
              <a:buChar char="•"/>
            </a:pPr>
            <a:r>
              <a:rPr lang="en-US" dirty="0"/>
              <a:t>Logging instead of print debugging</a:t>
            </a:r>
          </a:p>
          <a:p>
            <a:pPr marL="285750" lvl="0" indent="-285750">
              <a:buFont typeface="Arial" panose="020B0604020202020204" pitchFamily="34" charset="0"/>
              <a:buChar char="•"/>
            </a:pPr>
            <a:r>
              <a:rPr lang="en-US" dirty="0"/>
              <a:t>Formal release versions</a:t>
            </a:r>
          </a:p>
          <a:p>
            <a:pPr marL="285750" lvl="0" indent="-285750">
              <a:buFont typeface="Arial" panose="020B0604020202020204" pitchFamily="34" charset="0"/>
              <a:buChar char="•"/>
            </a:pPr>
            <a:r>
              <a:rPr lang="en-US" dirty="0"/>
              <a:t>Clear contributor guidelines</a:t>
            </a:r>
          </a:p>
          <a:p>
            <a:pPr marL="285750" lvl="0" indent="-285750">
              <a:buFont typeface="Arial" panose="020B0604020202020204" pitchFamily="34" charset="0"/>
              <a:buChar char="•"/>
            </a:pPr>
            <a:r>
              <a:rPr lang="en-US" dirty="0"/>
              <a:t>Automated documentation generation</a:t>
            </a:r>
          </a:p>
          <a:p>
            <a:r>
              <a:rPr lang="en-US" b="1" dirty="0"/>
              <a:t>Reproducibility:</a:t>
            </a:r>
            <a:r>
              <a:rPr lang="en-US" dirty="0"/>
              <a:t> Robust across machines</a:t>
            </a:r>
            <a:br>
              <a:rPr lang="en-US" dirty="0"/>
            </a:br>
            <a:r>
              <a:rPr lang="en-US" b="1" dirty="0"/>
              <a:t>Collaboration:</a:t>
            </a:r>
            <a:r>
              <a:rPr lang="en-US" dirty="0"/>
              <a:t> Scales beyond one lab</a:t>
            </a:r>
          </a:p>
          <a:p>
            <a:r>
              <a:rPr lang="en-US" i="1" dirty="0"/>
              <a:t>This is the level where tools become citable infrastructure</a:t>
            </a:r>
            <a:r>
              <a:rPr lang="en-US" dirty="0"/>
              <a:t>.</a:t>
            </a:r>
          </a:p>
          <a:p>
            <a:endParaRPr lang="en-US" dirty="0"/>
          </a:p>
        </p:txBody>
      </p:sp>
    </p:spTree>
    <p:extLst>
      <p:ext uri="{BB962C8B-B14F-4D97-AF65-F5344CB8AC3E}">
        <p14:creationId xmlns:p14="http://schemas.microsoft.com/office/powerpoint/2010/main" val="3783017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1FD526ED-FD97-803A-609E-FABD579103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DE5ACAE-D87E-A472-CB04-2EC98D7380F2}"/>
              </a:ext>
            </a:extLst>
          </p:cNvPr>
          <p:cNvSpPr/>
          <p:nvPr/>
        </p:nvSpPr>
        <p:spPr>
          <a:xfrm>
            <a:off x="548640" y="256032"/>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rPr>
              <a:t>Level 5 – Research Platform</a:t>
            </a:r>
            <a:endParaRPr lang="en-US" sz="2600" dirty="0"/>
          </a:p>
        </p:txBody>
      </p:sp>
      <p:sp>
        <p:nvSpPr>
          <p:cNvPr id="3" name="Shape 1">
            <a:extLst>
              <a:ext uri="{FF2B5EF4-FFF2-40B4-BE49-F238E27FC236}">
                <a16:creationId xmlns:a16="http://schemas.microsoft.com/office/drawing/2014/main" id="{87662769-D391-4319-633D-C5C4E96B6A8A}"/>
              </a:ext>
            </a:extLst>
          </p:cNvPr>
          <p:cNvSpPr/>
          <p:nvPr/>
        </p:nvSpPr>
        <p:spPr>
          <a:xfrm>
            <a:off x="548640" y="804672"/>
            <a:ext cx="1371600" cy="27432"/>
          </a:xfrm>
          <a:prstGeom prst="rect">
            <a:avLst/>
          </a:prstGeom>
          <a:solidFill>
            <a:srgbClr val="C8A951"/>
          </a:solidFill>
          <a:ln/>
        </p:spPr>
        <p:txBody>
          <a:bodyPr/>
          <a:lstStyle/>
          <a:p>
            <a:endParaRPr lang="en-US"/>
          </a:p>
        </p:txBody>
      </p:sp>
      <p:sp>
        <p:nvSpPr>
          <p:cNvPr id="5" name="TextBox 4">
            <a:extLst>
              <a:ext uri="{FF2B5EF4-FFF2-40B4-BE49-F238E27FC236}">
                <a16:creationId xmlns:a16="http://schemas.microsoft.com/office/drawing/2014/main" id="{902D795E-ED8A-C398-C3AD-67D8C6871117}"/>
              </a:ext>
            </a:extLst>
          </p:cNvPr>
          <p:cNvSpPr txBox="1"/>
          <p:nvPr/>
        </p:nvSpPr>
        <p:spPr>
          <a:xfrm>
            <a:off x="548640" y="832104"/>
            <a:ext cx="7387022" cy="4247317"/>
          </a:xfrm>
          <a:prstGeom prst="rect">
            <a:avLst/>
          </a:prstGeom>
          <a:noFill/>
        </p:spPr>
        <p:txBody>
          <a:bodyPr wrap="none" rtlCol="0">
            <a:spAutoFit/>
          </a:bodyPr>
          <a:lstStyle/>
          <a:p>
            <a:r>
              <a:rPr lang="en-US" b="1" dirty="0"/>
              <a:t>Description:</a:t>
            </a:r>
            <a:br>
              <a:rPr lang="en-US" dirty="0"/>
            </a:br>
            <a:r>
              <a:rPr lang="en-US" dirty="0"/>
              <a:t>Software evolves into shared scientific infrastructure.</a:t>
            </a:r>
          </a:p>
          <a:p>
            <a:r>
              <a:rPr lang="en-US" b="1" dirty="0"/>
              <a:t>Characteristics:</a:t>
            </a:r>
            <a:endParaRPr lang="en-US" dirty="0"/>
          </a:p>
          <a:p>
            <a:pPr marL="285750" lvl="0" indent="-285750">
              <a:buFont typeface="Arial" panose="020B0604020202020204" pitchFamily="34" charset="0"/>
              <a:buChar char="•"/>
            </a:pPr>
            <a:r>
              <a:rPr lang="en-US" dirty="0"/>
              <a:t>Designed for external users</a:t>
            </a:r>
          </a:p>
          <a:p>
            <a:pPr marL="285750" lvl="0" indent="-285750">
              <a:buFont typeface="Arial" panose="020B0604020202020204" pitchFamily="34" charset="0"/>
              <a:buChar char="•"/>
            </a:pPr>
            <a:r>
              <a:rPr lang="en-US" dirty="0"/>
              <a:t>Semantic versioning</a:t>
            </a:r>
          </a:p>
          <a:p>
            <a:pPr marL="285750" lvl="0" indent="-285750">
              <a:buFont typeface="Arial" panose="020B0604020202020204" pitchFamily="34" charset="0"/>
              <a:buChar char="•"/>
            </a:pPr>
            <a:r>
              <a:rPr lang="en-US" dirty="0"/>
              <a:t>Backward compatibility strategy</a:t>
            </a:r>
          </a:p>
          <a:p>
            <a:pPr marL="285750" lvl="0" indent="-285750">
              <a:buFont typeface="Arial" panose="020B0604020202020204" pitchFamily="34" charset="0"/>
              <a:buChar char="•"/>
            </a:pPr>
            <a:r>
              <a:rPr lang="en-US" dirty="0"/>
              <a:t>Formal governance model</a:t>
            </a:r>
          </a:p>
          <a:p>
            <a:pPr marL="285750" lvl="0" indent="-285750">
              <a:buFont typeface="Arial" panose="020B0604020202020204" pitchFamily="34" charset="0"/>
              <a:buChar char="•"/>
            </a:pPr>
            <a:r>
              <a:rPr lang="en-US" dirty="0"/>
              <a:t>Comprehensive documentation</a:t>
            </a:r>
          </a:p>
          <a:p>
            <a:pPr marL="285750" lvl="0" indent="-285750">
              <a:buFont typeface="Arial" panose="020B0604020202020204" pitchFamily="34" charset="0"/>
              <a:buChar char="•"/>
            </a:pPr>
            <a:r>
              <a:rPr lang="en-US" dirty="0"/>
              <a:t>Published benchmarks</a:t>
            </a:r>
          </a:p>
          <a:p>
            <a:pPr marL="285750" lvl="0" indent="-285750">
              <a:buFont typeface="Arial" panose="020B0604020202020204" pitchFamily="34" charset="0"/>
              <a:buChar char="•"/>
            </a:pPr>
            <a:r>
              <a:rPr lang="en-US" dirty="0"/>
              <a:t>Community contributions</a:t>
            </a:r>
          </a:p>
          <a:p>
            <a:pPr marL="285750" lvl="0" indent="-285750">
              <a:buFont typeface="Arial" panose="020B0604020202020204" pitchFamily="34" charset="0"/>
              <a:buChar char="•"/>
            </a:pPr>
            <a:r>
              <a:rPr lang="en-US" dirty="0"/>
              <a:t>Long-term maintenance plan</a:t>
            </a:r>
          </a:p>
          <a:p>
            <a:r>
              <a:rPr lang="en-US" dirty="0"/>
              <a:t>Examples in academia would include major scientific computing frameworks.</a:t>
            </a:r>
          </a:p>
          <a:p>
            <a:r>
              <a:rPr lang="en-US" b="1" dirty="0"/>
              <a:t>Reproducibility:</a:t>
            </a:r>
            <a:r>
              <a:rPr lang="en-US" dirty="0"/>
              <a:t> Industrial-grade</a:t>
            </a:r>
            <a:br>
              <a:rPr lang="en-US" dirty="0"/>
            </a:br>
            <a:r>
              <a:rPr lang="en-US" b="1" dirty="0"/>
              <a:t>Collaboration:</a:t>
            </a:r>
            <a:r>
              <a:rPr lang="en-US" dirty="0"/>
              <a:t> Global</a:t>
            </a:r>
          </a:p>
          <a:p>
            <a:endParaRPr lang="en-US" dirty="0"/>
          </a:p>
        </p:txBody>
      </p:sp>
    </p:spTree>
    <p:extLst>
      <p:ext uri="{BB962C8B-B14F-4D97-AF65-F5344CB8AC3E}">
        <p14:creationId xmlns:p14="http://schemas.microsoft.com/office/powerpoint/2010/main" val="2744954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rPr>
              <a:t>Summary</a:t>
            </a:r>
            <a:endParaRPr lang="en-US" sz="2600" dirty="0"/>
          </a:p>
        </p:txBody>
      </p:sp>
      <p:sp>
        <p:nvSpPr>
          <p:cNvPr id="3" name="Shape 1"/>
          <p:cNvSpPr/>
          <p:nvPr/>
        </p:nvSpPr>
        <p:spPr>
          <a:xfrm>
            <a:off x="548640" y="914400"/>
            <a:ext cx="1371600" cy="27432"/>
          </a:xfrm>
          <a:prstGeom prst="rect">
            <a:avLst/>
          </a:prstGeom>
          <a:solidFill>
            <a:srgbClr val="C8A951"/>
          </a:solidFill>
          <a:ln/>
        </p:spPr>
        <p:txBody>
          <a:bodyPr/>
          <a:lstStyle/>
          <a:p>
            <a:endParaRPr lang="en-US"/>
          </a:p>
        </p:txBody>
      </p:sp>
      <p:graphicFrame>
        <p:nvGraphicFramePr>
          <p:cNvPr id="4" name="Table 0"/>
          <p:cNvGraphicFramePr>
            <a:graphicFrameLocks noGrp="1"/>
          </p:cNvGraphicFramePr>
          <p:nvPr>
            <p:extLst>
              <p:ext uri="{D42A27DB-BD31-4B8C-83A1-F6EECF244321}">
                <p14:modId xmlns:p14="http://schemas.microsoft.com/office/powerpoint/2010/main" val="2190889502"/>
              </p:ext>
            </p:extLst>
          </p:nvPr>
        </p:nvGraphicFramePr>
        <p:xfrm>
          <a:off x="548640" y="1097280"/>
          <a:ext cx="8046720" cy="1838960"/>
        </p:xfrm>
        <a:graphic>
          <a:graphicData uri="http://schemas.openxmlformats.org/drawingml/2006/table">
            <a:tbl>
              <a:tblPr/>
              <a:tblGrid>
                <a:gridCol w="2015884">
                  <a:extLst>
                    <a:ext uri="{9D8B030D-6E8A-4147-A177-3AD203B41FA5}">
                      <a16:colId xmlns:a16="http://schemas.microsoft.com/office/drawing/2014/main" val="20000"/>
                    </a:ext>
                  </a:extLst>
                </a:gridCol>
                <a:gridCol w="1734207">
                  <a:extLst>
                    <a:ext uri="{9D8B030D-6E8A-4147-A177-3AD203B41FA5}">
                      <a16:colId xmlns:a16="http://schemas.microsoft.com/office/drawing/2014/main" val="20001"/>
                    </a:ext>
                  </a:extLst>
                </a:gridCol>
                <a:gridCol w="1825589">
                  <a:extLst>
                    <a:ext uri="{9D8B030D-6E8A-4147-A177-3AD203B41FA5}">
                      <a16:colId xmlns:a16="http://schemas.microsoft.com/office/drawing/2014/main" val="20002"/>
                    </a:ext>
                  </a:extLst>
                </a:gridCol>
                <a:gridCol w="2471040">
                  <a:extLst>
                    <a:ext uri="{9D8B030D-6E8A-4147-A177-3AD203B41FA5}">
                      <a16:colId xmlns:a16="http://schemas.microsoft.com/office/drawing/2014/main" val="691353934"/>
                    </a:ext>
                  </a:extLst>
                </a:gridCol>
              </a:tblGrid>
              <a:tr h="0">
                <a:tc>
                  <a:txBody>
                    <a:bodyPr/>
                    <a:lstStyle/>
                    <a:p>
                      <a:pPr marL="0" indent="0">
                        <a:spcBef>
                          <a:spcPts val="400"/>
                        </a:spcBef>
                        <a:spcAft>
                          <a:spcPts val="400"/>
                        </a:spcAft>
                        <a:buNone/>
                      </a:pPr>
                      <a:r>
                        <a:rPr lang="en-US" sz="1100" dirty="0">
                          <a:solidFill>
                            <a:schemeClr val="bg1"/>
                          </a:solidFill>
                          <a:latin typeface="Georgia" charset="0"/>
                          <a:ea typeface="Georgia" charset="0"/>
                          <a:cs typeface="Georgia" charset="0"/>
                        </a:rPr>
                        <a:t>Level</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1A1A1A"/>
                    </a:solidFill>
                  </a:tcPr>
                </a:tc>
                <a:tc>
                  <a:txBody>
                    <a:bodyPr/>
                    <a:lstStyle/>
                    <a:p>
                      <a:pPr marL="0" indent="0">
                        <a:spcBef>
                          <a:spcPts val="400"/>
                        </a:spcBef>
                        <a:spcAft>
                          <a:spcPts val="400"/>
                        </a:spcAft>
                        <a:buNone/>
                      </a:pPr>
                      <a:r>
                        <a:rPr lang="en-US" sz="1100" b="1" dirty="0">
                          <a:solidFill>
                            <a:srgbClr val="FFFFFF"/>
                          </a:solidFill>
                          <a:latin typeface="Georgia" pitchFamily="34" charset="0"/>
                          <a:ea typeface="Georgia" charset="0"/>
                          <a:cs typeface="Georgia" charset="0"/>
                        </a:rPr>
                        <a:t>Focus</a:t>
                      </a:r>
                      <a:endParaRPr lang="en-US" sz="1100" dirty="0">
                        <a:latin typeface="Georgia" charset="0"/>
                        <a:ea typeface="Georgia" charset="0"/>
                        <a:cs typeface="Georgia"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1A1A1A"/>
                    </a:solidFill>
                  </a:tcPr>
                </a:tc>
                <a:tc>
                  <a:txBody>
                    <a:bodyPr/>
                    <a:lstStyle/>
                    <a:p>
                      <a:pPr marL="0" indent="0">
                        <a:spcBef>
                          <a:spcPts val="400"/>
                        </a:spcBef>
                        <a:spcAft>
                          <a:spcPts val="400"/>
                        </a:spcAft>
                        <a:buNone/>
                      </a:pPr>
                      <a:r>
                        <a:rPr lang="en-US" sz="1100" b="1" dirty="0">
                          <a:solidFill>
                            <a:srgbClr val="FFFFFF"/>
                          </a:solidFill>
                          <a:latin typeface="Georgia" pitchFamily="34" charset="0"/>
                          <a:ea typeface="Georgia" charset="0"/>
                          <a:cs typeface="Georgia" charset="0"/>
                        </a:rPr>
                        <a:t>Main Risk</a:t>
                      </a:r>
                      <a:endParaRPr lang="en-US" sz="1100" dirty="0">
                        <a:latin typeface="Georgia" charset="0"/>
                        <a:ea typeface="Georgia" charset="0"/>
                        <a:cs typeface="Georgia"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1A1A1A"/>
                    </a:solidFill>
                  </a:tcPr>
                </a:tc>
                <a:tc>
                  <a:txBody>
                    <a:bodyPr/>
                    <a:lstStyle/>
                    <a:p>
                      <a:pPr marL="0" indent="0">
                        <a:spcBef>
                          <a:spcPts val="400"/>
                        </a:spcBef>
                        <a:spcAft>
                          <a:spcPts val="400"/>
                        </a:spcAft>
                        <a:buNone/>
                      </a:pPr>
                      <a:r>
                        <a:rPr lang="en-US" sz="1100" dirty="0">
                          <a:solidFill>
                            <a:schemeClr val="bg1"/>
                          </a:solidFill>
                          <a:latin typeface="Georgia" charset="0"/>
                          <a:ea typeface="Georgia" charset="0"/>
                          <a:cs typeface="Georgia" charset="0"/>
                        </a:rPr>
                        <a:t>Main Benefit</a:t>
                      </a:r>
                      <a:endParaRPr lang="en-US" sz="1100" dirty="0">
                        <a:latin typeface="Georgia" charset="0"/>
                        <a:ea typeface="Georgia" charset="0"/>
                        <a:cs typeface="Georgia"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0">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0 Disposable Code</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Make it work</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tc>
                  <a:txBody>
                    <a:bodyPr/>
                    <a:lstStyle/>
                    <a:p>
                      <a:pPr marL="0" indent="0">
                        <a:spcBef>
                          <a:spcPts val="400"/>
                        </a:spcBef>
                        <a:spcAft>
                          <a:spcPts val="400"/>
                        </a:spcAft>
                        <a:buNone/>
                      </a:pPr>
                      <a:r>
                        <a:rPr lang="en-US" sz="1050" dirty="0">
                          <a:latin typeface="Calibri" charset="0"/>
                          <a:ea typeface="Calibri" charset="0"/>
                          <a:cs typeface="Calibri" charset="0"/>
                        </a:rPr>
                        <a:t>Lost knowledge</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tc>
                  <a:txBody>
                    <a:bodyPr/>
                    <a:lstStyle/>
                    <a:p>
                      <a:pPr marL="0" indent="0">
                        <a:spcBef>
                          <a:spcPts val="400"/>
                        </a:spcBef>
                        <a:spcAft>
                          <a:spcPts val="400"/>
                        </a:spcAft>
                        <a:buNone/>
                      </a:pPr>
                      <a:r>
                        <a:rPr lang="en-US" sz="1050" dirty="0">
                          <a:latin typeface="Calibri" charset="0"/>
                          <a:ea typeface="Calibri" charset="0"/>
                          <a:cs typeface="Calibri" charset="0"/>
                        </a:rPr>
                        <a:t>Speed</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1 Personal Organization</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EDECE8"/>
                    </a:solidFill>
                  </a:tcPr>
                </a:tc>
                <a:tc>
                  <a:txBody>
                    <a:bodyPr/>
                    <a:lstStyle/>
                    <a:p>
                      <a:pPr marL="0" indent="0">
                        <a:spcBef>
                          <a:spcPts val="400"/>
                        </a:spcBef>
                        <a:spcAft>
                          <a:spcPts val="400"/>
                        </a:spcAft>
                        <a:buNone/>
                      </a:pPr>
                      <a:r>
                        <a:rPr lang="en-US" sz="1050" dirty="0">
                          <a:solidFill>
                            <a:srgbClr val="1A1A1A"/>
                          </a:solidFill>
                          <a:latin typeface="Calibri" pitchFamily="34" charset="0"/>
                          <a:ea typeface="Calibri" charset="0"/>
                          <a:cs typeface="Calibri" pitchFamily="34" charset="-120"/>
                        </a:rPr>
                        <a:t>Personal control</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EDECE8"/>
                    </a:solidFill>
                  </a:tcPr>
                </a:tc>
                <a:tc>
                  <a:txBody>
                    <a:bodyPr/>
                    <a:lstStyle/>
                    <a:p>
                      <a:pPr marL="0" indent="0">
                        <a:spcBef>
                          <a:spcPts val="400"/>
                        </a:spcBef>
                        <a:spcAft>
                          <a:spcPts val="400"/>
                        </a:spcAft>
                        <a:buNone/>
                      </a:pPr>
                      <a:r>
                        <a:rPr lang="en-US" sz="1000" b="0" i="0" dirty="0">
                          <a:latin typeface="Consolas" panose="020B0609020204030204" pitchFamily="49" charset="0"/>
                          <a:ea typeface="Calibri" charset="0"/>
                          <a:cs typeface="Consolas" panose="020B0609020204030204" pitchFamily="49" charset="0"/>
                        </a:rPr>
                        <a:t>Still fragile</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EDECE8"/>
                    </a:solidFill>
                  </a:tcPr>
                </a:tc>
                <a:tc>
                  <a:txBody>
                    <a:bodyPr/>
                    <a:lstStyle/>
                    <a:p>
                      <a:pPr marL="0" indent="0">
                        <a:spcBef>
                          <a:spcPts val="400"/>
                        </a:spcBef>
                        <a:spcAft>
                          <a:spcPts val="400"/>
                        </a:spcAft>
                        <a:buNone/>
                      </a:pPr>
                      <a:r>
                        <a:rPr lang="en-US" sz="1000" b="0" i="0" dirty="0">
                          <a:latin typeface="Consolas" panose="020B0609020204030204" pitchFamily="49" charset="0"/>
                          <a:ea typeface="Calibri" charset="0"/>
                          <a:cs typeface="Consolas" panose="020B0609020204030204" pitchFamily="49" charset="0"/>
                        </a:rPr>
                        <a:t>No catastrophic loss</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EDECE8"/>
                    </a:solidFill>
                  </a:tcPr>
                </a:tc>
                <a:extLst>
                  <a:ext uri="{0D108BD9-81ED-4DB2-BD59-A6C34878D82A}">
                    <a16:rowId xmlns:a16="http://schemas.microsoft.com/office/drawing/2014/main" val="10002"/>
                  </a:ext>
                </a:extLst>
              </a:tr>
              <a:tr h="0">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2 Reproducible Research</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tc>
                  <a:txBody>
                    <a:bodyPr/>
                    <a:lstStyle/>
                    <a:p>
                      <a:pPr marL="0" indent="0">
                        <a:spcBef>
                          <a:spcPts val="400"/>
                        </a:spcBef>
                        <a:spcAft>
                          <a:spcPts val="400"/>
                        </a:spcAft>
                        <a:buNone/>
                      </a:pPr>
                      <a:r>
                        <a:rPr lang="en-US" sz="1050" dirty="0">
                          <a:solidFill>
                            <a:srgbClr val="1A1A1A"/>
                          </a:solidFill>
                          <a:latin typeface="Calibri" pitchFamily="34" charset="0"/>
                          <a:ea typeface="Calibri" charset="0"/>
                          <a:cs typeface="Calibri" pitchFamily="34" charset="-120"/>
                        </a:rPr>
                        <a:t>Reproducibility</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tc>
                  <a:txBody>
                    <a:bodyPr/>
                    <a:lstStyle/>
                    <a:p>
                      <a:pPr marL="0" indent="0">
                        <a:spcBef>
                          <a:spcPts val="400"/>
                        </a:spcBef>
                        <a:spcAft>
                          <a:spcPts val="400"/>
                        </a:spcAft>
                        <a:buNone/>
                      </a:pPr>
                      <a:r>
                        <a:rPr lang="en-US" sz="1050" dirty="0">
                          <a:latin typeface="Calibri" charset="0"/>
                          <a:ea typeface="Calibri" charset="0"/>
                          <a:cs typeface="Calibri" charset="0"/>
                        </a:rPr>
                        <a:t>Limited scalability</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tc>
                  <a:txBody>
                    <a:bodyPr/>
                    <a:lstStyle/>
                    <a:p>
                      <a:pPr marL="0" indent="0">
                        <a:spcBef>
                          <a:spcPts val="400"/>
                        </a:spcBef>
                        <a:spcAft>
                          <a:spcPts val="400"/>
                        </a:spcAft>
                        <a:buNone/>
                      </a:pPr>
                      <a:r>
                        <a:rPr lang="en-US" sz="1050" dirty="0">
                          <a:latin typeface="Calibri" charset="0"/>
                          <a:ea typeface="Calibri" charset="0"/>
                          <a:cs typeface="Calibri" charset="0"/>
                        </a:rPr>
                        <a:t>Publishable integrity</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3 Collaborative Software</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EDECE8"/>
                    </a:solidFill>
                  </a:tcPr>
                </a:tc>
                <a:tc>
                  <a:txBody>
                    <a:bodyPr/>
                    <a:lstStyle/>
                    <a:p>
                      <a:pPr marL="0" indent="0">
                        <a:spcBef>
                          <a:spcPts val="400"/>
                        </a:spcBef>
                        <a:spcAft>
                          <a:spcPts val="400"/>
                        </a:spcAft>
                        <a:buNone/>
                      </a:pPr>
                      <a:r>
                        <a:rPr lang="en-US" sz="1050" dirty="0">
                          <a:solidFill>
                            <a:srgbClr val="1A1A1A"/>
                          </a:solidFill>
                          <a:latin typeface="Calibri" pitchFamily="34" charset="0"/>
                          <a:ea typeface="Calibri" charset="0"/>
                          <a:cs typeface="Calibri" pitchFamily="34" charset="-120"/>
                        </a:rPr>
                        <a:t>Collaboration</a:t>
                      </a:r>
                      <a:endParaRPr lang="en-US" sz="1050" i="1"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EDECE8"/>
                    </a:solidFill>
                  </a:tcPr>
                </a:tc>
                <a:tc>
                  <a:txBody>
                    <a:bodyPr/>
                    <a:lstStyle/>
                    <a:p>
                      <a:pPr marL="0" indent="0">
                        <a:spcBef>
                          <a:spcPts val="400"/>
                        </a:spcBef>
                        <a:spcAft>
                          <a:spcPts val="400"/>
                        </a:spcAft>
                        <a:buNone/>
                      </a:pPr>
                      <a:r>
                        <a:rPr lang="en-US" sz="1050" dirty="0">
                          <a:solidFill>
                            <a:srgbClr val="1A1A1A"/>
                          </a:solidFill>
                          <a:latin typeface="Calibri" pitchFamily="34" charset="0"/>
                          <a:ea typeface="Calibri" charset="0"/>
                          <a:cs typeface="Calibri" pitchFamily="34" charset="-120"/>
                        </a:rPr>
                        <a:t>Process overhead</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EDECE8"/>
                    </a:solidFill>
                  </a:tcPr>
                </a:tc>
                <a:tc>
                  <a:txBody>
                    <a:bodyPr/>
                    <a:lstStyle/>
                    <a:p>
                      <a:pPr marL="0" indent="0">
                        <a:spcBef>
                          <a:spcPts val="400"/>
                        </a:spcBef>
                        <a:spcAft>
                          <a:spcPts val="400"/>
                        </a:spcAft>
                        <a:buNone/>
                      </a:pPr>
                      <a:r>
                        <a:rPr lang="en-US" sz="1050" dirty="0">
                          <a:latin typeface="Calibri" charset="0"/>
                          <a:ea typeface="Calibri" charset="0"/>
                          <a:cs typeface="Calibri" charset="0"/>
                        </a:rPr>
                        <a:t>Team velocity</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EDECE8"/>
                    </a:solidFill>
                  </a:tcPr>
                </a:tc>
                <a:extLst>
                  <a:ext uri="{0D108BD9-81ED-4DB2-BD59-A6C34878D82A}">
                    <a16:rowId xmlns:a16="http://schemas.microsoft.com/office/drawing/2014/main" val="10004"/>
                  </a:ext>
                </a:extLst>
              </a:tr>
              <a:tr h="0">
                <a:tc>
                  <a:txBody>
                    <a:bodyPr/>
                    <a:lstStyle/>
                    <a:p>
                      <a:pPr marL="0" indent="0">
                        <a:spcBef>
                          <a:spcPts val="400"/>
                        </a:spcBef>
                        <a:spcAft>
                          <a:spcPts val="400"/>
                        </a:spcAft>
                        <a:buNone/>
                      </a:pPr>
                      <a:r>
                        <a:rPr lang="en-US" sz="1050" dirty="0">
                          <a:solidFill>
                            <a:srgbClr val="1A1A1A"/>
                          </a:solidFill>
                          <a:latin typeface="Calibri" pitchFamily="34" charset="0"/>
                          <a:ea typeface="Calibri" charset="0"/>
                          <a:cs typeface="Calibri" pitchFamily="34" charset="-120"/>
                        </a:rPr>
                        <a:t>4 Institutional-grade Research</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Durability</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Maintenance cost</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Institutional asset</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spcBef>
                          <a:spcPts val="400"/>
                        </a:spcBef>
                        <a:spcAft>
                          <a:spcPts val="400"/>
                        </a:spcAft>
                        <a:buNone/>
                      </a:pPr>
                      <a:r>
                        <a:rPr lang="en-US" sz="1050" dirty="0">
                          <a:latin typeface="Calibri" charset="0"/>
                          <a:ea typeface="Calibri" charset="0"/>
                          <a:cs typeface="Calibri" charset="0"/>
                        </a:rPr>
                        <a:t>5 Research Platform</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chemeClr val="bg1">
                        <a:lumMod val="95000"/>
                      </a:schemeClr>
                    </a:solidFill>
                  </a:tcPr>
                </a:tc>
                <a:tc>
                  <a:txBody>
                    <a:bodyPr/>
                    <a:lstStyle/>
                    <a:p>
                      <a:pPr marL="0" indent="0">
                        <a:spcBef>
                          <a:spcPts val="400"/>
                        </a:spcBef>
                        <a:spcAft>
                          <a:spcPts val="400"/>
                        </a:spcAft>
                        <a:buNone/>
                      </a:pPr>
                      <a:r>
                        <a:rPr lang="en-US" sz="1050" dirty="0">
                          <a:latin typeface="Calibri" charset="0"/>
                          <a:ea typeface="Calibri" charset="0"/>
                          <a:cs typeface="Calibri" charset="0"/>
                        </a:rPr>
                        <a:t>Platform</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chemeClr val="bg1">
                        <a:lumMod val="95000"/>
                      </a:schemeClr>
                    </a:solidFill>
                  </a:tcPr>
                </a:tc>
                <a:tc>
                  <a:txBody>
                    <a:bodyPr/>
                    <a:lstStyle/>
                    <a:p>
                      <a:pPr marL="0" indent="0">
                        <a:spcBef>
                          <a:spcPts val="400"/>
                        </a:spcBef>
                        <a:spcAft>
                          <a:spcPts val="400"/>
                        </a:spcAft>
                        <a:buNone/>
                      </a:pPr>
                      <a:r>
                        <a:rPr lang="en-US" sz="1050" dirty="0">
                          <a:latin typeface="Calibri" charset="0"/>
                          <a:ea typeface="Calibri" charset="0"/>
                          <a:cs typeface="Calibri" charset="0"/>
                        </a:rPr>
                        <a:t>Governance complexity</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chemeClr val="bg1">
                        <a:lumMod val="95000"/>
                      </a:schemeClr>
                    </a:solidFill>
                  </a:tcPr>
                </a:tc>
                <a:tc>
                  <a:txBody>
                    <a:bodyPr/>
                    <a:lstStyle/>
                    <a:p>
                      <a:pPr marL="0" indent="0">
                        <a:spcBef>
                          <a:spcPts val="400"/>
                        </a:spcBef>
                        <a:spcAft>
                          <a:spcPts val="400"/>
                        </a:spcAft>
                        <a:buNone/>
                      </a:pPr>
                      <a:r>
                        <a:rPr lang="en-US" sz="1050" dirty="0">
                          <a:latin typeface="Calibri" charset="0"/>
                          <a:ea typeface="Calibri" charset="0"/>
                          <a:cs typeface="Calibri" charset="0"/>
                        </a:rPr>
                        <a:t>Field-wide impact</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87731373"/>
                  </a:ext>
                </a:extLst>
              </a:tr>
            </a:tbl>
          </a:graphicData>
        </a:graphic>
      </p:graphicFrame>
      <p:sp>
        <p:nvSpPr>
          <p:cNvPr id="5" name="Text 2">
            <a:extLst>
              <a:ext uri="{FF2B5EF4-FFF2-40B4-BE49-F238E27FC236}">
                <a16:creationId xmlns:a16="http://schemas.microsoft.com/office/drawing/2014/main" id="{5064A5B5-A55B-22D4-A949-9DAAB574D8CD}"/>
              </a:ext>
            </a:extLst>
          </p:cNvPr>
          <p:cNvSpPr/>
          <p:nvPr/>
        </p:nvSpPr>
        <p:spPr>
          <a:xfrm>
            <a:off x="636926" y="3497579"/>
            <a:ext cx="7680960" cy="1053399"/>
          </a:xfrm>
          <a:prstGeom prst="rect">
            <a:avLst/>
          </a:prstGeom>
          <a:noFill/>
          <a:ln/>
        </p:spPr>
        <p:txBody>
          <a:bodyPr wrap="square" lIns="0" tIns="0" rIns="0" bIns="0" rtlCol="0" anchor="ctr"/>
          <a:lstStyle/>
          <a:p>
            <a:pPr marL="0" indent="0" algn="l">
              <a:buNone/>
            </a:pPr>
            <a:r>
              <a:rPr lang="en-US" sz="1500" i="1" dirty="0">
                <a:solidFill>
                  <a:srgbClr val="C8A951"/>
                </a:solidFill>
                <a:latin typeface="Georgia" pitchFamily="34" charset="0"/>
              </a:rPr>
              <a:t>In industry, poor software costs money.</a:t>
            </a:r>
          </a:p>
          <a:p>
            <a:pPr marL="0" indent="0" algn="l">
              <a:buNone/>
            </a:pPr>
            <a:endParaRPr lang="en-US" sz="1500" i="1" dirty="0">
              <a:solidFill>
                <a:srgbClr val="C8A951"/>
              </a:solidFill>
              <a:latin typeface="Georgia" pitchFamily="34" charset="0"/>
            </a:endParaRPr>
          </a:p>
          <a:p>
            <a:pPr marL="0" indent="0" algn="l">
              <a:buNone/>
            </a:pPr>
            <a:r>
              <a:rPr lang="en-US" sz="1500" i="1" dirty="0">
                <a:solidFill>
                  <a:srgbClr val="C8A951"/>
                </a:solidFill>
                <a:latin typeface="Georgia" pitchFamily="34" charset="0"/>
              </a:rPr>
              <a:t>In research, poor software costs credibility.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1725</TotalTime>
  <Words>674</Words>
  <Application>Microsoft Macintosh PowerPoint</Application>
  <PresentationFormat>On-screen Show (16:9)</PresentationFormat>
  <Paragraphs>131</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Five Habits of a Software Developer</dc:title>
  <dc:subject>PptxGenJS Presentation</dc:subject>
  <dc:creator>Carlos</dc:creator>
  <cp:lastModifiedBy>Carlton Mason</cp:lastModifiedBy>
  <cp:revision>17</cp:revision>
  <dcterms:created xsi:type="dcterms:W3CDTF">2026-09-22T16:50:37Z</dcterms:created>
  <dcterms:modified xsi:type="dcterms:W3CDTF">2026-09-23T22:01:19Z</dcterms:modified>
</cp:coreProperties>
</file>